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Selamat pagi. Sesi ini adalah review repository NgeTag Customer Web App, aplikasi discovery hangout spot dan event Jakarta. Saya akan membahas empat hal: konteks produk, arsitektur dan data, temuan audit, lalu rancangan seed data user. Dua deliverable yang dihasilkan: deck ini dan seed database berisi 16 varian user yang seluruhnya diturunkan dari fixture dan skema yang sudah ada di repository. Semua angka di deck diambil langsung dari kode, bukan estimasi. Durasi sekitar 20 menit, dan setiap slide punya catatan ini agar bisa dipresentasikan ulang oleh orang lain.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Ini outline presentasi. Bagian satu memberi konteks produk supaya angka teknis nanti punya makna. Bagian dua membedah arsitektur: dari App Router, repository, 47 route handler, sampai 32 tabel Drizzle. Bagian tiga adalah hasil audit jujur: apa yang sudah rapi dan apa yang masih merah. Bagian empat menjawab permintaan kedua: seed data user. Saya rancang 16 user dalam 8 varian, bukan sekadar menambah baris, supaya setiap cabang enum dan kolom nullable benar-benar terwakili. Dua deliverable disebut di bawah: deck dan seed. Mari mulai dari produknya.</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Kita mulai dari konteks. NgeTag bukan marketplace tiket dan bukan sekadar direktori. Posisinya di tengah: membantu orang memutuskan mau hangout atau ke event mana, lalu memverifikasi pengalaman lewat ulasan yang hanya bisa ditulis setelah hadir di lokasi. Batasan MVP perlu ditegaskan sejak awal: belum ada backend, belum ada auth, semua data dummy. Jadi presentasi ini menilai kesiapan produk dan data, bukan kesiapan produksi.</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Ringkasan produk dalam satu slide. NgeTag menyasar milenial dan Gen Z Jakarta dengan masalah yang sangat spesifik: informasi hangout terpencar dan sering bias. Jawabannya adalah tag. Dua puluh tag di lima kategori menjadi bahasa bersama antara spot, event, dan preferensi user. Angka di kanan adalah isi fixture saat ini: 25 spot, 15 event, 20 tag, 14 komunitas, 6 promo, dan 62 ulasan. Perhatikan bahwa 62 ulasan berbeda dari klaim README yang menyebut sekitar 80; ini salah satu temuan audit yang akan kita bahas nanti. Fokus sekarang: alur inti dan fitur pembeda.</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ini merangkum VPC yang ada di docs/vpc.txt. Job-nya sederhana: bantu orang memutuskan. Pain utamanya dua: informasi bias dan data yang terpencar. Value map-nya menjawab dengan direktori terpusat, rekomendasi dinamis, dan yang paling penting, verifikasi kunjungan. Di MVP, verified review sudah berjalan lewat QR code per spot: untuk menulis ulasan, user harus melewati gate akses QR dengan TTL sepuluh menit. Poin dan geolocation masih ditunda, dan itu wajar karena keduanya butuh backend. Kalau ditanya soal FIT, tiga dari empat uji VPC sudah terpenuhi di level prototipe.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Peta halaman. Tiga kolom ini bukan pembagian resmi di repo, tapi cara saya membaca prioritasnya. P0 adalah tujuh halaman yang membentuk demo flow lengkap dari home sampai menulis ulasan. P1 adalah polish: halaman ulasan saya, tag landing, promo, dan boundary error. Kolom ketiga berisi modul yang sudah aktif tetapi tidak masuk daftar P0/P1 di README, seperti Hype dengan Reels, komunitas, kalender, blog, notifikasi, scan QR, dan pemilih lokasi. Totalnya 20 file page.tsx. Semua URL didefinisikan di src/config/routes.ts, jadi tidak ada string URL yang di-hardcode di komponen.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Alur inti terdiri dari lima langkah, dan yang membedakan NgeTag adalah langkah empat dan lima. Scan QR di lokasi membuka gate ulasan; token aksesnya hanya sepuluh menit, jadi orang tidak bisa mengarang ulasan dari rumah. Begitu ulasan dibuat, sistem mencatat SpotVisit, yang nanti menjadi bahan personalisasi dan analytics. Dua fitur lain yang layak disorot: Hype, feed vertikal mirip Reels, dan rekomendasi lokasi berbasis Haversine yang sudah memakai lokasi browser atau pilihan manual. Semua state ini masih di localStorage lewat delapan store Zustand, dan semuanya sudah diberi versi supaya migrasi ke backend tidak merusak data user.</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Sekarang bagian teknis. Saya akan menunjukkan bagaimana aplikasi disusun, bukan sekadar daftar dependency. Poin pentingnya: ada satu arah ketergantungan yang jelas dari halaman ke repository ke API ke skema. Kalau Anda baru bergabung di proyek ini, tiga hal ini cukup untuk mulai berkontribusi dengan aman.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Stack-nya konsisten dan modern. Next.js 16 dengan App Router dan Turbopack, React 19, TypeScript strict, Tailwind v4 dengan token di globals.css, Zustand untuk state, Zod dan React Hook Form untuk validasi, Drizzle untuk PostgreSQL, plus Lucide dan sonner untuk detail UI. Dua catatan penting. Pertama, AGENTS.md di repo memperingatkan bahwa Next.js 16 berbeda dari versi yang kita kenal; dokumentasinya ada di node_modules/next/dist/docs dan wajib dibaca sebelum menambah API. Kedua, Drizzle di sini masih 1.0 release candidate, dan API drivernya sudah berubah. Saya sempat kena error tipe karena memakai bentuk lama, jadi seed yang saya tulis memakai signature yang benar.</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Ini gambar arsitektur yang paling penting untuk diingat. Ada lima lapis dengan satu arah: halaman di app, komponen per domain di features, repository sebagai seam data, route handler di app/api, dan skema Drizzle. Repository pattern-nya nyata, bukan formalitas: komponen dilarang mengimpor fixture, dan semua lookup melewati repository. Di dalam repository ada apiFetch yang mencoba memanggil REST lalu jatuh ke server store in-memory jika gagal. Efeknya, hari ini aplikasi bisa berjalan tanpa database, tapi besok ketika backend siap, hanya lapisan repository yang berubah. Validasi Zod berada di tepi, sehingga kontrak masuk sudah bersih sebelum menyentuh store.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Struktur folder mengikuti domain. app hanya berisi route dan page, sedangkan logika dan komponen hidup di src/features. Ada juga lapisan data, database, skema Zod, kontrak bersama, store, lib, dan types. Angka di kanan memberi skala: 255 file TypeScript, 22.099 baris, 78 komponen, 47 route handler, 20 halaman, dan 17 feature module. Ini ukuran yang masih nyaman untuk satu tim kecil. Yang menarik, kontrak dan mock B2B sudah disiapkan di src/shared, jadi ekstraksi ke monorepo nanti tidak akan memutus tipe.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Permukaan API-nya sudah rapi. Ada 47 route handler dengan pola yang sama: parse body atau query memakai Zod, panggil server store, lalu kembalikan jsonOk atau jsonError. Ini penting karena artinya skema validasi yang dipakai form di UI juga dipakai di server, jadi tidak ada duplikasi aturan. apiFetch mencoba network dulu; kalau gagal, ia jatuh ke store in-memory. Di sisi database, drizzle-kit sudah menyediakan generate, push, dan studio. Yang belum ada adalah klien database runtime dan seed; itulah yang saya tambahkan, dan karena route handler membaca store, seed bisa diuji tanpa menyentuh UI.</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Skema database terdiri dari 32 tabel dan 17 enum. Saya kelompokkan per domain supaya mudah dilihat bahwa strukturnya mengikuti fitur. Yang perlu diperhatikan: sembilan tabel join, termasuk customer_interests dan customer_favorite_tags yang akan kita isi dengan seed. Ada juga tabel engagement — bookmarks, attendances, visits, memberships — yang menjadi bahan analytics B2B. Semua enum memakai pgEnum, jadi nilai seperti role atau status benar-benar dijaga di level database, bukan hanya di TypeScript.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Tabel customers punya sebelas kolom fungsional. Yang perlu diperhatikan: badges dan preferences adalah JSONB, jadi skemanya longgar dan validasinya bergantung pada Zod. Ada juga enam titik singgung ke tabel lain, dan semuanya memakai id user sebagai string tanpa foreign key. Ini keputusan yang wajar untuk prototipe, tapi perlu diingat saat migrasi. Temuan penting di slide ini: kolom points sudah ada di database, tetapi tidak ada di tipe User, di skema Zod, atau di CustomerContract. Artinya kalau hari ini API mengembalikan user, field points akan hilang. Seed saya tetap mengisinya supaya siap saat kontrak diperbaiki.</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Bagian ini bagian yang paling tidak nyaman, tapi paling berguna. Saya menjalankan type check, lint, dan build di checkout ini, lalu membandingkan dokumentasi dengan isi fixture. Hasilnya: fondasinya kuat, tetapi ada satu file yang menjadi bottleneck. Semua temuan di slide berikutnya bisa diverifikasi ulang dengan perintah yang saya sebutkan.</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Sebelum masuk ke masalah, penting mencatat yang sudah benar. Enam konvensi ini konsisten: server component sebagai default, satu pintu data lewat repository, route helper terpusat, TypeScript strict dengan Zod di boundary, lokalisasi id-ID, dan penanganan hydration mismatch lewat useIsMounted plus storage berversi. Untuk MVP, ini di atas rata-rata. Yang menarik, konvensi ini juga yang membuat seed mudah ditambahkan: karena skema dan tipe sudah rapi, saya hanya perlu mengikuti bentuk yang ada.</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Ini hasil audit. Semua bisa direproduksi. Yang pertama dan paling penting: relations.ts gagal type check. File itu terlihat hasil generate, memakai any di banyak tempat, dan tipenya tidak cocok dengan Drizzle 1.0 RC. Efeknya berantai: 98 dari 100 error lint berasal dari file yang sama, dan type check tidak pernah hijau. Kedua, build gagal karena sandbox tidak bisa mengakses Google Fonts; ini batasan lingkungan, bukan bug kode, tetapi di CI dengan network normal seharusnya lolos. Ketiga, data user hanya satu, dan belum ada seed. Keempat, points tidak ada di kontrak. Kelima, README melebih-lebihkan jumlah review. Urutan perbaikannya jelas: mulai dari relations.ts, karena satu file itu menutupi sinyal dari file lain.</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Sekarang deliverable kedua: seed data user. Permintaannya adalah database user seed dengan varian yang disesuaikan dengan isi repository. Jadi saya tidak mengarang data acak. Semua id, interest, tag, nama, avatar, dan tanggal diturunkan dari fixture yang sudah dipakai aplikasi, lalu disusun supaya setiap varian punya tujuan uji yang jelas.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Ini matriks variannya. Delapan varian, total enam belas user. Baris pertama menyalin persis demoUser, termasuk lima badge yang mewakili seluruh kategori. Delapan berikutnya adalah author review yang sudah ada di fixture; saya samakan nama, avatar, email, dan joinedAt supaya authorId di ulasan tetap valid. Lalu admin, dua owner, power user dengan seluruh dua puluh tag, user baru dengan semua field nullable, user lama yang sparse tanpa city, dan satu user Bandung untuk menguji filter non-Jakarta. Totalnya 42 link interest dan 58 link favorite tag. Tidak ada angka acak, jadi hasilnya sama di setiap environment dan aman dipakai di CI.</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Implementasinya empat file. user-seed.ts berisi data dan validator. seed-users.ts adalah runner yang memakai Drizzle dan pg, sekaligus generator SQL. user-seed.sql adalah hasil generate, siap dijalankan lewat psql. README mendokumentasikan varian dan invariant. Seed-nya idempoten: customer di-upsert berdasarkan id, relasi memakai on conflict do nothing, dan flag reset hanya menghapus enam belas id seed, bukan truncate tabel. Sebelum koneksi dibuka, validateSeed memeriksa id unik, email unik, role dan kategori badge yang valid, referensi interest dan tag yang benar-benar ada, serta memastikan favoriteTagIds di JSONB sama dengan isi tabel join. Kalau ada yang melanggar, proses berhenti dengan exit code satu.</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Roadmap saya susun dalam tiga fase. Fase sekarang adalah membersihkan fondasi: perbaiki relations.ts, pasang gate lint dan type check di CI, lengkapi points di kontrak, dan jalankan seed di staging. Fase berikutnya baru infrastruktur nyata: klien database, migrasi, auth, seed engagement, dan geolocation. Fase setelahnya adalah ekspansi produk: owner dashboard, points dan leaderboard, ranking personalisasi, serta ekstraksi paket ke monorepo. Alasan seed didahulukan sederhana: dengan satu user demo, setiap uji manual hanya mengulang satu jalur. Dengan enam belas varian, cabang nullable, enum role, dan preferensi langsung tercakup.</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Tiga hal untuk dibawa pulang. Pertama, produknya sudah cukup matang untuk demo: dua puluh halaman, dan QR verified review sebagai pembeda yang benar-benar berjalan. Kedua, arsitekturnya sehat: 255 file, strict, repository pattern, dan kontrak yang sudah disiapkan untuk B2B. Ketiga, data user kini punya enam belas varian siap pakai plus SQL yang idempoten. Deliverable-nya ada di dua lokasi yang saya sebutkan di slide. Saran konkret saya: jadikan perbaikan relations.ts sebagai pekerjaan pertama, lalu jalankan seed ini di CI. Terima kasih, saya siap masuk ke diskusi dan tanya jawab.</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5161B"/>
        </a:solidFill>
        <a:effectLst/>
      </p:bgPr>
    </p:bg>
    <p:spTree>
      <p:nvGrpSpPr>
        <p:cNvPr id="1" name=""/>
        <p:cNvGrpSpPr/>
        <p:nvPr/>
      </p:nvGrpSpPr>
      <p:grpSpPr/>
      <p:sp>
        <p:nvSpPr>
          <p:cNvPr id="2" name="Oval 1"/>
          <p:cNvSpPr/>
          <p:nvPr/>
        </p:nvSpPr>
        <p:spPr>
          <a:xfrm>
            <a:off x="8275320" y="-1737360"/>
            <a:ext cx="5669280" cy="5669280"/>
          </a:xfrm>
          <a:prstGeom prst="ellipse">
            <a:avLst/>
          </a:prstGeom>
          <a:noFill/>
          <a:ln w="13970">
            <a:solidFill>
              <a:srgbClr val="2C2E36"/>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 name="Oval 2"/>
          <p:cNvSpPr/>
          <p:nvPr/>
        </p:nvSpPr>
        <p:spPr>
          <a:xfrm>
            <a:off x="9692640" y="3108960"/>
            <a:ext cx="4023360" cy="4023360"/>
          </a:xfrm>
          <a:prstGeom prst="ellipse">
            <a:avLst/>
          </a:prstGeom>
          <a:solidFill>
            <a:srgbClr val="22232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Oval 3"/>
          <p:cNvSpPr/>
          <p:nvPr/>
        </p:nvSpPr>
        <p:spPr>
          <a:xfrm>
            <a:off x="9555480" y="2487168"/>
            <a:ext cx="1463040" cy="1463040"/>
          </a:xfrm>
          <a:prstGeom prst="ellipse">
            <a:avLst/>
          </a:prstGeom>
          <a:solidFill>
            <a:srgbClr val="FF5A5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Oval 4"/>
          <p:cNvSpPr/>
          <p:nvPr/>
        </p:nvSpPr>
        <p:spPr>
          <a:xfrm>
            <a:off x="10058400" y="2487168"/>
            <a:ext cx="1463040" cy="1463040"/>
          </a:xfrm>
          <a:prstGeom prst="ellipse">
            <a:avLst/>
          </a:prstGeom>
          <a:solidFill>
            <a:srgbClr val="15161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 name="Rounded Rectangle 5"/>
          <p:cNvSpPr/>
          <p:nvPr/>
        </p:nvSpPr>
        <p:spPr>
          <a:xfrm>
            <a:off x="0" y="0"/>
            <a:ext cx="146304" cy="6858000"/>
          </a:xfrm>
          <a:prstGeom prst="roundRect">
            <a:avLst>
              <a:gd name="adj" fmla="val 6000"/>
            </a:avLst>
          </a:prstGeom>
          <a:solidFill>
            <a:srgbClr val="FF5A5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 name="TextBox 6"/>
          <p:cNvSpPr txBox="1"/>
          <p:nvPr/>
        </p:nvSpPr>
        <p:spPr>
          <a:xfrm>
            <a:off x="822960" y="868680"/>
            <a:ext cx="7315200" cy="274320"/>
          </a:xfrm>
          <a:prstGeom prst="rect">
            <a:avLst/>
          </a:prstGeom>
          <a:noFill/>
        </p:spPr>
        <p:txBody>
          <a:bodyPr wrap="square" lIns="0" rIns="0" tIns="0" bIns="0" anchor="t">
            <a:spAutoFit/>
          </a:bodyPr>
          <a:lstStyle/>
          <a:p>
            <a:pPr algn="l">
              <a:lnSpc>
                <a:spcPct val="112000"/>
              </a:lnSpc>
              <a:spcAft>
                <a:spcPts val="0"/>
              </a:spcAft>
            </a:pPr>
            <a:r>
              <a:rPr sz="1050" b="1" i="0" spc="200">
                <a:solidFill>
                  <a:srgbClr val="FF5A5F"/>
                </a:solidFill>
                <a:latin typeface="Arial"/>
              </a:rPr>
              <a:t>REVIEW REPOSITORY · PRESENTASI TEKNIS</a:t>
            </a:r>
          </a:p>
        </p:txBody>
      </p:sp>
      <p:sp>
        <p:nvSpPr>
          <p:cNvPr id="8" name="Rounded Rectangle 7"/>
          <p:cNvSpPr/>
          <p:nvPr/>
        </p:nvSpPr>
        <p:spPr>
          <a:xfrm>
            <a:off x="822960" y="1261872"/>
            <a:ext cx="425196" cy="425196"/>
          </a:xfrm>
          <a:prstGeom prst="roundRect">
            <a:avLst>
              <a:gd name="adj" fmla="val 22000"/>
            </a:avLst>
          </a:prstGeom>
          <a:solidFill>
            <a:srgbClr val="FF5A5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TextBox 8"/>
          <p:cNvSpPr txBox="1"/>
          <p:nvPr/>
        </p:nvSpPr>
        <p:spPr>
          <a:xfrm>
            <a:off x="822960" y="1250899"/>
            <a:ext cx="425196" cy="425196"/>
          </a:xfrm>
          <a:prstGeom prst="rect">
            <a:avLst/>
          </a:prstGeom>
          <a:noFill/>
        </p:spPr>
        <p:txBody>
          <a:bodyPr wrap="square" lIns="0" rIns="0" tIns="0" bIns="0" anchor="ctr">
            <a:spAutoFit/>
          </a:bodyPr>
          <a:lstStyle/>
          <a:p>
            <a:pPr algn="ctr">
              <a:lnSpc>
                <a:spcPct val="112000"/>
              </a:lnSpc>
              <a:spcAft>
                <a:spcPts val="0"/>
              </a:spcAft>
            </a:pPr>
            <a:r>
              <a:rPr sz="2015" b="1" i="0">
                <a:solidFill>
                  <a:srgbClr val="FFFFFF"/>
                </a:solidFill>
                <a:latin typeface="Arial"/>
              </a:rPr>
              <a:t>n</a:t>
            </a:r>
          </a:p>
        </p:txBody>
      </p:sp>
      <p:sp>
        <p:nvSpPr>
          <p:cNvPr id="10" name="TextBox 9"/>
          <p:cNvSpPr txBox="1"/>
          <p:nvPr/>
        </p:nvSpPr>
        <p:spPr>
          <a:xfrm>
            <a:off x="1375714" y="1234439"/>
            <a:ext cx="1700784" cy="425196"/>
          </a:xfrm>
          <a:prstGeom prst="rect">
            <a:avLst/>
          </a:prstGeom>
          <a:noFill/>
        </p:spPr>
        <p:txBody>
          <a:bodyPr wrap="square" lIns="0" rIns="0" tIns="0" bIns="0" anchor="t">
            <a:spAutoFit/>
          </a:bodyPr>
          <a:lstStyle/>
          <a:p>
            <a:pPr algn="l">
              <a:lnSpc>
                <a:spcPct val="112000"/>
              </a:lnSpc>
              <a:spcAft>
                <a:spcPts val="0"/>
              </a:spcAft>
            </a:pPr>
            <a:r>
              <a:rPr sz="2015" b="1" i="0">
                <a:solidFill>
                  <a:srgbClr val="FFFFFF"/>
                </a:solidFill>
                <a:latin typeface="Arial"/>
              </a:rPr>
              <a:t>NgeTag</a:t>
            </a:r>
          </a:p>
        </p:txBody>
      </p:sp>
      <p:sp>
        <p:nvSpPr>
          <p:cNvPr id="11" name="TextBox 10"/>
          <p:cNvSpPr txBox="1"/>
          <p:nvPr/>
        </p:nvSpPr>
        <p:spPr>
          <a:xfrm>
            <a:off x="822960" y="2103120"/>
            <a:ext cx="9052560" cy="685800"/>
          </a:xfrm>
          <a:prstGeom prst="rect">
            <a:avLst/>
          </a:prstGeom>
          <a:noFill/>
        </p:spPr>
        <p:txBody>
          <a:bodyPr wrap="square" lIns="0" rIns="0" tIns="0" bIns="0" anchor="t">
            <a:spAutoFit/>
          </a:bodyPr>
          <a:lstStyle/>
          <a:p>
            <a:pPr algn="l">
              <a:lnSpc>
                <a:spcPct val="112000"/>
              </a:lnSpc>
              <a:spcAft>
                <a:spcPts val="0"/>
              </a:spcAft>
            </a:pPr>
            <a:r>
              <a:rPr sz="4400" b="1" i="0">
                <a:solidFill>
                  <a:srgbClr val="FFFFFF"/>
                </a:solidFill>
                <a:latin typeface="Arial"/>
              </a:rPr>
              <a:t>NgeTag Customer Web App</a:t>
            </a:r>
          </a:p>
        </p:txBody>
      </p:sp>
      <p:sp>
        <p:nvSpPr>
          <p:cNvPr id="12" name="TextBox 11"/>
          <p:cNvSpPr txBox="1"/>
          <p:nvPr/>
        </p:nvSpPr>
        <p:spPr>
          <a:xfrm>
            <a:off x="822960" y="2852928"/>
            <a:ext cx="8778240" cy="822960"/>
          </a:xfrm>
          <a:prstGeom prst="rect">
            <a:avLst/>
          </a:prstGeom>
          <a:noFill/>
        </p:spPr>
        <p:txBody>
          <a:bodyPr wrap="square" lIns="0" rIns="0" tIns="0" bIns="0" anchor="t">
            <a:spAutoFit/>
          </a:bodyPr>
          <a:lstStyle/>
          <a:p>
            <a:pPr algn="l">
              <a:lnSpc>
                <a:spcPct val="135000"/>
              </a:lnSpc>
              <a:spcAft>
                <a:spcPts val="0"/>
              </a:spcAft>
            </a:pPr>
            <a:r>
              <a:rPr sz="1700" b="0" i="0">
                <a:solidFill>
                  <a:srgbClr val="C9CED6"/>
                </a:solidFill>
                <a:latin typeface="Arial"/>
              </a:rPr>
              <a:t>Peta produk, arsitektur, dan kesiapan data —</a:t>
            </a:r>
          </a:p>
          <a:p>
            <a:pPr algn="l">
              <a:lnSpc>
                <a:spcPct val="135000"/>
              </a:lnSpc>
              <a:spcAft>
                <a:spcPts val="0"/>
              </a:spcAft>
            </a:pPr>
            <a:r>
              <a:rPr sz="1700" b="0" i="0">
                <a:solidFill>
                  <a:srgbClr val="C9CED6"/>
                </a:solidFill>
                <a:latin typeface="Arial"/>
              </a:rPr>
              <a:t>dilengkapi rancangan seed 16 varian user</a:t>
            </a:r>
          </a:p>
        </p:txBody>
      </p:sp>
      <p:sp>
        <p:nvSpPr>
          <p:cNvPr id="13" name="Rounded Rectangle 12"/>
          <p:cNvSpPr/>
          <p:nvPr/>
        </p:nvSpPr>
        <p:spPr>
          <a:xfrm>
            <a:off x="822960" y="4041648"/>
            <a:ext cx="2331720" cy="347472"/>
          </a:xfrm>
          <a:prstGeom prst="roundRect">
            <a:avLst>
              <a:gd name="adj" fmla="val 50000"/>
            </a:avLst>
          </a:prstGeom>
          <a:solidFill>
            <a:srgbClr val="24252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50" b="1">
                <a:solidFill>
                  <a:srgbClr val="F2F3F5"/>
                </a:solidFill>
                <a:latin typeface="Arial"/>
              </a:rPr>
              <a:t>Next.js 16 · React 19</a:t>
            </a:r>
          </a:p>
        </p:txBody>
      </p:sp>
      <p:sp>
        <p:nvSpPr>
          <p:cNvPr id="14" name="Rounded Rectangle 13"/>
          <p:cNvSpPr/>
          <p:nvPr/>
        </p:nvSpPr>
        <p:spPr>
          <a:xfrm>
            <a:off x="3273552" y="4041648"/>
            <a:ext cx="2514600" cy="347472"/>
          </a:xfrm>
          <a:prstGeom prst="roundRect">
            <a:avLst>
              <a:gd name="adj" fmla="val 50000"/>
            </a:avLst>
          </a:prstGeom>
          <a:solidFill>
            <a:srgbClr val="24252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50" b="1">
                <a:solidFill>
                  <a:srgbClr val="F2F3F5"/>
                </a:solidFill>
                <a:latin typeface="Arial"/>
              </a:rPr>
              <a:t>Drizzle ORM · PostgreSQL</a:t>
            </a:r>
          </a:p>
        </p:txBody>
      </p:sp>
      <p:sp>
        <p:nvSpPr>
          <p:cNvPr id="15" name="Rounded Rectangle 14"/>
          <p:cNvSpPr/>
          <p:nvPr/>
        </p:nvSpPr>
        <p:spPr>
          <a:xfrm>
            <a:off x="5907024" y="4041648"/>
            <a:ext cx="2148840" cy="347472"/>
          </a:xfrm>
          <a:prstGeom prst="roundRect">
            <a:avLst>
              <a:gd name="adj" fmla="val 50000"/>
            </a:avLst>
          </a:prstGeom>
          <a:solidFill>
            <a:srgbClr val="24252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50" b="1">
                <a:solidFill>
                  <a:srgbClr val="F2F3F5"/>
                </a:solidFill>
                <a:latin typeface="Arial"/>
              </a:rPr>
              <a:t>22.099 baris TypeScript</a:t>
            </a:r>
          </a:p>
        </p:txBody>
      </p:sp>
      <p:sp>
        <p:nvSpPr>
          <p:cNvPr id="16" name="Rounded Rectangle 15"/>
          <p:cNvSpPr/>
          <p:nvPr/>
        </p:nvSpPr>
        <p:spPr>
          <a:xfrm>
            <a:off x="822960" y="5623560"/>
            <a:ext cx="10515600" cy="9144"/>
          </a:xfrm>
          <a:prstGeom prst="roundRect">
            <a:avLst>
              <a:gd name="adj" fmla="val 0"/>
            </a:avLst>
          </a:prstGeom>
          <a:solidFill>
            <a:srgbClr val="33353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TextBox 16"/>
          <p:cNvSpPr txBox="1"/>
          <p:nvPr/>
        </p:nvSpPr>
        <p:spPr>
          <a:xfrm>
            <a:off x="822960" y="5779008"/>
            <a:ext cx="5486400" cy="274320"/>
          </a:xfrm>
          <a:prstGeom prst="rect">
            <a:avLst/>
          </a:prstGeom>
          <a:noFill/>
        </p:spPr>
        <p:txBody>
          <a:bodyPr wrap="square" lIns="0" rIns="0" tIns="0" bIns="0" anchor="t">
            <a:spAutoFit/>
          </a:bodyPr>
          <a:lstStyle/>
          <a:p>
            <a:pPr algn="l">
              <a:lnSpc>
                <a:spcPct val="112000"/>
              </a:lnSpc>
              <a:spcAft>
                <a:spcPts val="0"/>
              </a:spcAft>
            </a:pPr>
            <a:r>
              <a:rPr sz="1000" b="0" i="0">
                <a:solidFill>
                  <a:srgbClr val="8E95A1"/>
                </a:solidFill>
                <a:latin typeface="Arial"/>
              </a:rPr>
              <a:t>23 Oktober 2026 · Branch arena/44eb284e</a:t>
            </a:r>
          </a:p>
        </p:txBody>
      </p:sp>
      <p:sp>
        <p:nvSpPr>
          <p:cNvPr id="18" name="TextBox 17"/>
          <p:cNvSpPr txBox="1"/>
          <p:nvPr/>
        </p:nvSpPr>
        <p:spPr>
          <a:xfrm>
            <a:off x="6766560" y="5779008"/>
            <a:ext cx="4572000" cy="274320"/>
          </a:xfrm>
          <a:prstGeom prst="rect">
            <a:avLst/>
          </a:prstGeom>
          <a:noFill/>
        </p:spPr>
        <p:txBody>
          <a:bodyPr wrap="square" lIns="0" rIns="0" tIns="0" bIns="0" anchor="t">
            <a:spAutoFit/>
          </a:bodyPr>
          <a:lstStyle/>
          <a:p>
            <a:pPr algn="r">
              <a:lnSpc>
                <a:spcPct val="112000"/>
              </a:lnSpc>
              <a:spcAft>
                <a:spcPts val="0"/>
              </a:spcAft>
            </a:pPr>
            <a:r>
              <a:rPr sz="1000" b="0" i="0">
                <a:solidFill>
                  <a:srgbClr val="8E95A1"/>
                </a:solidFill>
                <a:latin typeface="Arial"/>
              </a:rPr>
              <a:t>22 slide · bullet, outline, catatan presenter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AFAFB"/>
        </a:solidFill>
        <a:effectLst/>
      </p:bgPr>
    </p:bg>
    <p:spTree>
      <p:nvGrpSpPr>
        <p:cNvPr id="1" name=""/>
        <p:cNvGrpSpPr/>
        <p:nvPr/>
      </p:nvGrpSpPr>
      <p:grpSpPr/>
      <p:sp>
        <p:nvSpPr>
          <p:cNvPr id="2" name="TextBox 1"/>
          <p:cNvSpPr txBox="1"/>
          <p:nvPr/>
        </p:nvSpPr>
        <p:spPr>
          <a:xfrm>
            <a:off x="640080" y="384048"/>
            <a:ext cx="9601200" cy="228600"/>
          </a:xfrm>
          <a:prstGeom prst="rect">
            <a:avLst/>
          </a:prstGeom>
          <a:noFill/>
        </p:spPr>
        <p:txBody>
          <a:bodyPr wrap="square" lIns="0" rIns="0" tIns="0" bIns="0" anchor="t">
            <a:spAutoFit/>
          </a:bodyPr>
          <a:lstStyle/>
          <a:p>
            <a:pPr algn="l">
              <a:lnSpc>
                <a:spcPct val="112000"/>
              </a:lnSpc>
              <a:spcAft>
                <a:spcPts val="0"/>
              </a:spcAft>
            </a:pPr>
            <a:r>
              <a:rPr sz="1000" b="1" i="0" spc="140">
                <a:solidFill>
                  <a:srgbClr val="FF5A5F"/>
                </a:solidFill>
                <a:latin typeface="Arial"/>
              </a:rPr>
              <a:t>OUTLINE</a:t>
            </a:r>
          </a:p>
        </p:txBody>
      </p:sp>
      <p:sp>
        <p:nvSpPr>
          <p:cNvPr id="3" name="TextBox 2"/>
          <p:cNvSpPr txBox="1"/>
          <p:nvPr/>
        </p:nvSpPr>
        <p:spPr>
          <a:xfrm>
            <a:off x="640080" y="621792"/>
            <a:ext cx="10881360" cy="566928"/>
          </a:xfrm>
          <a:prstGeom prst="rect">
            <a:avLst/>
          </a:prstGeom>
          <a:noFill/>
        </p:spPr>
        <p:txBody>
          <a:bodyPr wrap="square" lIns="0" rIns="0" tIns="0" bIns="0" anchor="t">
            <a:spAutoFit/>
          </a:bodyPr>
          <a:lstStyle/>
          <a:p>
            <a:pPr algn="l">
              <a:lnSpc>
                <a:spcPct val="112000"/>
              </a:lnSpc>
              <a:spcAft>
                <a:spcPts val="0"/>
              </a:spcAft>
            </a:pPr>
            <a:r>
              <a:rPr sz="2600" b="1" i="0">
                <a:solidFill>
                  <a:srgbClr val="1F2937"/>
                </a:solidFill>
                <a:latin typeface="Arial"/>
              </a:rPr>
              <a:t>Empat bagian, satu tujuan: siap demo dan siap data</a:t>
            </a:r>
          </a:p>
        </p:txBody>
      </p:sp>
      <p:sp>
        <p:nvSpPr>
          <p:cNvPr id="4" name="TextBox 3"/>
          <p:cNvSpPr txBox="1"/>
          <p:nvPr/>
        </p:nvSpPr>
        <p:spPr>
          <a:xfrm>
            <a:off x="640080" y="1225296"/>
            <a:ext cx="10424160" cy="365760"/>
          </a:xfrm>
          <a:prstGeom prst="rect">
            <a:avLst/>
          </a:prstGeom>
          <a:noFill/>
        </p:spPr>
        <p:txBody>
          <a:bodyPr wrap="square" lIns="0" rIns="0" tIns="0" bIns="0" anchor="t">
            <a:spAutoFit/>
          </a:bodyPr>
          <a:lstStyle/>
          <a:p>
            <a:pPr algn="l">
              <a:lnSpc>
                <a:spcPct val="112000"/>
              </a:lnSpc>
              <a:spcAft>
                <a:spcPts val="0"/>
              </a:spcAft>
            </a:pPr>
            <a:r>
              <a:rPr sz="1250" b="0" i="0">
                <a:solidFill>
                  <a:srgbClr val="6B7280"/>
                </a:solidFill>
                <a:latin typeface="Arial"/>
              </a:rPr>
              <a:t>Alur presentasi: produknya apa, dibangun bagaimana, kondisinya kini bagaimana, lalu datanya disiapkan bagaimana.</a:t>
            </a:r>
          </a:p>
        </p:txBody>
      </p:sp>
      <p:sp>
        <p:nvSpPr>
          <p:cNvPr id="5" name="Rounded Rectangle 4"/>
          <p:cNvSpPr/>
          <p:nvPr/>
        </p:nvSpPr>
        <p:spPr>
          <a:xfrm>
            <a:off x="640080" y="1170432"/>
            <a:ext cx="502920" cy="32004"/>
          </a:xfrm>
          <a:prstGeom prst="roundRect">
            <a:avLst>
              <a:gd name="adj" fmla="val 0"/>
            </a:avLst>
          </a:prstGeom>
          <a:solidFill>
            <a:srgbClr val="FF5A5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 name="Rounded Rectangle 5"/>
          <p:cNvSpPr/>
          <p:nvPr/>
        </p:nvSpPr>
        <p:spPr>
          <a:xfrm>
            <a:off x="640080" y="1755648"/>
            <a:ext cx="10908792" cy="804672"/>
          </a:xfrm>
          <a:prstGeom prst="roundRect">
            <a:avLst>
              <a:gd name="adj" fmla="val 8000"/>
            </a:avLst>
          </a:prstGeom>
          <a:solidFill>
            <a:srgbClr val="FFFFFF"/>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 name="Oval 6"/>
          <p:cNvSpPr/>
          <p:nvPr/>
        </p:nvSpPr>
        <p:spPr>
          <a:xfrm>
            <a:off x="841248" y="1938528"/>
            <a:ext cx="420624" cy="420624"/>
          </a:xfrm>
          <a:prstGeom prst="ellipse">
            <a:avLst/>
          </a:prstGeom>
          <a:solidFill>
            <a:srgbClr val="FF5A5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latin typeface="Arial"/>
              </a:rPr>
              <a:t>01</a:t>
            </a:r>
          </a:p>
        </p:txBody>
      </p:sp>
      <p:sp>
        <p:nvSpPr>
          <p:cNvPr id="8" name="TextBox 7"/>
          <p:cNvSpPr txBox="1"/>
          <p:nvPr/>
        </p:nvSpPr>
        <p:spPr>
          <a:xfrm>
            <a:off x="1463040" y="1892807"/>
            <a:ext cx="2834640" cy="274320"/>
          </a:xfrm>
          <a:prstGeom prst="rect">
            <a:avLst/>
          </a:prstGeom>
          <a:noFill/>
        </p:spPr>
        <p:txBody>
          <a:bodyPr wrap="square" lIns="0" rIns="0" tIns="0" bIns="0" anchor="t">
            <a:spAutoFit/>
          </a:bodyPr>
          <a:lstStyle/>
          <a:p>
            <a:pPr algn="l">
              <a:lnSpc>
                <a:spcPct val="112000"/>
              </a:lnSpc>
              <a:spcAft>
                <a:spcPts val="0"/>
              </a:spcAft>
            </a:pPr>
            <a:r>
              <a:rPr sz="1450" b="1" i="0">
                <a:solidFill>
                  <a:srgbClr val="1F2937"/>
                </a:solidFill>
                <a:latin typeface="Arial"/>
              </a:rPr>
              <a:t>Produk &amp; Konteks</a:t>
            </a:r>
          </a:p>
        </p:txBody>
      </p:sp>
      <p:sp>
        <p:nvSpPr>
          <p:cNvPr id="9" name="TextBox 8"/>
          <p:cNvSpPr txBox="1"/>
          <p:nvPr/>
        </p:nvSpPr>
        <p:spPr>
          <a:xfrm>
            <a:off x="1463040" y="2203704"/>
            <a:ext cx="7498079" cy="274320"/>
          </a:xfrm>
          <a:prstGeom prst="rect">
            <a:avLst/>
          </a:prstGeom>
          <a:noFill/>
        </p:spPr>
        <p:txBody>
          <a:bodyPr wrap="square" lIns="0" rIns="0" tIns="0" bIns="0" anchor="t">
            <a:spAutoFit/>
          </a:bodyPr>
          <a:lstStyle/>
          <a:p>
            <a:pPr algn="l">
              <a:lnSpc>
                <a:spcPct val="112000"/>
              </a:lnSpc>
              <a:spcAft>
                <a:spcPts val="0"/>
              </a:spcAft>
            </a:pPr>
            <a:r>
              <a:rPr sz="1050" b="0" i="0">
                <a:solidFill>
                  <a:srgbClr val="6B7280"/>
                </a:solidFill>
                <a:latin typeface="Arial"/>
              </a:rPr>
              <a:t>Apa itu NgeTag, value proposition, peta fitur, dan alur pengguna utama.</a:t>
            </a:r>
          </a:p>
        </p:txBody>
      </p:sp>
      <p:sp>
        <p:nvSpPr>
          <p:cNvPr id="10" name="TextBox 9"/>
          <p:cNvSpPr txBox="1"/>
          <p:nvPr/>
        </p:nvSpPr>
        <p:spPr>
          <a:xfrm>
            <a:off x="9326880" y="2029967"/>
            <a:ext cx="2011680" cy="274320"/>
          </a:xfrm>
          <a:prstGeom prst="rect">
            <a:avLst/>
          </a:prstGeom>
          <a:noFill/>
        </p:spPr>
        <p:txBody>
          <a:bodyPr wrap="square" lIns="0" rIns="0" tIns="0" bIns="0" anchor="t">
            <a:spAutoFit/>
          </a:bodyPr>
          <a:lstStyle/>
          <a:p>
            <a:pPr algn="r">
              <a:lnSpc>
                <a:spcPct val="112000"/>
              </a:lnSpc>
              <a:spcAft>
                <a:spcPts val="0"/>
              </a:spcAft>
            </a:pPr>
            <a:r>
              <a:rPr sz="950" b="0" i="0">
                <a:solidFill>
                  <a:srgbClr val="D93F45"/>
                </a:solidFill>
                <a:latin typeface="Arial"/>
              </a:rPr>
              <a:t>Slide 3–7</a:t>
            </a:r>
          </a:p>
        </p:txBody>
      </p:sp>
      <p:sp>
        <p:nvSpPr>
          <p:cNvPr id="11" name="Rounded Rectangle 10"/>
          <p:cNvSpPr/>
          <p:nvPr/>
        </p:nvSpPr>
        <p:spPr>
          <a:xfrm>
            <a:off x="640080" y="2697480"/>
            <a:ext cx="10908792" cy="804672"/>
          </a:xfrm>
          <a:prstGeom prst="roundRect">
            <a:avLst>
              <a:gd name="adj" fmla="val 8000"/>
            </a:avLst>
          </a:prstGeom>
          <a:solidFill>
            <a:srgbClr val="FFFFFF"/>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Oval 11"/>
          <p:cNvSpPr/>
          <p:nvPr/>
        </p:nvSpPr>
        <p:spPr>
          <a:xfrm>
            <a:off x="841248" y="2880360"/>
            <a:ext cx="420624" cy="420624"/>
          </a:xfrm>
          <a:prstGeom prst="ellipse">
            <a:avLst/>
          </a:prstGeom>
          <a:solidFill>
            <a:srgbClr val="FF5A5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latin typeface="Arial"/>
              </a:rPr>
              <a:t>02</a:t>
            </a:r>
          </a:p>
        </p:txBody>
      </p:sp>
      <p:sp>
        <p:nvSpPr>
          <p:cNvPr id="13" name="TextBox 12"/>
          <p:cNvSpPr txBox="1"/>
          <p:nvPr/>
        </p:nvSpPr>
        <p:spPr>
          <a:xfrm>
            <a:off x="1463040" y="2834640"/>
            <a:ext cx="2834640" cy="274320"/>
          </a:xfrm>
          <a:prstGeom prst="rect">
            <a:avLst/>
          </a:prstGeom>
          <a:noFill/>
        </p:spPr>
        <p:txBody>
          <a:bodyPr wrap="square" lIns="0" rIns="0" tIns="0" bIns="0" anchor="t">
            <a:spAutoFit/>
          </a:bodyPr>
          <a:lstStyle/>
          <a:p>
            <a:pPr algn="l">
              <a:lnSpc>
                <a:spcPct val="112000"/>
              </a:lnSpc>
              <a:spcAft>
                <a:spcPts val="0"/>
              </a:spcAft>
            </a:pPr>
            <a:r>
              <a:rPr sz="1450" b="1" i="0">
                <a:solidFill>
                  <a:srgbClr val="1F2937"/>
                </a:solidFill>
                <a:latin typeface="Arial"/>
              </a:rPr>
              <a:t>Arsitektur &amp; Data</a:t>
            </a:r>
          </a:p>
        </p:txBody>
      </p:sp>
      <p:sp>
        <p:nvSpPr>
          <p:cNvPr id="14" name="TextBox 13"/>
          <p:cNvSpPr txBox="1"/>
          <p:nvPr/>
        </p:nvSpPr>
        <p:spPr>
          <a:xfrm>
            <a:off x="1463040" y="3145536"/>
            <a:ext cx="7498079" cy="274320"/>
          </a:xfrm>
          <a:prstGeom prst="rect">
            <a:avLst/>
          </a:prstGeom>
          <a:noFill/>
        </p:spPr>
        <p:txBody>
          <a:bodyPr wrap="square" lIns="0" rIns="0" tIns="0" bIns="0" anchor="t">
            <a:spAutoFit/>
          </a:bodyPr>
          <a:lstStyle/>
          <a:p>
            <a:pPr algn="l">
              <a:lnSpc>
                <a:spcPct val="112000"/>
              </a:lnSpc>
              <a:spcAft>
                <a:spcPts val="0"/>
              </a:spcAft>
            </a:pPr>
            <a:r>
              <a:rPr sz="1050" b="0" i="0">
                <a:solidFill>
                  <a:srgbClr val="6B7280"/>
                </a:solidFill>
                <a:latin typeface="Arial"/>
              </a:rPr>
              <a:t>Stack, lapisan aplikasi, API, skema 32 tabel, dan model data user.</a:t>
            </a:r>
          </a:p>
        </p:txBody>
      </p:sp>
      <p:sp>
        <p:nvSpPr>
          <p:cNvPr id="15" name="TextBox 14"/>
          <p:cNvSpPr txBox="1"/>
          <p:nvPr/>
        </p:nvSpPr>
        <p:spPr>
          <a:xfrm>
            <a:off x="9326880" y="2971800"/>
            <a:ext cx="2011680" cy="274320"/>
          </a:xfrm>
          <a:prstGeom prst="rect">
            <a:avLst/>
          </a:prstGeom>
          <a:noFill/>
        </p:spPr>
        <p:txBody>
          <a:bodyPr wrap="square" lIns="0" rIns="0" tIns="0" bIns="0" anchor="t">
            <a:spAutoFit/>
          </a:bodyPr>
          <a:lstStyle/>
          <a:p>
            <a:pPr algn="r">
              <a:lnSpc>
                <a:spcPct val="112000"/>
              </a:lnSpc>
              <a:spcAft>
                <a:spcPts val="0"/>
              </a:spcAft>
            </a:pPr>
            <a:r>
              <a:rPr sz="950" b="0" i="0">
                <a:solidFill>
                  <a:srgbClr val="D93F45"/>
                </a:solidFill>
                <a:latin typeface="Arial"/>
              </a:rPr>
              <a:t>Slide 8–14</a:t>
            </a:r>
          </a:p>
        </p:txBody>
      </p:sp>
      <p:sp>
        <p:nvSpPr>
          <p:cNvPr id="16" name="Rounded Rectangle 15"/>
          <p:cNvSpPr/>
          <p:nvPr/>
        </p:nvSpPr>
        <p:spPr>
          <a:xfrm>
            <a:off x="640080" y="3639312"/>
            <a:ext cx="10908792" cy="804672"/>
          </a:xfrm>
          <a:prstGeom prst="roundRect">
            <a:avLst>
              <a:gd name="adj" fmla="val 8000"/>
            </a:avLst>
          </a:prstGeom>
          <a:solidFill>
            <a:srgbClr val="FFFFFF"/>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Oval 16"/>
          <p:cNvSpPr/>
          <p:nvPr/>
        </p:nvSpPr>
        <p:spPr>
          <a:xfrm>
            <a:off x="841248" y="3822192"/>
            <a:ext cx="420624" cy="420624"/>
          </a:xfrm>
          <a:prstGeom prst="ellipse">
            <a:avLst/>
          </a:prstGeom>
          <a:solidFill>
            <a:srgbClr val="FF5A5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latin typeface="Arial"/>
              </a:rPr>
              <a:t>03</a:t>
            </a:r>
          </a:p>
        </p:txBody>
      </p:sp>
      <p:sp>
        <p:nvSpPr>
          <p:cNvPr id="18" name="TextBox 17"/>
          <p:cNvSpPr txBox="1"/>
          <p:nvPr/>
        </p:nvSpPr>
        <p:spPr>
          <a:xfrm>
            <a:off x="1463040" y="3776472"/>
            <a:ext cx="2834640" cy="274320"/>
          </a:xfrm>
          <a:prstGeom prst="rect">
            <a:avLst/>
          </a:prstGeom>
          <a:noFill/>
        </p:spPr>
        <p:txBody>
          <a:bodyPr wrap="square" lIns="0" rIns="0" tIns="0" bIns="0" anchor="t">
            <a:spAutoFit/>
          </a:bodyPr>
          <a:lstStyle/>
          <a:p>
            <a:pPr algn="l">
              <a:lnSpc>
                <a:spcPct val="112000"/>
              </a:lnSpc>
              <a:spcAft>
                <a:spcPts val="0"/>
              </a:spcAft>
            </a:pPr>
            <a:r>
              <a:rPr sz="1450" b="1" i="0">
                <a:solidFill>
                  <a:srgbClr val="1F2937"/>
                </a:solidFill>
                <a:latin typeface="Arial"/>
              </a:rPr>
              <a:t>Mutu &amp; Temuan</a:t>
            </a:r>
          </a:p>
        </p:txBody>
      </p:sp>
      <p:sp>
        <p:nvSpPr>
          <p:cNvPr id="19" name="TextBox 18"/>
          <p:cNvSpPr txBox="1"/>
          <p:nvPr/>
        </p:nvSpPr>
        <p:spPr>
          <a:xfrm>
            <a:off x="1463040" y="4087368"/>
            <a:ext cx="7498079" cy="274320"/>
          </a:xfrm>
          <a:prstGeom prst="rect">
            <a:avLst/>
          </a:prstGeom>
          <a:noFill/>
        </p:spPr>
        <p:txBody>
          <a:bodyPr wrap="square" lIns="0" rIns="0" tIns="0" bIns="0" anchor="t">
            <a:spAutoFit/>
          </a:bodyPr>
          <a:lstStyle/>
          <a:p>
            <a:pPr algn="l">
              <a:lnSpc>
                <a:spcPct val="112000"/>
              </a:lnSpc>
              <a:spcAft>
                <a:spcPts val="0"/>
              </a:spcAft>
            </a:pPr>
            <a:r>
              <a:rPr sz="1050" b="0" i="0">
                <a:solidFill>
                  <a:srgbClr val="6B7280"/>
                </a:solidFill>
                <a:latin typeface="Arial"/>
              </a:rPr>
              <a:t>Konvensi engineering dan hasil audit: type check, lint, build, gap kontrak.</a:t>
            </a:r>
          </a:p>
        </p:txBody>
      </p:sp>
      <p:sp>
        <p:nvSpPr>
          <p:cNvPr id="20" name="TextBox 19"/>
          <p:cNvSpPr txBox="1"/>
          <p:nvPr/>
        </p:nvSpPr>
        <p:spPr>
          <a:xfrm>
            <a:off x="9326880" y="3913632"/>
            <a:ext cx="2011680" cy="274320"/>
          </a:xfrm>
          <a:prstGeom prst="rect">
            <a:avLst/>
          </a:prstGeom>
          <a:noFill/>
        </p:spPr>
        <p:txBody>
          <a:bodyPr wrap="square" lIns="0" rIns="0" tIns="0" bIns="0" anchor="t">
            <a:spAutoFit/>
          </a:bodyPr>
          <a:lstStyle/>
          <a:p>
            <a:pPr algn="r">
              <a:lnSpc>
                <a:spcPct val="112000"/>
              </a:lnSpc>
              <a:spcAft>
                <a:spcPts val="0"/>
              </a:spcAft>
            </a:pPr>
            <a:r>
              <a:rPr sz="950" b="0" i="0">
                <a:solidFill>
                  <a:srgbClr val="D93F45"/>
                </a:solidFill>
                <a:latin typeface="Arial"/>
              </a:rPr>
              <a:t>Slide 15–17</a:t>
            </a:r>
          </a:p>
        </p:txBody>
      </p:sp>
      <p:sp>
        <p:nvSpPr>
          <p:cNvPr id="21" name="Rounded Rectangle 20"/>
          <p:cNvSpPr/>
          <p:nvPr/>
        </p:nvSpPr>
        <p:spPr>
          <a:xfrm>
            <a:off x="640080" y="4581144"/>
            <a:ext cx="10908792" cy="804672"/>
          </a:xfrm>
          <a:prstGeom prst="roundRect">
            <a:avLst>
              <a:gd name="adj" fmla="val 8000"/>
            </a:avLst>
          </a:prstGeom>
          <a:solidFill>
            <a:srgbClr val="FFFFFF"/>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2" name="Oval 21"/>
          <p:cNvSpPr/>
          <p:nvPr/>
        </p:nvSpPr>
        <p:spPr>
          <a:xfrm>
            <a:off x="841248" y="4764024"/>
            <a:ext cx="420624" cy="420624"/>
          </a:xfrm>
          <a:prstGeom prst="ellipse">
            <a:avLst/>
          </a:prstGeom>
          <a:solidFill>
            <a:srgbClr val="FF5A5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latin typeface="Arial"/>
              </a:rPr>
              <a:t>04</a:t>
            </a:r>
          </a:p>
        </p:txBody>
      </p:sp>
      <p:sp>
        <p:nvSpPr>
          <p:cNvPr id="23" name="TextBox 22"/>
          <p:cNvSpPr txBox="1"/>
          <p:nvPr/>
        </p:nvSpPr>
        <p:spPr>
          <a:xfrm>
            <a:off x="1463040" y="4718304"/>
            <a:ext cx="2834640" cy="274320"/>
          </a:xfrm>
          <a:prstGeom prst="rect">
            <a:avLst/>
          </a:prstGeom>
          <a:noFill/>
        </p:spPr>
        <p:txBody>
          <a:bodyPr wrap="square" lIns="0" rIns="0" tIns="0" bIns="0" anchor="t">
            <a:spAutoFit/>
          </a:bodyPr>
          <a:lstStyle/>
          <a:p>
            <a:pPr algn="l">
              <a:lnSpc>
                <a:spcPct val="112000"/>
              </a:lnSpc>
              <a:spcAft>
                <a:spcPts val="0"/>
              </a:spcAft>
            </a:pPr>
            <a:r>
              <a:rPr sz="1450" b="1" i="0">
                <a:solidFill>
                  <a:srgbClr val="1F2937"/>
                </a:solidFill>
                <a:latin typeface="Arial"/>
              </a:rPr>
              <a:t>Seed Data User</a:t>
            </a:r>
          </a:p>
        </p:txBody>
      </p:sp>
      <p:sp>
        <p:nvSpPr>
          <p:cNvPr id="24" name="TextBox 23"/>
          <p:cNvSpPr txBox="1"/>
          <p:nvPr/>
        </p:nvSpPr>
        <p:spPr>
          <a:xfrm>
            <a:off x="1463040" y="5029200"/>
            <a:ext cx="7498079" cy="274320"/>
          </a:xfrm>
          <a:prstGeom prst="rect">
            <a:avLst/>
          </a:prstGeom>
          <a:noFill/>
        </p:spPr>
        <p:txBody>
          <a:bodyPr wrap="square" lIns="0" rIns="0" tIns="0" bIns="0" anchor="t">
            <a:spAutoFit/>
          </a:bodyPr>
          <a:lstStyle/>
          <a:p>
            <a:pPr algn="l">
              <a:lnSpc>
                <a:spcPct val="112000"/>
              </a:lnSpc>
              <a:spcAft>
                <a:spcPts val="0"/>
              </a:spcAft>
            </a:pPr>
            <a:r>
              <a:rPr sz="1050" b="0" i="0">
                <a:solidFill>
                  <a:srgbClr val="6B7280"/>
                </a:solidFill>
                <a:latin typeface="Arial"/>
              </a:rPr>
              <a:t>Desain 16 varian user, implementasi idempoten, cara pakai, dan roadmap.</a:t>
            </a:r>
          </a:p>
        </p:txBody>
      </p:sp>
      <p:sp>
        <p:nvSpPr>
          <p:cNvPr id="25" name="TextBox 24"/>
          <p:cNvSpPr txBox="1"/>
          <p:nvPr/>
        </p:nvSpPr>
        <p:spPr>
          <a:xfrm>
            <a:off x="9326880" y="4855464"/>
            <a:ext cx="2011680" cy="274320"/>
          </a:xfrm>
          <a:prstGeom prst="rect">
            <a:avLst/>
          </a:prstGeom>
          <a:noFill/>
        </p:spPr>
        <p:txBody>
          <a:bodyPr wrap="square" lIns="0" rIns="0" tIns="0" bIns="0" anchor="t">
            <a:spAutoFit/>
          </a:bodyPr>
          <a:lstStyle/>
          <a:p>
            <a:pPr algn="r">
              <a:lnSpc>
                <a:spcPct val="112000"/>
              </a:lnSpc>
              <a:spcAft>
                <a:spcPts val="0"/>
              </a:spcAft>
            </a:pPr>
            <a:r>
              <a:rPr sz="950" b="0" i="0">
                <a:solidFill>
                  <a:srgbClr val="D93F45"/>
                </a:solidFill>
                <a:latin typeface="Arial"/>
              </a:rPr>
              <a:t>Slide 18–22</a:t>
            </a:r>
          </a:p>
        </p:txBody>
      </p:sp>
      <p:sp>
        <p:nvSpPr>
          <p:cNvPr id="26" name="Rounded Rectangle 25"/>
          <p:cNvSpPr/>
          <p:nvPr/>
        </p:nvSpPr>
        <p:spPr>
          <a:xfrm>
            <a:off x="640080" y="5559552"/>
            <a:ext cx="10908792" cy="603504"/>
          </a:xfrm>
          <a:prstGeom prst="roundRect">
            <a:avLst>
              <a:gd name="adj" fmla="val 8000"/>
            </a:avLst>
          </a:prstGeom>
          <a:solidFill>
            <a:srgbClr val="FFF5D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7" name="Rounded Rectangle 26"/>
          <p:cNvSpPr/>
          <p:nvPr/>
        </p:nvSpPr>
        <p:spPr>
          <a:xfrm>
            <a:off x="640080" y="5559552"/>
            <a:ext cx="50292" cy="603504"/>
          </a:xfrm>
          <a:prstGeom prst="roundRect">
            <a:avLst>
              <a:gd name="adj" fmla="val 0"/>
            </a:avLst>
          </a:prstGeom>
          <a:solidFill>
            <a:srgbClr val="FFB4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8" name="TextBox 27"/>
          <p:cNvSpPr txBox="1"/>
          <p:nvPr/>
        </p:nvSpPr>
        <p:spPr>
          <a:xfrm>
            <a:off x="859536" y="5696712"/>
            <a:ext cx="10543032" cy="237744"/>
          </a:xfrm>
          <a:prstGeom prst="rect">
            <a:avLst/>
          </a:prstGeom>
          <a:noFill/>
        </p:spPr>
        <p:txBody>
          <a:bodyPr wrap="square" lIns="0" rIns="0" tIns="0" bIns="0" anchor="t">
            <a:spAutoFit/>
          </a:bodyPr>
          <a:lstStyle/>
          <a:p>
            <a:pPr algn="l">
              <a:lnSpc>
                <a:spcPct val="112000"/>
              </a:lnSpc>
              <a:spcAft>
                <a:spcPts val="0"/>
              </a:spcAft>
            </a:pPr>
            <a:r>
              <a:rPr sz="1100" b="1" i="0">
                <a:solidFill>
                  <a:srgbClr val="1F2937"/>
                </a:solidFill>
                <a:latin typeface="Arial"/>
              </a:rPr>
              <a:t>Deliverable sesi ini</a:t>
            </a:r>
          </a:p>
        </p:txBody>
      </p:sp>
      <p:sp>
        <p:nvSpPr>
          <p:cNvPr id="29" name="TextBox 28"/>
          <p:cNvSpPr txBox="1"/>
          <p:nvPr/>
        </p:nvSpPr>
        <p:spPr>
          <a:xfrm>
            <a:off x="859536" y="5971032"/>
            <a:ext cx="10524744" cy="100583"/>
          </a:xfrm>
          <a:prstGeom prst="rect">
            <a:avLst/>
          </a:prstGeom>
          <a:noFill/>
        </p:spPr>
        <p:txBody>
          <a:bodyPr wrap="square" lIns="0" rIns="0" tIns="0" bIns="0" anchor="t">
            <a:spAutoFit/>
          </a:bodyPr>
          <a:lstStyle/>
          <a:p>
            <a:pPr algn="l">
              <a:lnSpc>
                <a:spcPct val="125000"/>
              </a:lnSpc>
              <a:spcAft>
                <a:spcPts val="0"/>
              </a:spcAft>
            </a:pPr>
            <a:r>
              <a:rPr sz="1050" b="0" i="0">
                <a:solidFill>
                  <a:srgbClr val="333D4A"/>
                </a:solidFill>
                <a:latin typeface="Arial"/>
              </a:rPr>
              <a:t>Deck 22 slide berisi bullet, outline &amp; catatan presenter  +  seed 16 customer (customers, customer_interests, customer_favorite_tags) dengan SQL idempoten.</a:t>
            </a:r>
          </a:p>
        </p:txBody>
      </p:sp>
      <p:sp>
        <p:nvSpPr>
          <p:cNvPr id="30" name="Rounded Rectangle 29"/>
          <p:cNvSpPr/>
          <p:nvPr/>
        </p:nvSpPr>
        <p:spPr>
          <a:xfrm>
            <a:off x="640080" y="6419088"/>
            <a:ext cx="10908792" cy="7315"/>
          </a:xfrm>
          <a:prstGeom prst="roundRect">
            <a:avLst>
              <a:gd name="adj" fmla="val 0"/>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1" name="Rounded Rectangle 30"/>
          <p:cNvSpPr/>
          <p:nvPr/>
        </p:nvSpPr>
        <p:spPr>
          <a:xfrm>
            <a:off x="640080" y="6537960"/>
            <a:ext cx="224942" cy="224942"/>
          </a:xfrm>
          <a:prstGeom prst="roundRect">
            <a:avLst>
              <a:gd name="adj" fmla="val 22000"/>
            </a:avLst>
          </a:prstGeom>
          <a:solidFill>
            <a:srgbClr val="FF5A5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2" name="TextBox 31"/>
          <p:cNvSpPr txBox="1"/>
          <p:nvPr/>
        </p:nvSpPr>
        <p:spPr>
          <a:xfrm>
            <a:off x="640080" y="6526987"/>
            <a:ext cx="224942" cy="224942"/>
          </a:xfrm>
          <a:prstGeom prst="rect">
            <a:avLst/>
          </a:prstGeom>
          <a:noFill/>
        </p:spPr>
        <p:txBody>
          <a:bodyPr wrap="square" lIns="0" rIns="0" tIns="0" bIns="0" anchor="ctr">
            <a:spAutoFit/>
          </a:bodyPr>
          <a:lstStyle/>
          <a:p>
            <a:pPr algn="ctr">
              <a:lnSpc>
                <a:spcPct val="112000"/>
              </a:lnSpc>
              <a:spcAft>
                <a:spcPts val="0"/>
              </a:spcAft>
            </a:pPr>
            <a:r>
              <a:rPr sz="1066" b="1" i="0">
                <a:solidFill>
                  <a:srgbClr val="FFFFFF"/>
                </a:solidFill>
                <a:latin typeface="Arial"/>
              </a:rPr>
              <a:t>n</a:t>
            </a:r>
          </a:p>
        </p:txBody>
      </p:sp>
      <p:sp>
        <p:nvSpPr>
          <p:cNvPr id="33" name="TextBox 32"/>
          <p:cNvSpPr txBox="1"/>
          <p:nvPr/>
        </p:nvSpPr>
        <p:spPr>
          <a:xfrm>
            <a:off x="932505" y="6510528"/>
            <a:ext cx="899769" cy="224942"/>
          </a:xfrm>
          <a:prstGeom prst="rect">
            <a:avLst/>
          </a:prstGeom>
          <a:noFill/>
        </p:spPr>
        <p:txBody>
          <a:bodyPr wrap="square" lIns="0" rIns="0" tIns="0" bIns="0" anchor="t">
            <a:spAutoFit/>
          </a:bodyPr>
          <a:lstStyle/>
          <a:p>
            <a:pPr algn="l">
              <a:lnSpc>
                <a:spcPct val="112000"/>
              </a:lnSpc>
              <a:spcAft>
                <a:spcPts val="0"/>
              </a:spcAft>
            </a:pPr>
            <a:r>
              <a:rPr sz="1066" b="1" i="0">
                <a:solidFill>
                  <a:srgbClr val="1F2937"/>
                </a:solidFill>
                <a:latin typeface="Arial"/>
              </a:rPr>
              <a:t>NgeTag</a:t>
            </a:r>
          </a:p>
        </p:txBody>
      </p:sp>
      <p:sp>
        <p:nvSpPr>
          <p:cNvPr id="34" name="TextBox 33"/>
          <p:cNvSpPr txBox="1"/>
          <p:nvPr/>
        </p:nvSpPr>
        <p:spPr>
          <a:xfrm>
            <a:off x="1600200" y="6556248"/>
            <a:ext cx="5486400" cy="201168"/>
          </a:xfrm>
          <a:prstGeom prst="rect">
            <a:avLst/>
          </a:prstGeom>
          <a:noFill/>
        </p:spPr>
        <p:txBody>
          <a:bodyPr wrap="square" lIns="0" rIns="0" tIns="0" bIns="0" anchor="t">
            <a:spAutoFit/>
          </a:bodyPr>
          <a:lstStyle/>
          <a:p>
            <a:pPr algn="l">
              <a:lnSpc>
                <a:spcPct val="112000"/>
              </a:lnSpc>
              <a:spcAft>
                <a:spcPts val="0"/>
              </a:spcAft>
            </a:pPr>
            <a:r>
              <a:rPr sz="850" b="0" i="0">
                <a:solidFill>
                  <a:srgbClr val="6B7280"/>
                </a:solidFill>
                <a:latin typeface="Arial"/>
              </a:rPr>
              <a:t>NgeTag · Review Repository &amp; Seed Data User</a:t>
            </a:r>
          </a:p>
        </p:txBody>
      </p:sp>
      <p:sp>
        <p:nvSpPr>
          <p:cNvPr id="35" name="TextBox 34"/>
          <p:cNvSpPr txBox="1"/>
          <p:nvPr/>
        </p:nvSpPr>
        <p:spPr>
          <a:xfrm>
            <a:off x="10607040" y="6556248"/>
            <a:ext cx="941832" cy="201168"/>
          </a:xfrm>
          <a:prstGeom prst="rect">
            <a:avLst/>
          </a:prstGeom>
          <a:noFill/>
        </p:spPr>
        <p:txBody>
          <a:bodyPr wrap="square" lIns="0" rIns="0" tIns="0" bIns="0" anchor="t">
            <a:spAutoFit/>
          </a:bodyPr>
          <a:lstStyle/>
          <a:p>
            <a:pPr algn="r">
              <a:lnSpc>
                <a:spcPct val="112000"/>
              </a:lnSpc>
              <a:spcAft>
                <a:spcPts val="0"/>
              </a:spcAft>
            </a:pPr>
            <a:r>
              <a:rPr sz="850" b="0" i="0">
                <a:solidFill>
                  <a:srgbClr val="6B7280"/>
                </a:solidFill>
                <a:latin typeface="Arial"/>
              </a:rPr>
              <a:t>02 / 22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5161B"/>
        </a:solidFill>
        <a:effectLst/>
      </p:bgPr>
    </p:bg>
    <p:spTree>
      <p:nvGrpSpPr>
        <p:cNvPr id="1" name=""/>
        <p:cNvGrpSpPr/>
        <p:nvPr/>
      </p:nvGrpSpPr>
      <p:grpSpPr/>
      <p:sp>
        <p:nvSpPr>
          <p:cNvPr id="2" name="Oval 1"/>
          <p:cNvSpPr/>
          <p:nvPr/>
        </p:nvSpPr>
        <p:spPr>
          <a:xfrm>
            <a:off x="9052560" y="-1371600"/>
            <a:ext cx="4754880" cy="4754880"/>
          </a:xfrm>
          <a:prstGeom prst="ellipse">
            <a:avLst/>
          </a:prstGeom>
          <a:noFill/>
          <a:ln w="15240">
            <a:solidFill>
              <a:srgbClr val="2E3038"/>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 name="Oval 2"/>
          <p:cNvSpPr/>
          <p:nvPr/>
        </p:nvSpPr>
        <p:spPr>
          <a:xfrm>
            <a:off x="10424160" y="3566160"/>
            <a:ext cx="3291840" cy="3291840"/>
          </a:xfrm>
          <a:prstGeom prst="ellipse">
            <a:avLst/>
          </a:prstGeom>
          <a:solidFill>
            <a:srgbClr val="2324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Rounded Rectangle 3"/>
          <p:cNvSpPr/>
          <p:nvPr/>
        </p:nvSpPr>
        <p:spPr>
          <a:xfrm>
            <a:off x="640080" y="1417320"/>
            <a:ext cx="54864" cy="1874519"/>
          </a:xfrm>
          <a:prstGeom prst="roundRect">
            <a:avLst>
              <a:gd name="adj" fmla="val 0"/>
            </a:avLst>
          </a:prstGeom>
          <a:solidFill>
            <a:srgbClr val="FF5A5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TextBox 4"/>
          <p:cNvSpPr txBox="1"/>
          <p:nvPr/>
        </p:nvSpPr>
        <p:spPr>
          <a:xfrm>
            <a:off x="960120" y="1097280"/>
            <a:ext cx="3657600" cy="274320"/>
          </a:xfrm>
          <a:prstGeom prst="rect">
            <a:avLst/>
          </a:prstGeom>
          <a:noFill/>
        </p:spPr>
        <p:txBody>
          <a:bodyPr wrap="square" lIns="0" rIns="0" tIns="0" bIns="0" anchor="t">
            <a:spAutoFit/>
          </a:bodyPr>
          <a:lstStyle/>
          <a:p>
            <a:pPr algn="l">
              <a:lnSpc>
                <a:spcPct val="112000"/>
              </a:lnSpc>
              <a:spcAft>
                <a:spcPts val="0"/>
              </a:spcAft>
            </a:pPr>
            <a:r>
              <a:rPr sz="1000" b="1" i="0" spc="180">
                <a:solidFill>
                  <a:srgbClr val="FF5A5F"/>
                </a:solidFill>
                <a:latin typeface="Arial"/>
              </a:rPr>
              <a:t>PRODUK &amp; KONTEKS</a:t>
            </a:r>
          </a:p>
        </p:txBody>
      </p:sp>
      <p:sp>
        <p:nvSpPr>
          <p:cNvPr id="6" name="TextBox 5"/>
          <p:cNvSpPr txBox="1"/>
          <p:nvPr/>
        </p:nvSpPr>
        <p:spPr>
          <a:xfrm>
            <a:off x="960120" y="1417320"/>
            <a:ext cx="2011680" cy="1005840"/>
          </a:xfrm>
          <a:prstGeom prst="rect">
            <a:avLst/>
          </a:prstGeom>
          <a:noFill/>
        </p:spPr>
        <p:txBody>
          <a:bodyPr wrap="square" lIns="0" rIns="0" tIns="0" bIns="0" anchor="t">
            <a:spAutoFit/>
          </a:bodyPr>
          <a:lstStyle/>
          <a:p>
            <a:pPr algn="l">
              <a:lnSpc>
                <a:spcPct val="112000"/>
              </a:lnSpc>
              <a:spcAft>
                <a:spcPts val="0"/>
              </a:spcAft>
            </a:pPr>
            <a:r>
              <a:rPr sz="7200" b="1" i="0">
                <a:solidFill>
                  <a:srgbClr val="FF5A5F"/>
                </a:solidFill>
                <a:latin typeface="Arial"/>
              </a:rPr>
              <a:t>01</a:t>
            </a:r>
          </a:p>
        </p:txBody>
      </p:sp>
      <p:sp>
        <p:nvSpPr>
          <p:cNvPr id="7" name="TextBox 6"/>
          <p:cNvSpPr txBox="1"/>
          <p:nvPr/>
        </p:nvSpPr>
        <p:spPr>
          <a:xfrm>
            <a:off x="960120" y="2505456"/>
            <a:ext cx="9509760" cy="868680"/>
          </a:xfrm>
          <a:prstGeom prst="rect">
            <a:avLst/>
          </a:prstGeom>
          <a:noFill/>
        </p:spPr>
        <p:txBody>
          <a:bodyPr wrap="square" lIns="0" rIns="0" tIns="0" bIns="0" anchor="t">
            <a:spAutoFit/>
          </a:bodyPr>
          <a:lstStyle/>
          <a:p>
            <a:pPr algn="l">
              <a:lnSpc>
                <a:spcPct val="112000"/>
              </a:lnSpc>
              <a:spcAft>
                <a:spcPts val="0"/>
              </a:spcAft>
            </a:pPr>
            <a:r>
              <a:rPr sz="3100" b="1" i="0">
                <a:solidFill>
                  <a:srgbClr val="FFFFFF"/>
                </a:solidFill>
                <a:latin typeface="Arial"/>
              </a:rPr>
              <a:t>NgeTag dalam konteks</a:t>
            </a:r>
          </a:p>
        </p:txBody>
      </p:sp>
      <p:sp>
        <p:nvSpPr>
          <p:cNvPr id="8" name="TextBox 7"/>
          <p:cNvSpPr txBox="1"/>
          <p:nvPr/>
        </p:nvSpPr>
        <p:spPr>
          <a:xfrm>
            <a:off x="960120" y="3529584"/>
            <a:ext cx="7132320" cy="640080"/>
          </a:xfrm>
          <a:prstGeom prst="rect">
            <a:avLst/>
          </a:prstGeom>
          <a:noFill/>
        </p:spPr>
        <p:txBody>
          <a:bodyPr wrap="square" lIns="0" rIns="0" tIns="0" bIns="0" anchor="t">
            <a:spAutoFit/>
          </a:bodyPr>
          <a:lstStyle/>
          <a:p>
            <a:pPr algn="l">
              <a:lnSpc>
                <a:spcPct val="130000"/>
              </a:lnSpc>
              <a:spcAft>
                <a:spcPts val="0"/>
              </a:spcAft>
            </a:pPr>
            <a:r>
              <a:rPr sz="1300" b="0" i="0">
                <a:solidFill>
                  <a:srgbClr val="B4BAC4"/>
                </a:solidFill>
                <a:latin typeface="Arial"/>
              </a:rPr>
              <a:t>Apa yang dibangun, untuk siapa, dan alur apa yang dijaga oleh MVP.</a:t>
            </a:r>
          </a:p>
        </p:txBody>
      </p:sp>
      <p:sp>
        <p:nvSpPr>
          <p:cNvPr id="9" name="Oval 8"/>
          <p:cNvSpPr/>
          <p:nvPr/>
        </p:nvSpPr>
        <p:spPr>
          <a:xfrm>
            <a:off x="978408" y="4654296"/>
            <a:ext cx="73152" cy="73152"/>
          </a:xfrm>
          <a:prstGeom prst="ellipse">
            <a:avLst/>
          </a:prstGeom>
          <a:solidFill>
            <a:srgbClr val="FF5A5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TextBox 9"/>
          <p:cNvSpPr txBox="1"/>
          <p:nvPr/>
        </p:nvSpPr>
        <p:spPr>
          <a:xfrm>
            <a:off x="1207008" y="4572000"/>
            <a:ext cx="7680960" cy="292608"/>
          </a:xfrm>
          <a:prstGeom prst="rect">
            <a:avLst/>
          </a:prstGeom>
          <a:noFill/>
        </p:spPr>
        <p:txBody>
          <a:bodyPr wrap="square" lIns="0" rIns="0" tIns="0" bIns="0" anchor="t">
            <a:spAutoFit/>
          </a:bodyPr>
          <a:lstStyle/>
          <a:p>
            <a:pPr algn="l">
              <a:lnSpc>
                <a:spcPct val="112000"/>
              </a:lnSpc>
              <a:spcAft>
                <a:spcPts val="0"/>
              </a:spcAft>
            </a:pPr>
            <a:r>
              <a:rPr sz="1200" b="0" i="0">
                <a:solidFill>
                  <a:srgbClr val="DADEE5"/>
                </a:solidFill>
                <a:latin typeface="Arial"/>
              </a:rPr>
              <a:t>Discovery hangout spot &amp; event Jakarta berbasis tag</a:t>
            </a:r>
          </a:p>
        </p:txBody>
      </p:sp>
      <p:sp>
        <p:nvSpPr>
          <p:cNvPr id="11" name="Oval 10"/>
          <p:cNvSpPr/>
          <p:nvPr/>
        </p:nvSpPr>
        <p:spPr>
          <a:xfrm>
            <a:off x="978408" y="5020056"/>
            <a:ext cx="73152" cy="73152"/>
          </a:xfrm>
          <a:prstGeom prst="ellipse">
            <a:avLst/>
          </a:prstGeom>
          <a:solidFill>
            <a:srgbClr val="FF5A5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TextBox 11"/>
          <p:cNvSpPr txBox="1"/>
          <p:nvPr/>
        </p:nvSpPr>
        <p:spPr>
          <a:xfrm>
            <a:off x="1207008" y="4937760"/>
            <a:ext cx="7680960" cy="292608"/>
          </a:xfrm>
          <a:prstGeom prst="rect">
            <a:avLst/>
          </a:prstGeom>
          <a:noFill/>
        </p:spPr>
        <p:txBody>
          <a:bodyPr wrap="square" lIns="0" rIns="0" tIns="0" bIns="0" anchor="t">
            <a:spAutoFit/>
          </a:bodyPr>
          <a:lstStyle/>
          <a:p>
            <a:pPr algn="l">
              <a:lnSpc>
                <a:spcPct val="112000"/>
              </a:lnSpc>
              <a:spcAft>
                <a:spcPts val="0"/>
              </a:spcAft>
            </a:pPr>
            <a:r>
              <a:rPr sz="1200" b="0" i="0">
                <a:solidFill>
                  <a:srgbClr val="DADEE5"/>
                </a:solidFill>
                <a:latin typeface="Arial"/>
              </a:rPr>
              <a:t>Target milenial &amp; Gen Z, locale id-ID, mata uang IDR</a:t>
            </a:r>
          </a:p>
        </p:txBody>
      </p:sp>
      <p:sp>
        <p:nvSpPr>
          <p:cNvPr id="13" name="Oval 12"/>
          <p:cNvSpPr/>
          <p:nvPr/>
        </p:nvSpPr>
        <p:spPr>
          <a:xfrm>
            <a:off x="978408" y="5385816"/>
            <a:ext cx="73152" cy="73152"/>
          </a:xfrm>
          <a:prstGeom prst="ellipse">
            <a:avLst/>
          </a:prstGeom>
          <a:solidFill>
            <a:srgbClr val="FF5A5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TextBox 13"/>
          <p:cNvSpPr txBox="1"/>
          <p:nvPr/>
        </p:nvSpPr>
        <p:spPr>
          <a:xfrm>
            <a:off x="1207008" y="5303520"/>
            <a:ext cx="7680960" cy="292608"/>
          </a:xfrm>
          <a:prstGeom prst="rect">
            <a:avLst/>
          </a:prstGeom>
          <a:noFill/>
        </p:spPr>
        <p:txBody>
          <a:bodyPr wrap="square" lIns="0" rIns="0" tIns="0" bIns="0" anchor="t">
            <a:spAutoFit/>
          </a:bodyPr>
          <a:lstStyle/>
          <a:p>
            <a:pPr algn="l">
              <a:lnSpc>
                <a:spcPct val="112000"/>
              </a:lnSpc>
              <a:spcAft>
                <a:spcPts val="0"/>
              </a:spcAft>
            </a:pPr>
            <a:r>
              <a:rPr sz="1200" b="0" i="0">
                <a:solidFill>
                  <a:srgbClr val="DADEE5"/>
                </a:solidFill>
                <a:latin typeface="Arial"/>
              </a:rPr>
              <a:t>MVP Phase 1–4: seluruh data dummy, tanpa backend &amp; auth</a:t>
            </a:r>
          </a:p>
        </p:txBody>
      </p:sp>
      <p:sp>
        <p:nvSpPr>
          <p:cNvPr id="15" name="Rounded Rectangle 14"/>
          <p:cNvSpPr/>
          <p:nvPr/>
        </p:nvSpPr>
        <p:spPr>
          <a:xfrm>
            <a:off x="640080" y="6400800"/>
            <a:ext cx="224942" cy="224942"/>
          </a:xfrm>
          <a:prstGeom prst="roundRect">
            <a:avLst>
              <a:gd name="adj" fmla="val 22000"/>
            </a:avLst>
          </a:prstGeom>
          <a:solidFill>
            <a:srgbClr val="FF5A5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6" name="TextBox 15"/>
          <p:cNvSpPr txBox="1"/>
          <p:nvPr/>
        </p:nvSpPr>
        <p:spPr>
          <a:xfrm>
            <a:off x="640080" y="6389827"/>
            <a:ext cx="224942" cy="224942"/>
          </a:xfrm>
          <a:prstGeom prst="rect">
            <a:avLst/>
          </a:prstGeom>
          <a:noFill/>
        </p:spPr>
        <p:txBody>
          <a:bodyPr wrap="square" lIns="0" rIns="0" tIns="0" bIns="0" anchor="ctr">
            <a:spAutoFit/>
          </a:bodyPr>
          <a:lstStyle/>
          <a:p>
            <a:pPr algn="ctr">
              <a:lnSpc>
                <a:spcPct val="112000"/>
              </a:lnSpc>
              <a:spcAft>
                <a:spcPts val="0"/>
              </a:spcAft>
            </a:pPr>
            <a:r>
              <a:rPr sz="1066" b="1" i="0">
                <a:solidFill>
                  <a:srgbClr val="FFFFFF"/>
                </a:solidFill>
                <a:latin typeface="Arial"/>
              </a:rPr>
              <a:t>n</a:t>
            </a:r>
          </a:p>
        </p:txBody>
      </p:sp>
      <p:sp>
        <p:nvSpPr>
          <p:cNvPr id="17" name="TextBox 16"/>
          <p:cNvSpPr txBox="1"/>
          <p:nvPr/>
        </p:nvSpPr>
        <p:spPr>
          <a:xfrm>
            <a:off x="932505" y="6373368"/>
            <a:ext cx="899769" cy="224942"/>
          </a:xfrm>
          <a:prstGeom prst="rect">
            <a:avLst/>
          </a:prstGeom>
          <a:noFill/>
        </p:spPr>
        <p:txBody>
          <a:bodyPr wrap="square" lIns="0" rIns="0" tIns="0" bIns="0" anchor="t">
            <a:spAutoFit/>
          </a:bodyPr>
          <a:lstStyle/>
          <a:p>
            <a:pPr algn="l">
              <a:lnSpc>
                <a:spcPct val="112000"/>
              </a:lnSpc>
              <a:spcAft>
                <a:spcPts val="0"/>
              </a:spcAft>
            </a:pPr>
            <a:r>
              <a:rPr sz="1066" b="1" i="0">
                <a:solidFill>
                  <a:srgbClr val="FFFFFF"/>
                </a:solidFill>
                <a:latin typeface="Arial"/>
              </a:rPr>
              <a:t>NgeTag</a:t>
            </a:r>
          </a:p>
        </p:txBody>
      </p:sp>
      <p:sp>
        <p:nvSpPr>
          <p:cNvPr id="18" name="TextBox 17"/>
          <p:cNvSpPr txBox="1"/>
          <p:nvPr/>
        </p:nvSpPr>
        <p:spPr>
          <a:xfrm>
            <a:off x="10607040" y="6419088"/>
            <a:ext cx="941832" cy="201168"/>
          </a:xfrm>
          <a:prstGeom prst="rect">
            <a:avLst/>
          </a:prstGeom>
          <a:noFill/>
        </p:spPr>
        <p:txBody>
          <a:bodyPr wrap="square" lIns="0" rIns="0" tIns="0" bIns="0" anchor="t">
            <a:spAutoFit/>
          </a:bodyPr>
          <a:lstStyle/>
          <a:p>
            <a:pPr algn="r">
              <a:lnSpc>
                <a:spcPct val="112000"/>
              </a:lnSpc>
              <a:spcAft>
                <a:spcPts val="0"/>
              </a:spcAft>
            </a:pPr>
            <a:r>
              <a:rPr sz="850" b="0" i="0">
                <a:solidFill>
                  <a:srgbClr val="7A828E"/>
                </a:solidFill>
                <a:latin typeface="Arial"/>
              </a:rPr>
              <a:t>01</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AFAFB"/>
        </a:solidFill>
        <a:effectLst/>
      </p:bgPr>
    </p:bg>
    <p:spTree>
      <p:nvGrpSpPr>
        <p:cNvPr id="1" name=""/>
        <p:cNvGrpSpPr/>
        <p:nvPr/>
      </p:nvGrpSpPr>
      <p:grpSpPr/>
      <p:sp>
        <p:nvSpPr>
          <p:cNvPr id="2" name="TextBox 1"/>
          <p:cNvSpPr txBox="1"/>
          <p:nvPr/>
        </p:nvSpPr>
        <p:spPr>
          <a:xfrm>
            <a:off x="640080" y="384048"/>
            <a:ext cx="9601200" cy="228600"/>
          </a:xfrm>
          <a:prstGeom prst="rect">
            <a:avLst/>
          </a:prstGeom>
          <a:noFill/>
        </p:spPr>
        <p:txBody>
          <a:bodyPr wrap="square" lIns="0" rIns="0" tIns="0" bIns="0" anchor="t">
            <a:spAutoFit/>
          </a:bodyPr>
          <a:lstStyle/>
          <a:p>
            <a:pPr algn="l">
              <a:lnSpc>
                <a:spcPct val="112000"/>
              </a:lnSpc>
              <a:spcAft>
                <a:spcPts val="0"/>
              </a:spcAft>
            </a:pPr>
            <a:r>
              <a:rPr sz="1000" b="1" i="0" spc="140">
                <a:solidFill>
                  <a:srgbClr val="FF5A5F"/>
                </a:solidFill>
                <a:latin typeface="Arial"/>
              </a:rPr>
              <a:t>01 · PRODUK &amp; KONTEKS</a:t>
            </a:r>
          </a:p>
        </p:txBody>
      </p:sp>
      <p:sp>
        <p:nvSpPr>
          <p:cNvPr id="3" name="TextBox 2"/>
          <p:cNvSpPr txBox="1"/>
          <p:nvPr/>
        </p:nvSpPr>
        <p:spPr>
          <a:xfrm>
            <a:off x="640080" y="621792"/>
            <a:ext cx="10881360" cy="566928"/>
          </a:xfrm>
          <a:prstGeom prst="rect">
            <a:avLst/>
          </a:prstGeom>
          <a:noFill/>
        </p:spPr>
        <p:txBody>
          <a:bodyPr wrap="square" lIns="0" rIns="0" tIns="0" bIns="0" anchor="t">
            <a:spAutoFit/>
          </a:bodyPr>
          <a:lstStyle/>
          <a:p>
            <a:pPr algn="l">
              <a:lnSpc>
                <a:spcPct val="112000"/>
              </a:lnSpc>
              <a:spcAft>
                <a:spcPts val="0"/>
              </a:spcAft>
            </a:pPr>
            <a:r>
              <a:rPr sz="2600" b="1" i="0">
                <a:solidFill>
                  <a:srgbClr val="1F2937"/>
                </a:solidFill>
                <a:latin typeface="Arial"/>
              </a:rPr>
              <a:t>Platform discovery untuk milenial &amp; Gen Z Jakarta</a:t>
            </a:r>
          </a:p>
        </p:txBody>
      </p:sp>
      <p:sp>
        <p:nvSpPr>
          <p:cNvPr id="4" name="TextBox 3"/>
          <p:cNvSpPr txBox="1"/>
          <p:nvPr/>
        </p:nvSpPr>
        <p:spPr>
          <a:xfrm>
            <a:off x="640080" y="1225296"/>
            <a:ext cx="10424160" cy="365760"/>
          </a:xfrm>
          <a:prstGeom prst="rect">
            <a:avLst/>
          </a:prstGeom>
          <a:noFill/>
        </p:spPr>
        <p:txBody>
          <a:bodyPr wrap="square" lIns="0" rIns="0" tIns="0" bIns="0" anchor="t">
            <a:spAutoFit/>
          </a:bodyPr>
          <a:lstStyle/>
          <a:p>
            <a:pPr algn="l">
              <a:lnSpc>
                <a:spcPct val="112000"/>
              </a:lnSpc>
              <a:spcAft>
                <a:spcPts val="0"/>
              </a:spcAft>
            </a:pPr>
            <a:r>
              <a:rPr sz="1250" b="0" i="0">
                <a:solidFill>
                  <a:srgbClr val="6B7280"/>
                </a:solidFill>
                <a:latin typeface="Arial"/>
              </a:rPr>
              <a:t>Satu direktori terpusat untuk spot, event, komunitas, dan promo — semuanya diikat oleh tag.</a:t>
            </a:r>
          </a:p>
        </p:txBody>
      </p:sp>
      <p:sp>
        <p:nvSpPr>
          <p:cNvPr id="5" name="Rounded Rectangle 4"/>
          <p:cNvSpPr/>
          <p:nvPr/>
        </p:nvSpPr>
        <p:spPr>
          <a:xfrm>
            <a:off x="640080" y="1170432"/>
            <a:ext cx="502920" cy="32004"/>
          </a:xfrm>
          <a:prstGeom prst="roundRect">
            <a:avLst>
              <a:gd name="adj" fmla="val 0"/>
            </a:avLst>
          </a:prstGeom>
          <a:solidFill>
            <a:srgbClr val="FF5A5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 name="TextBox 5"/>
          <p:cNvSpPr txBox="1"/>
          <p:nvPr/>
        </p:nvSpPr>
        <p:spPr>
          <a:xfrm>
            <a:off x="640080" y="1828800"/>
            <a:ext cx="5669280" cy="3291840"/>
          </a:xfrm>
          <a:prstGeom prst="rect">
            <a:avLst/>
          </a:prstGeom>
          <a:noFill/>
        </p:spPr>
        <p:txBody>
          <a:bodyPr wrap="square" lIns="0" rIns="0" tIns="0" bIns="0">
            <a:spAutoFit/>
          </a:bodyPr>
          <a:lstStyle/>
          <a:p>
            <a:pPr marL="201168" indent="-201168">
              <a:lnSpc>
                <a:spcPct val="112000"/>
              </a:lnSpc>
              <a:spcAft>
                <a:spcPts val="1100"/>
              </a:spcAft>
              <a:buClr>
                <a:srgbClr val="FF5A5F"/>
              </a:buClr>
              <a:buFont typeface="Arial"/>
              <a:buChar char="•"/>
            </a:pPr>
            <a:r>
              <a:rPr sz="1300" b="0">
                <a:solidFill>
                  <a:srgbClr val="333D4A"/>
                </a:solidFill>
                <a:latin typeface="Arial"/>
              </a:rPr>
              <a:t>Hangout spot &amp; event Jakarta, fokus pada pengalaman nyata di lokasi.</a:t>
            </a:r>
          </a:p>
          <a:p>
            <a:pPr marL="201168" indent="-201168">
              <a:lnSpc>
                <a:spcPct val="112000"/>
              </a:lnSpc>
              <a:spcAft>
                <a:spcPts val="1100"/>
              </a:spcAft>
              <a:buClr>
                <a:srgbClr val="FF5A5F"/>
              </a:buClr>
              <a:buFont typeface="Arial"/>
              <a:buChar char="•"/>
            </a:pPr>
            <a:r>
              <a:rPr sz="1300" b="0">
                <a:solidFill>
                  <a:srgbClr val="333D4A"/>
                </a:solidFill>
                <a:latin typeface="Arial"/>
              </a:rPr>
              <a:t>20 tag lintas 5 kategori: vibe, cuisine, activity, price, occasion.</a:t>
            </a:r>
          </a:p>
          <a:p>
            <a:pPr marL="201168" indent="-201168">
              <a:lnSpc>
                <a:spcPct val="112000"/>
              </a:lnSpc>
              <a:spcAft>
                <a:spcPts val="1100"/>
              </a:spcAft>
              <a:buClr>
                <a:srgbClr val="FF5A5F"/>
              </a:buClr>
              <a:buFont typeface="Arial"/>
              <a:buChar char="•"/>
            </a:pPr>
            <a:r>
              <a:rPr sz="1300" b="0">
                <a:solidFill>
                  <a:srgbClr val="333D4A"/>
                </a:solidFill>
                <a:latin typeface="Arial"/>
              </a:rPr>
              <a:t>Tag adalah primitif discovery: home, explore, search, dan tag landing.</a:t>
            </a:r>
          </a:p>
          <a:p>
            <a:pPr marL="201168" indent="-201168">
              <a:lnSpc>
                <a:spcPct val="112000"/>
              </a:lnSpc>
              <a:spcAft>
                <a:spcPts val="1100"/>
              </a:spcAft>
              <a:buClr>
                <a:srgbClr val="FF5A5F"/>
              </a:buClr>
              <a:buFont typeface="Arial"/>
              <a:buChar char="•"/>
            </a:pPr>
            <a:r>
              <a:rPr sz="1300" b="0">
                <a:solidFill>
                  <a:srgbClr val="333D4A"/>
                </a:solidFill>
                <a:latin typeface="Arial"/>
              </a:rPr>
              <a:t>Mobile-first PWA, light theme, font Inter + Plus Jakarta Sans.</a:t>
            </a:r>
          </a:p>
          <a:p>
            <a:pPr marL="201168" indent="-201168">
              <a:lnSpc>
                <a:spcPct val="112000"/>
              </a:lnSpc>
              <a:spcAft>
                <a:spcPts val="1100"/>
              </a:spcAft>
              <a:buClr>
                <a:srgbClr val="FF5A5F"/>
              </a:buClr>
              <a:buFont typeface="Arial"/>
              <a:buChar char="•"/>
            </a:pPr>
            <a:r>
              <a:rPr sz="1300" b="0">
                <a:solidFill>
                  <a:srgbClr val="333D4A"/>
                </a:solidFill>
                <a:latin typeface="Arial"/>
              </a:rPr>
              <a:t>Alur inti: temukan → bandingkan → simpan → kunjungi → ulas.</a:t>
            </a:r>
          </a:p>
          <a:p>
            <a:pPr marL="201168" indent="-201168">
              <a:lnSpc>
                <a:spcPct val="112000"/>
              </a:lnSpc>
              <a:spcAft>
                <a:spcPts val="1100"/>
              </a:spcAft>
              <a:buClr>
                <a:srgbClr val="FF5A5F"/>
              </a:buClr>
              <a:buFont typeface="Arial"/>
              <a:buChar char="•"/>
            </a:pPr>
            <a:r>
              <a:rPr sz="1300" b="0">
                <a:solidFill>
                  <a:srgbClr val="333D4A"/>
                </a:solidFill>
                <a:latin typeface="Arial"/>
              </a:rPr>
              <a:t>MVP Phase 1–4 selesai; konten masih dummy dan tanpa autentikasi.</a:t>
            </a:r>
          </a:p>
        </p:txBody>
      </p:sp>
      <p:sp>
        <p:nvSpPr>
          <p:cNvPr id="7" name="Rounded Rectangle 6"/>
          <p:cNvSpPr/>
          <p:nvPr/>
        </p:nvSpPr>
        <p:spPr>
          <a:xfrm>
            <a:off x="6537960" y="1810512"/>
            <a:ext cx="2395728" cy="1024128"/>
          </a:xfrm>
          <a:prstGeom prst="roundRect">
            <a:avLst>
              <a:gd name="adj" fmla="val 8000"/>
            </a:avLst>
          </a:prstGeom>
          <a:solidFill>
            <a:srgbClr val="FFFFFF"/>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TextBox 7"/>
          <p:cNvSpPr txBox="1"/>
          <p:nvPr/>
        </p:nvSpPr>
        <p:spPr>
          <a:xfrm>
            <a:off x="6556248" y="1956816"/>
            <a:ext cx="2359152" cy="457200"/>
          </a:xfrm>
          <a:prstGeom prst="rect">
            <a:avLst/>
          </a:prstGeom>
          <a:noFill/>
        </p:spPr>
        <p:txBody>
          <a:bodyPr wrap="square" lIns="0" rIns="0" tIns="0" bIns="0" anchor="t">
            <a:spAutoFit/>
          </a:bodyPr>
          <a:lstStyle/>
          <a:p>
            <a:pPr algn="ctr">
              <a:lnSpc>
                <a:spcPct val="112000"/>
              </a:lnSpc>
              <a:spcAft>
                <a:spcPts val="0"/>
              </a:spcAft>
            </a:pPr>
            <a:r>
              <a:rPr sz="2400" b="1" i="0">
                <a:solidFill>
                  <a:srgbClr val="D93F45"/>
                </a:solidFill>
                <a:latin typeface="Arial"/>
              </a:rPr>
              <a:t>25</a:t>
            </a:r>
          </a:p>
        </p:txBody>
      </p:sp>
      <p:sp>
        <p:nvSpPr>
          <p:cNvPr id="9" name="TextBox 8"/>
          <p:cNvSpPr txBox="1"/>
          <p:nvPr/>
        </p:nvSpPr>
        <p:spPr>
          <a:xfrm>
            <a:off x="6574536" y="2468880"/>
            <a:ext cx="2322576" cy="256032"/>
          </a:xfrm>
          <a:prstGeom prst="rect">
            <a:avLst/>
          </a:prstGeom>
          <a:noFill/>
        </p:spPr>
        <p:txBody>
          <a:bodyPr wrap="square" lIns="0" rIns="0" tIns="0" bIns="0" anchor="t">
            <a:spAutoFit/>
          </a:bodyPr>
          <a:lstStyle/>
          <a:p>
            <a:pPr algn="ctr">
              <a:lnSpc>
                <a:spcPct val="112000"/>
              </a:lnSpc>
              <a:spcAft>
                <a:spcPts val="0"/>
              </a:spcAft>
            </a:pPr>
            <a:r>
              <a:rPr sz="900" b="0" i="0">
                <a:solidFill>
                  <a:srgbClr val="6B7280"/>
                </a:solidFill>
                <a:latin typeface="Arial"/>
              </a:rPr>
              <a:t>Spot Jakarta</a:t>
            </a:r>
          </a:p>
        </p:txBody>
      </p:sp>
      <p:sp>
        <p:nvSpPr>
          <p:cNvPr id="10" name="Rounded Rectangle 9"/>
          <p:cNvSpPr/>
          <p:nvPr/>
        </p:nvSpPr>
        <p:spPr>
          <a:xfrm>
            <a:off x="9079992" y="1810512"/>
            <a:ext cx="2395728" cy="1024128"/>
          </a:xfrm>
          <a:prstGeom prst="roundRect">
            <a:avLst>
              <a:gd name="adj" fmla="val 8000"/>
            </a:avLst>
          </a:prstGeom>
          <a:solidFill>
            <a:srgbClr val="FFFFFF"/>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TextBox 10"/>
          <p:cNvSpPr txBox="1"/>
          <p:nvPr/>
        </p:nvSpPr>
        <p:spPr>
          <a:xfrm>
            <a:off x="9098280" y="1956816"/>
            <a:ext cx="2359152" cy="457200"/>
          </a:xfrm>
          <a:prstGeom prst="rect">
            <a:avLst/>
          </a:prstGeom>
          <a:noFill/>
        </p:spPr>
        <p:txBody>
          <a:bodyPr wrap="square" lIns="0" rIns="0" tIns="0" bIns="0" anchor="t">
            <a:spAutoFit/>
          </a:bodyPr>
          <a:lstStyle/>
          <a:p>
            <a:pPr algn="ctr">
              <a:lnSpc>
                <a:spcPct val="112000"/>
              </a:lnSpc>
              <a:spcAft>
                <a:spcPts val="0"/>
              </a:spcAft>
            </a:pPr>
            <a:r>
              <a:rPr sz="2400" b="1" i="0">
                <a:solidFill>
                  <a:srgbClr val="1F2937"/>
                </a:solidFill>
                <a:latin typeface="Arial"/>
              </a:rPr>
              <a:t>15</a:t>
            </a:r>
          </a:p>
        </p:txBody>
      </p:sp>
      <p:sp>
        <p:nvSpPr>
          <p:cNvPr id="12" name="TextBox 11"/>
          <p:cNvSpPr txBox="1"/>
          <p:nvPr/>
        </p:nvSpPr>
        <p:spPr>
          <a:xfrm>
            <a:off x="9116567" y="2468880"/>
            <a:ext cx="2322576" cy="256032"/>
          </a:xfrm>
          <a:prstGeom prst="rect">
            <a:avLst/>
          </a:prstGeom>
          <a:noFill/>
        </p:spPr>
        <p:txBody>
          <a:bodyPr wrap="square" lIns="0" rIns="0" tIns="0" bIns="0" anchor="t">
            <a:spAutoFit/>
          </a:bodyPr>
          <a:lstStyle/>
          <a:p>
            <a:pPr algn="ctr">
              <a:lnSpc>
                <a:spcPct val="112000"/>
              </a:lnSpc>
              <a:spcAft>
                <a:spcPts val="0"/>
              </a:spcAft>
            </a:pPr>
            <a:r>
              <a:rPr sz="900" b="0" i="0">
                <a:solidFill>
                  <a:srgbClr val="6B7280"/>
                </a:solidFill>
                <a:latin typeface="Arial"/>
              </a:rPr>
              <a:t>Event Jakarta</a:t>
            </a:r>
          </a:p>
        </p:txBody>
      </p:sp>
      <p:sp>
        <p:nvSpPr>
          <p:cNvPr id="13" name="Rounded Rectangle 12"/>
          <p:cNvSpPr/>
          <p:nvPr/>
        </p:nvSpPr>
        <p:spPr>
          <a:xfrm>
            <a:off x="6537960" y="3026664"/>
            <a:ext cx="2395728" cy="1024128"/>
          </a:xfrm>
          <a:prstGeom prst="roundRect">
            <a:avLst>
              <a:gd name="adj" fmla="val 8000"/>
            </a:avLst>
          </a:prstGeom>
          <a:solidFill>
            <a:srgbClr val="FFFFFF"/>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TextBox 13"/>
          <p:cNvSpPr txBox="1"/>
          <p:nvPr/>
        </p:nvSpPr>
        <p:spPr>
          <a:xfrm>
            <a:off x="6556248" y="3172968"/>
            <a:ext cx="2359152" cy="457200"/>
          </a:xfrm>
          <a:prstGeom prst="rect">
            <a:avLst/>
          </a:prstGeom>
          <a:noFill/>
        </p:spPr>
        <p:txBody>
          <a:bodyPr wrap="square" lIns="0" rIns="0" tIns="0" bIns="0" anchor="t">
            <a:spAutoFit/>
          </a:bodyPr>
          <a:lstStyle/>
          <a:p>
            <a:pPr algn="ctr">
              <a:lnSpc>
                <a:spcPct val="112000"/>
              </a:lnSpc>
              <a:spcAft>
                <a:spcPts val="0"/>
              </a:spcAft>
            </a:pPr>
            <a:r>
              <a:rPr sz="2400" b="1" i="0">
                <a:solidFill>
                  <a:srgbClr val="1F2937"/>
                </a:solidFill>
                <a:latin typeface="Arial"/>
              </a:rPr>
              <a:t>20</a:t>
            </a:r>
          </a:p>
        </p:txBody>
      </p:sp>
      <p:sp>
        <p:nvSpPr>
          <p:cNvPr id="15" name="TextBox 14"/>
          <p:cNvSpPr txBox="1"/>
          <p:nvPr/>
        </p:nvSpPr>
        <p:spPr>
          <a:xfrm>
            <a:off x="6574536" y="3685032"/>
            <a:ext cx="2322576" cy="256032"/>
          </a:xfrm>
          <a:prstGeom prst="rect">
            <a:avLst/>
          </a:prstGeom>
          <a:noFill/>
        </p:spPr>
        <p:txBody>
          <a:bodyPr wrap="square" lIns="0" rIns="0" tIns="0" bIns="0" anchor="t">
            <a:spAutoFit/>
          </a:bodyPr>
          <a:lstStyle/>
          <a:p>
            <a:pPr algn="ctr">
              <a:lnSpc>
                <a:spcPct val="112000"/>
              </a:lnSpc>
              <a:spcAft>
                <a:spcPts val="0"/>
              </a:spcAft>
            </a:pPr>
            <a:r>
              <a:rPr sz="900" b="0" i="0">
                <a:solidFill>
                  <a:srgbClr val="6B7280"/>
                </a:solidFill>
                <a:latin typeface="Arial"/>
              </a:rPr>
              <a:t>Tag discovery</a:t>
            </a:r>
          </a:p>
        </p:txBody>
      </p:sp>
      <p:sp>
        <p:nvSpPr>
          <p:cNvPr id="16" name="Rounded Rectangle 15"/>
          <p:cNvSpPr/>
          <p:nvPr/>
        </p:nvSpPr>
        <p:spPr>
          <a:xfrm>
            <a:off x="9079992" y="3026664"/>
            <a:ext cx="2395728" cy="1024128"/>
          </a:xfrm>
          <a:prstGeom prst="roundRect">
            <a:avLst>
              <a:gd name="adj" fmla="val 8000"/>
            </a:avLst>
          </a:prstGeom>
          <a:solidFill>
            <a:srgbClr val="FFFFFF"/>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TextBox 16"/>
          <p:cNvSpPr txBox="1"/>
          <p:nvPr/>
        </p:nvSpPr>
        <p:spPr>
          <a:xfrm>
            <a:off x="9098280" y="3172968"/>
            <a:ext cx="2359152" cy="457200"/>
          </a:xfrm>
          <a:prstGeom prst="rect">
            <a:avLst/>
          </a:prstGeom>
          <a:noFill/>
        </p:spPr>
        <p:txBody>
          <a:bodyPr wrap="square" lIns="0" rIns="0" tIns="0" bIns="0" anchor="t">
            <a:spAutoFit/>
          </a:bodyPr>
          <a:lstStyle/>
          <a:p>
            <a:pPr algn="ctr">
              <a:lnSpc>
                <a:spcPct val="112000"/>
              </a:lnSpc>
              <a:spcAft>
                <a:spcPts val="0"/>
              </a:spcAft>
            </a:pPr>
            <a:r>
              <a:rPr sz="2400" b="1" i="0">
                <a:solidFill>
                  <a:srgbClr val="1F2937"/>
                </a:solidFill>
                <a:latin typeface="Arial"/>
              </a:rPr>
              <a:t>14</a:t>
            </a:r>
          </a:p>
        </p:txBody>
      </p:sp>
      <p:sp>
        <p:nvSpPr>
          <p:cNvPr id="18" name="TextBox 17"/>
          <p:cNvSpPr txBox="1"/>
          <p:nvPr/>
        </p:nvSpPr>
        <p:spPr>
          <a:xfrm>
            <a:off x="9116567" y="3685032"/>
            <a:ext cx="2322576" cy="256032"/>
          </a:xfrm>
          <a:prstGeom prst="rect">
            <a:avLst/>
          </a:prstGeom>
          <a:noFill/>
        </p:spPr>
        <p:txBody>
          <a:bodyPr wrap="square" lIns="0" rIns="0" tIns="0" bIns="0" anchor="t">
            <a:spAutoFit/>
          </a:bodyPr>
          <a:lstStyle/>
          <a:p>
            <a:pPr algn="ctr">
              <a:lnSpc>
                <a:spcPct val="112000"/>
              </a:lnSpc>
              <a:spcAft>
                <a:spcPts val="0"/>
              </a:spcAft>
            </a:pPr>
            <a:r>
              <a:rPr sz="900" b="0" i="0">
                <a:solidFill>
                  <a:srgbClr val="6B7280"/>
                </a:solidFill>
                <a:latin typeface="Arial"/>
              </a:rPr>
              <a:t>Komunitas</a:t>
            </a:r>
          </a:p>
        </p:txBody>
      </p:sp>
      <p:sp>
        <p:nvSpPr>
          <p:cNvPr id="19" name="Rounded Rectangle 18"/>
          <p:cNvSpPr/>
          <p:nvPr/>
        </p:nvSpPr>
        <p:spPr>
          <a:xfrm>
            <a:off x="6537960" y="4242816"/>
            <a:ext cx="2395728" cy="1024128"/>
          </a:xfrm>
          <a:prstGeom prst="roundRect">
            <a:avLst>
              <a:gd name="adj" fmla="val 8000"/>
            </a:avLst>
          </a:prstGeom>
          <a:solidFill>
            <a:srgbClr val="FFFFFF"/>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TextBox 19"/>
          <p:cNvSpPr txBox="1"/>
          <p:nvPr/>
        </p:nvSpPr>
        <p:spPr>
          <a:xfrm>
            <a:off x="6556248" y="4389120"/>
            <a:ext cx="2359152" cy="457200"/>
          </a:xfrm>
          <a:prstGeom prst="rect">
            <a:avLst/>
          </a:prstGeom>
          <a:noFill/>
        </p:spPr>
        <p:txBody>
          <a:bodyPr wrap="square" lIns="0" rIns="0" tIns="0" bIns="0" anchor="t">
            <a:spAutoFit/>
          </a:bodyPr>
          <a:lstStyle/>
          <a:p>
            <a:pPr algn="ctr">
              <a:lnSpc>
                <a:spcPct val="112000"/>
              </a:lnSpc>
              <a:spcAft>
                <a:spcPts val="0"/>
              </a:spcAft>
            </a:pPr>
            <a:r>
              <a:rPr sz="2400" b="1" i="0">
                <a:solidFill>
                  <a:srgbClr val="1F2937"/>
                </a:solidFill>
                <a:latin typeface="Arial"/>
              </a:rPr>
              <a:t>6</a:t>
            </a:r>
          </a:p>
        </p:txBody>
      </p:sp>
      <p:sp>
        <p:nvSpPr>
          <p:cNvPr id="21" name="TextBox 20"/>
          <p:cNvSpPr txBox="1"/>
          <p:nvPr/>
        </p:nvSpPr>
        <p:spPr>
          <a:xfrm>
            <a:off x="6574536" y="4901184"/>
            <a:ext cx="2322576" cy="256032"/>
          </a:xfrm>
          <a:prstGeom prst="rect">
            <a:avLst/>
          </a:prstGeom>
          <a:noFill/>
        </p:spPr>
        <p:txBody>
          <a:bodyPr wrap="square" lIns="0" rIns="0" tIns="0" bIns="0" anchor="t">
            <a:spAutoFit/>
          </a:bodyPr>
          <a:lstStyle/>
          <a:p>
            <a:pPr algn="ctr">
              <a:lnSpc>
                <a:spcPct val="112000"/>
              </a:lnSpc>
              <a:spcAft>
                <a:spcPts val="0"/>
              </a:spcAft>
            </a:pPr>
            <a:r>
              <a:rPr sz="900" b="0" i="0">
                <a:solidFill>
                  <a:srgbClr val="6B7280"/>
                </a:solidFill>
                <a:latin typeface="Arial"/>
              </a:rPr>
              <a:t>Promo aktif</a:t>
            </a:r>
          </a:p>
        </p:txBody>
      </p:sp>
      <p:sp>
        <p:nvSpPr>
          <p:cNvPr id="22" name="Rounded Rectangle 21"/>
          <p:cNvSpPr/>
          <p:nvPr/>
        </p:nvSpPr>
        <p:spPr>
          <a:xfrm>
            <a:off x="9079992" y="4242816"/>
            <a:ext cx="2395728" cy="1024128"/>
          </a:xfrm>
          <a:prstGeom prst="roundRect">
            <a:avLst>
              <a:gd name="adj" fmla="val 8000"/>
            </a:avLst>
          </a:prstGeom>
          <a:solidFill>
            <a:srgbClr val="FFFFFF"/>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TextBox 22"/>
          <p:cNvSpPr txBox="1"/>
          <p:nvPr/>
        </p:nvSpPr>
        <p:spPr>
          <a:xfrm>
            <a:off x="9098280" y="4389120"/>
            <a:ext cx="2359152" cy="457200"/>
          </a:xfrm>
          <a:prstGeom prst="rect">
            <a:avLst/>
          </a:prstGeom>
          <a:noFill/>
        </p:spPr>
        <p:txBody>
          <a:bodyPr wrap="square" lIns="0" rIns="0" tIns="0" bIns="0" anchor="t">
            <a:spAutoFit/>
          </a:bodyPr>
          <a:lstStyle/>
          <a:p>
            <a:pPr algn="ctr">
              <a:lnSpc>
                <a:spcPct val="112000"/>
              </a:lnSpc>
              <a:spcAft>
                <a:spcPts val="0"/>
              </a:spcAft>
            </a:pPr>
            <a:r>
              <a:rPr sz="2400" b="1" i="0">
                <a:solidFill>
                  <a:srgbClr val="1F2937"/>
                </a:solidFill>
                <a:latin typeface="Arial"/>
              </a:rPr>
              <a:t>62</a:t>
            </a:r>
          </a:p>
        </p:txBody>
      </p:sp>
      <p:sp>
        <p:nvSpPr>
          <p:cNvPr id="24" name="TextBox 23"/>
          <p:cNvSpPr txBox="1"/>
          <p:nvPr/>
        </p:nvSpPr>
        <p:spPr>
          <a:xfrm>
            <a:off x="9116567" y="4901184"/>
            <a:ext cx="2322576" cy="256032"/>
          </a:xfrm>
          <a:prstGeom prst="rect">
            <a:avLst/>
          </a:prstGeom>
          <a:noFill/>
        </p:spPr>
        <p:txBody>
          <a:bodyPr wrap="square" lIns="0" rIns="0" tIns="0" bIns="0" anchor="t">
            <a:spAutoFit/>
          </a:bodyPr>
          <a:lstStyle/>
          <a:p>
            <a:pPr algn="ctr">
              <a:lnSpc>
                <a:spcPct val="112000"/>
              </a:lnSpc>
              <a:spcAft>
                <a:spcPts val="0"/>
              </a:spcAft>
            </a:pPr>
            <a:r>
              <a:rPr sz="900" b="0" i="0">
                <a:solidFill>
                  <a:srgbClr val="6B7280"/>
                </a:solidFill>
                <a:latin typeface="Arial"/>
              </a:rPr>
              <a:t>Ulasan</a:t>
            </a:r>
          </a:p>
        </p:txBody>
      </p:sp>
      <p:sp>
        <p:nvSpPr>
          <p:cNvPr id="25" name="TextBox 24"/>
          <p:cNvSpPr txBox="1"/>
          <p:nvPr/>
        </p:nvSpPr>
        <p:spPr>
          <a:xfrm>
            <a:off x="6537960" y="5376672"/>
            <a:ext cx="4937760" cy="274320"/>
          </a:xfrm>
          <a:prstGeom prst="rect">
            <a:avLst/>
          </a:prstGeom>
          <a:noFill/>
        </p:spPr>
        <p:txBody>
          <a:bodyPr wrap="square" lIns="0" rIns="0" tIns="0" bIns="0" anchor="t">
            <a:spAutoFit/>
          </a:bodyPr>
          <a:lstStyle/>
          <a:p>
            <a:pPr algn="l">
              <a:lnSpc>
                <a:spcPct val="112000"/>
              </a:lnSpc>
              <a:spcAft>
                <a:spcPts val="0"/>
              </a:spcAft>
            </a:pPr>
            <a:r>
              <a:rPr sz="900" b="0" i="1">
                <a:solidFill>
                  <a:srgbClr val="6B7280"/>
                </a:solidFill>
                <a:latin typeface="Arial"/>
              </a:rPr>
              <a:t>Sumber: src/data/fixtures/ · dihitung langsung dari file fixture.</a:t>
            </a:r>
          </a:p>
        </p:txBody>
      </p:sp>
      <p:sp>
        <p:nvSpPr>
          <p:cNvPr id="26" name="TextBox 25"/>
          <p:cNvSpPr txBox="1"/>
          <p:nvPr/>
        </p:nvSpPr>
        <p:spPr>
          <a:xfrm>
            <a:off x="640080" y="5358384"/>
            <a:ext cx="5486400" cy="237744"/>
          </a:xfrm>
          <a:prstGeom prst="rect">
            <a:avLst/>
          </a:prstGeom>
          <a:noFill/>
        </p:spPr>
        <p:txBody>
          <a:bodyPr wrap="square" lIns="0" rIns="0" tIns="0" bIns="0" anchor="t">
            <a:spAutoFit/>
          </a:bodyPr>
          <a:lstStyle/>
          <a:p>
            <a:pPr algn="l">
              <a:lnSpc>
                <a:spcPct val="112000"/>
              </a:lnSpc>
              <a:spcAft>
                <a:spcPts val="0"/>
              </a:spcAft>
            </a:pPr>
            <a:r>
              <a:rPr sz="900" b="1" i="0" spc="120">
                <a:solidFill>
                  <a:srgbClr val="6B7280"/>
                </a:solidFill>
                <a:latin typeface="Arial"/>
              </a:rPr>
              <a:t>LIMA KATEGORI TAG</a:t>
            </a:r>
          </a:p>
        </p:txBody>
      </p:sp>
      <p:sp>
        <p:nvSpPr>
          <p:cNvPr id="27" name="Rounded Rectangle 26"/>
          <p:cNvSpPr/>
          <p:nvPr/>
        </p:nvSpPr>
        <p:spPr>
          <a:xfrm>
            <a:off x="640080" y="5632704"/>
            <a:ext cx="1133856" cy="365760"/>
          </a:xfrm>
          <a:prstGeom prst="roundRect">
            <a:avLst>
              <a:gd name="adj" fmla="val 50000"/>
            </a:avLst>
          </a:prstGeom>
          <a:solidFill>
            <a:srgbClr val="FFFFFF"/>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50" b="0">
                <a:solidFill>
                  <a:srgbClr val="333D4A"/>
                </a:solidFill>
                <a:latin typeface="Arial"/>
              </a:rPr>
              <a:t>vibe · 4</a:t>
            </a:r>
          </a:p>
        </p:txBody>
      </p:sp>
      <p:sp>
        <p:nvSpPr>
          <p:cNvPr id="28" name="Rounded Rectangle 27"/>
          <p:cNvSpPr/>
          <p:nvPr/>
        </p:nvSpPr>
        <p:spPr>
          <a:xfrm>
            <a:off x="1901952" y="5632704"/>
            <a:ext cx="1371600" cy="365760"/>
          </a:xfrm>
          <a:prstGeom prst="roundRect">
            <a:avLst>
              <a:gd name="adj" fmla="val 50000"/>
            </a:avLst>
          </a:prstGeom>
          <a:solidFill>
            <a:srgbClr val="FFFFFF"/>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50" b="0">
                <a:solidFill>
                  <a:srgbClr val="333D4A"/>
                </a:solidFill>
                <a:latin typeface="Arial"/>
              </a:rPr>
              <a:t>cuisine · 3</a:t>
            </a:r>
          </a:p>
        </p:txBody>
      </p:sp>
      <p:sp>
        <p:nvSpPr>
          <p:cNvPr id="29" name="Rounded Rectangle 28"/>
          <p:cNvSpPr/>
          <p:nvPr/>
        </p:nvSpPr>
        <p:spPr>
          <a:xfrm>
            <a:off x="3401568" y="5632704"/>
            <a:ext cx="1371600" cy="365760"/>
          </a:xfrm>
          <a:prstGeom prst="roundRect">
            <a:avLst>
              <a:gd name="adj" fmla="val 50000"/>
            </a:avLst>
          </a:prstGeom>
          <a:solidFill>
            <a:srgbClr val="FFFFFF"/>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50" b="0">
                <a:solidFill>
                  <a:srgbClr val="333D4A"/>
                </a:solidFill>
                <a:latin typeface="Arial"/>
              </a:rPr>
              <a:t>activity · 4</a:t>
            </a:r>
          </a:p>
        </p:txBody>
      </p:sp>
      <p:sp>
        <p:nvSpPr>
          <p:cNvPr id="30" name="Rounded Rectangle 29"/>
          <p:cNvSpPr/>
          <p:nvPr/>
        </p:nvSpPr>
        <p:spPr>
          <a:xfrm>
            <a:off x="4901184" y="5632704"/>
            <a:ext cx="1133856" cy="365760"/>
          </a:xfrm>
          <a:prstGeom prst="roundRect">
            <a:avLst>
              <a:gd name="adj" fmla="val 50000"/>
            </a:avLst>
          </a:prstGeom>
          <a:solidFill>
            <a:srgbClr val="FFFFFF"/>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50" b="0">
                <a:solidFill>
                  <a:srgbClr val="333D4A"/>
                </a:solidFill>
                <a:latin typeface="Arial"/>
              </a:rPr>
              <a:t>price · 3</a:t>
            </a:r>
          </a:p>
        </p:txBody>
      </p:sp>
      <p:sp>
        <p:nvSpPr>
          <p:cNvPr id="31" name="Rounded Rectangle 30"/>
          <p:cNvSpPr/>
          <p:nvPr/>
        </p:nvSpPr>
        <p:spPr>
          <a:xfrm>
            <a:off x="6163056" y="5632704"/>
            <a:ext cx="1371600" cy="365760"/>
          </a:xfrm>
          <a:prstGeom prst="roundRect">
            <a:avLst>
              <a:gd name="adj" fmla="val 50000"/>
            </a:avLst>
          </a:prstGeom>
          <a:solidFill>
            <a:srgbClr val="FFFFFF"/>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50" b="0">
                <a:solidFill>
                  <a:srgbClr val="333D4A"/>
                </a:solidFill>
                <a:latin typeface="Arial"/>
              </a:rPr>
              <a:t>occasion · 4</a:t>
            </a:r>
          </a:p>
        </p:txBody>
      </p:sp>
      <p:sp>
        <p:nvSpPr>
          <p:cNvPr id="32" name="Rounded Rectangle 31"/>
          <p:cNvSpPr/>
          <p:nvPr/>
        </p:nvSpPr>
        <p:spPr>
          <a:xfrm>
            <a:off x="640080" y="6419088"/>
            <a:ext cx="10908792" cy="7315"/>
          </a:xfrm>
          <a:prstGeom prst="roundRect">
            <a:avLst>
              <a:gd name="adj" fmla="val 0"/>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3" name="Rounded Rectangle 32"/>
          <p:cNvSpPr/>
          <p:nvPr/>
        </p:nvSpPr>
        <p:spPr>
          <a:xfrm>
            <a:off x="640080" y="6537960"/>
            <a:ext cx="224942" cy="224942"/>
          </a:xfrm>
          <a:prstGeom prst="roundRect">
            <a:avLst>
              <a:gd name="adj" fmla="val 22000"/>
            </a:avLst>
          </a:prstGeom>
          <a:solidFill>
            <a:srgbClr val="FF5A5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4" name="TextBox 33"/>
          <p:cNvSpPr txBox="1"/>
          <p:nvPr/>
        </p:nvSpPr>
        <p:spPr>
          <a:xfrm>
            <a:off x="640080" y="6526987"/>
            <a:ext cx="224942" cy="224942"/>
          </a:xfrm>
          <a:prstGeom prst="rect">
            <a:avLst/>
          </a:prstGeom>
          <a:noFill/>
        </p:spPr>
        <p:txBody>
          <a:bodyPr wrap="square" lIns="0" rIns="0" tIns="0" bIns="0" anchor="ctr">
            <a:spAutoFit/>
          </a:bodyPr>
          <a:lstStyle/>
          <a:p>
            <a:pPr algn="ctr">
              <a:lnSpc>
                <a:spcPct val="112000"/>
              </a:lnSpc>
              <a:spcAft>
                <a:spcPts val="0"/>
              </a:spcAft>
            </a:pPr>
            <a:r>
              <a:rPr sz="1066" b="1" i="0">
                <a:solidFill>
                  <a:srgbClr val="FFFFFF"/>
                </a:solidFill>
                <a:latin typeface="Arial"/>
              </a:rPr>
              <a:t>n</a:t>
            </a:r>
          </a:p>
        </p:txBody>
      </p:sp>
      <p:sp>
        <p:nvSpPr>
          <p:cNvPr id="35" name="TextBox 34"/>
          <p:cNvSpPr txBox="1"/>
          <p:nvPr/>
        </p:nvSpPr>
        <p:spPr>
          <a:xfrm>
            <a:off x="932505" y="6510528"/>
            <a:ext cx="899769" cy="224942"/>
          </a:xfrm>
          <a:prstGeom prst="rect">
            <a:avLst/>
          </a:prstGeom>
          <a:noFill/>
        </p:spPr>
        <p:txBody>
          <a:bodyPr wrap="square" lIns="0" rIns="0" tIns="0" bIns="0" anchor="t">
            <a:spAutoFit/>
          </a:bodyPr>
          <a:lstStyle/>
          <a:p>
            <a:pPr algn="l">
              <a:lnSpc>
                <a:spcPct val="112000"/>
              </a:lnSpc>
              <a:spcAft>
                <a:spcPts val="0"/>
              </a:spcAft>
            </a:pPr>
            <a:r>
              <a:rPr sz="1066" b="1" i="0">
                <a:solidFill>
                  <a:srgbClr val="1F2937"/>
                </a:solidFill>
                <a:latin typeface="Arial"/>
              </a:rPr>
              <a:t>NgeTag</a:t>
            </a:r>
          </a:p>
        </p:txBody>
      </p:sp>
      <p:sp>
        <p:nvSpPr>
          <p:cNvPr id="36" name="TextBox 35"/>
          <p:cNvSpPr txBox="1"/>
          <p:nvPr/>
        </p:nvSpPr>
        <p:spPr>
          <a:xfrm>
            <a:off x="1600200" y="6556248"/>
            <a:ext cx="5486400" cy="201168"/>
          </a:xfrm>
          <a:prstGeom prst="rect">
            <a:avLst/>
          </a:prstGeom>
          <a:noFill/>
        </p:spPr>
        <p:txBody>
          <a:bodyPr wrap="square" lIns="0" rIns="0" tIns="0" bIns="0" anchor="t">
            <a:spAutoFit/>
          </a:bodyPr>
          <a:lstStyle/>
          <a:p>
            <a:pPr algn="l">
              <a:lnSpc>
                <a:spcPct val="112000"/>
              </a:lnSpc>
              <a:spcAft>
                <a:spcPts val="0"/>
              </a:spcAft>
            </a:pPr>
            <a:r>
              <a:rPr sz="850" b="0" i="0">
                <a:solidFill>
                  <a:srgbClr val="6B7280"/>
                </a:solidFill>
                <a:latin typeface="Arial"/>
              </a:rPr>
              <a:t>NgeTag · Review Repository &amp; Seed Data User</a:t>
            </a:r>
          </a:p>
        </p:txBody>
      </p:sp>
      <p:sp>
        <p:nvSpPr>
          <p:cNvPr id="37" name="TextBox 36"/>
          <p:cNvSpPr txBox="1"/>
          <p:nvPr/>
        </p:nvSpPr>
        <p:spPr>
          <a:xfrm>
            <a:off x="10607040" y="6556248"/>
            <a:ext cx="941832" cy="201168"/>
          </a:xfrm>
          <a:prstGeom prst="rect">
            <a:avLst/>
          </a:prstGeom>
          <a:noFill/>
        </p:spPr>
        <p:txBody>
          <a:bodyPr wrap="square" lIns="0" rIns="0" tIns="0" bIns="0" anchor="t">
            <a:spAutoFit/>
          </a:bodyPr>
          <a:lstStyle/>
          <a:p>
            <a:pPr algn="r">
              <a:lnSpc>
                <a:spcPct val="112000"/>
              </a:lnSpc>
              <a:spcAft>
                <a:spcPts val="0"/>
              </a:spcAft>
            </a:pPr>
            <a:r>
              <a:rPr sz="850" b="0" i="0">
                <a:solidFill>
                  <a:srgbClr val="6B7280"/>
                </a:solidFill>
                <a:latin typeface="Arial"/>
              </a:rPr>
              <a:t>04 / 22</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AFAFB"/>
        </a:solidFill>
        <a:effectLst/>
      </p:bgPr>
    </p:bg>
    <p:spTree>
      <p:nvGrpSpPr>
        <p:cNvPr id="1" name=""/>
        <p:cNvGrpSpPr/>
        <p:nvPr/>
      </p:nvGrpSpPr>
      <p:grpSpPr/>
      <p:sp>
        <p:nvSpPr>
          <p:cNvPr id="2" name="TextBox 1"/>
          <p:cNvSpPr txBox="1"/>
          <p:nvPr/>
        </p:nvSpPr>
        <p:spPr>
          <a:xfrm>
            <a:off x="640080" y="384048"/>
            <a:ext cx="9601200" cy="228600"/>
          </a:xfrm>
          <a:prstGeom prst="rect">
            <a:avLst/>
          </a:prstGeom>
          <a:noFill/>
        </p:spPr>
        <p:txBody>
          <a:bodyPr wrap="square" lIns="0" rIns="0" tIns="0" bIns="0" anchor="t">
            <a:spAutoFit/>
          </a:bodyPr>
          <a:lstStyle/>
          <a:p>
            <a:pPr algn="l">
              <a:lnSpc>
                <a:spcPct val="112000"/>
              </a:lnSpc>
              <a:spcAft>
                <a:spcPts val="0"/>
              </a:spcAft>
            </a:pPr>
            <a:r>
              <a:rPr sz="1000" b="1" i="0" spc="140">
                <a:solidFill>
                  <a:srgbClr val="FF5A5F"/>
                </a:solidFill>
                <a:latin typeface="Arial"/>
              </a:rPr>
              <a:t>01 · PRODUK &amp; KONTEKS</a:t>
            </a:r>
          </a:p>
        </p:txBody>
      </p:sp>
      <p:sp>
        <p:nvSpPr>
          <p:cNvPr id="3" name="TextBox 2"/>
          <p:cNvSpPr txBox="1"/>
          <p:nvPr/>
        </p:nvSpPr>
        <p:spPr>
          <a:xfrm>
            <a:off x="640080" y="621792"/>
            <a:ext cx="10881360" cy="566928"/>
          </a:xfrm>
          <a:prstGeom prst="rect">
            <a:avLst/>
          </a:prstGeom>
          <a:noFill/>
        </p:spPr>
        <p:txBody>
          <a:bodyPr wrap="square" lIns="0" rIns="0" tIns="0" bIns="0" anchor="t">
            <a:spAutoFit/>
          </a:bodyPr>
          <a:lstStyle/>
          <a:p>
            <a:pPr algn="l">
              <a:lnSpc>
                <a:spcPct val="112000"/>
              </a:lnSpc>
              <a:spcAft>
                <a:spcPts val="0"/>
              </a:spcAft>
            </a:pPr>
            <a:r>
              <a:rPr sz="2600" b="1" i="0">
                <a:solidFill>
                  <a:srgbClr val="1F2937"/>
                </a:solidFill>
                <a:latin typeface="Arial"/>
              </a:rPr>
              <a:t>Dari bias media sosial ke informasi terverifikasi</a:t>
            </a:r>
          </a:p>
        </p:txBody>
      </p:sp>
      <p:sp>
        <p:nvSpPr>
          <p:cNvPr id="4" name="TextBox 3"/>
          <p:cNvSpPr txBox="1"/>
          <p:nvPr/>
        </p:nvSpPr>
        <p:spPr>
          <a:xfrm>
            <a:off x="640080" y="1225296"/>
            <a:ext cx="10424160" cy="365760"/>
          </a:xfrm>
          <a:prstGeom prst="rect">
            <a:avLst/>
          </a:prstGeom>
          <a:noFill/>
        </p:spPr>
        <p:txBody>
          <a:bodyPr wrap="square" lIns="0" rIns="0" tIns="0" bIns="0" anchor="t">
            <a:spAutoFit/>
          </a:bodyPr>
          <a:lstStyle/>
          <a:p>
            <a:pPr algn="l">
              <a:lnSpc>
                <a:spcPct val="112000"/>
              </a:lnSpc>
              <a:spcAft>
                <a:spcPts val="0"/>
              </a:spcAft>
            </a:pPr>
            <a:r>
              <a:rPr sz="1250" b="0" i="0">
                <a:solidFill>
                  <a:srgbClr val="6B7280"/>
                </a:solidFill>
                <a:latin typeface="Arial"/>
              </a:rPr>
              <a:t>Ringkasan Value Proposition Canvas di docs/vpc.txt dan sejauh mana MVP memenuhinya.</a:t>
            </a:r>
          </a:p>
        </p:txBody>
      </p:sp>
      <p:sp>
        <p:nvSpPr>
          <p:cNvPr id="5" name="Rounded Rectangle 4"/>
          <p:cNvSpPr/>
          <p:nvPr/>
        </p:nvSpPr>
        <p:spPr>
          <a:xfrm>
            <a:off x="640080" y="1170432"/>
            <a:ext cx="502920" cy="32004"/>
          </a:xfrm>
          <a:prstGeom prst="roundRect">
            <a:avLst>
              <a:gd name="adj" fmla="val 0"/>
            </a:avLst>
          </a:prstGeom>
          <a:solidFill>
            <a:srgbClr val="FF5A5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 name="Rounded Rectangle 5"/>
          <p:cNvSpPr/>
          <p:nvPr/>
        </p:nvSpPr>
        <p:spPr>
          <a:xfrm>
            <a:off x="640080" y="1792224"/>
            <a:ext cx="5321808" cy="2615184"/>
          </a:xfrm>
          <a:prstGeom prst="roundRect">
            <a:avLst>
              <a:gd name="adj" fmla="val 8000"/>
            </a:avLst>
          </a:prstGeom>
          <a:solidFill>
            <a:srgbClr val="FFFFFF"/>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 name="TextBox 6"/>
          <p:cNvSpPr txBox="1"/>
          <p:nvPr/>
        </p:nvSpPr>
        <p:spPr>
          <a:xfrm>
            <a:off x="868680" y="1947672"/>
            <a:ext cx="4846320" cy="274320"/>
          </a:xfrm>
          <a:prstGeom prst="rect">
            <a:avLst/>
          </a:prstGeom>
          <a:noFill/>
        </p:spPr>
        <p:txBody>
          <a:bodyPr wrap="square" lIns="0" rIns="0" tIns="0" bIns="0" anchor="t">
            <a:spAutoFit/>
          </a:bodyPr>
          <a:lstStyle/>
          <a:p>
            <a:pPr algn="l">
              <a:lnSpc>
                <a:spcPct val="112000"/>
              </a:lnSpc>
              <a:spcAft>
                <a:spcPts val="0"/>
              </a:spcAft>
            </a:pPr>
            <a:r>
              <a:rPr sz="950" b="1" i="0" spc="120">
                <a:solidFill>
                  <a:srgbClr val="FF5A5F"/>
                </a:solidFill>
                <a:latin typeface="Arial"/>
              </a:rPr>
              <a:t>CUSTOMER PROFILE</a:t>
            </a:r>
          </a:p>
        </p:txBody>
      </p:sp>
      <p:sp>
        <p:nvSpPr>
          <p:cNvPr id="8" name="TextBox 7"/>
          <p:cNvSpPr txBox="1"/>
          <p:nvPr/>
        </p:nvSpPr>
        <p:spPr>
          <a:xfrm>
            <a:off x="868680" y="2286000"/>
            <a:ext cx="914400" cy="237744"/>
          </a:xfrm>
          <a:prstGeom prst="rect">
            <a:avLst/>
          </a:prstGeom>
          <a:noFill/>
        </p:spPr>
        <p:txBody>
          <a:bodyPr wrap="square" lIns="0" rIns="0" tIns="0" bIns="0" anchor="t">
            <a:spAutoFit/>
          </a:bodyPr>
          <a:lstStyle/>
          <a:p>
            <a:pPr algn="l">
              <a:lnSpc>
                <a:spcPct val="112000"/>
              </a:lnSpc>
              <a:spcAft>
                <a:spcPts val="0"/>
              </a:spcAft>
            </a:pPr>
            <a:r>
              <a:rPr sz="1050" b="1" i="0">
                <a:solidFill>
                  <a:srgbClr val="1F2937"/>
                </a:solidFill>
                <a:latin typeface="Arial"/>
              </a:rPr>
              <a:t>Job</a:t>
            </a:r>
          </a:p>
        </p:txBody>
      </p:sp>
      <p:sp>
        <p:nvSpPr>
          <p:cNvPr id="9" name="TextBox 8"/>
          <p:cNvSpPr txBox="1"/>
          <p:nvPr/>
        </p:nvSpPr>
        <p:spPr>
          <a:xfrm>
            <a:off x="1783080" y="2286000"/>
            <a:ext cx="3931920" cy="566928"/>
          </a:xfrm>
          <a:prstGeom prst="rect">
            <a:avLst/>
          </a:prstGeom>
          <a:noFill/>
        </p:spPr>
        <p:txBody>
          <a:bodyPr wrap="square" lIns="0" rIns="0" tIns="0" bIns="0" anchor="t">
            <a:spAutoFit/>
          </a:bodyPr>
          <a:lstStyle/>
          <a:p>
            <a:pPr algn="l">
              <a:lnSpc>
                <a:spcPct val="122000"/>
              </a:lnSpc>
              <a:spcAft>
                <a:spcPts val="0"/>
              </a:spcAft>
            </a:pPr>
            <a:r>
              <a:rPr sz="1050" b="0" i="0">
                <a:solidFill>
                  <a:srgbClr val="333D4A"/>
                </a:solidFill>
                <a:latin typeface="Arial"/>
              </a:rPr>
              <a:t>Memilih destinasi berdasarkan preferensi, jarak, waktu, dan promo terbaik.</a:t>
            </a:r>
          </a:p>
        </p:txBody>
      </p:sp>
      <p:sp>
        <p:nvSpPr>
          <p:cNvPr id="10" name="TextBox 9"/>
          <p:cNvSpPr txBox="1"/>
          <p:nvPr/>
        </p:nvSpPr>
        <p:spPr>
          <a:xfrm>
            <a:off x="868680" y="3072384"/>
            <a:ext cx="914400" cy="237744"/>
          </a:xfrm>
          <a:prstGeom prst="rect">
            <a:avLst/>
          </a:prstGeom>
          <a:noFill/>
        </p:spPr>
        <p:txBody>
          <a:bodyPr wrap="square" lIns="0" rIns="0" tIns="0" bIns="0" anchor="t">
            <a:spAutoFit/>
          </a:bodyPr>
          <a:lstStyle/>
          <a:p>
            <a:pPr algn="l">
              <a:lnSpc>
                <a:spcPct val="112000"/>
              </a:lnSpc>
              <a:spcAft>
                <a:spcPts val="0"/>
              </a:spcAft>
            </a:pPr>
            <a:r>
              <a:rPr sz="1050" b="1" i="0">
                <a:solidFill>
                  <a:srgbClr val="1F2937"/>
                </a:solidFill>
                <a:latin typeface="Arial"/>
              </a:rPr>
              <a:t>Pains</a:t>
            </a:r>
          </a:p>
        </p:txBody>
      </p:sp>
      <p:sp>
        <p:nvSpPr>
          <p:cNvPr id="11" name="TextBox 10"/>
          <p:cNvSpPr txBox="1"/>
          <p:nvPr/>
        </p:nvSpPr>
        <p:spPr>
          <a:xfrm>
            <a:off x="1783080" y="3072384"/>
            <a:ext cx="3931920" cy="566928"/>
          </a:xfrm>
          <a:prstGeom prst="rect">
            <a:avLst/>
          </a:prstGeom>
          <a:noFill/>
        </p:spPr>
        <p:txBody>
          <a:bodyPr wrap="square" lIns="0" rIns="0" tIns="0" bIns="0" anchor="t">
            <a:spAutoFit/>
          </a:bodyPr>
          <a:lstStyle/>
          <a:p>
            <a:pPr algn="l">
              <a:lnSpc>
                <a:spcPct val="122000"/>
              </a:lnSpc>
              <a:spcAft>
                <a:spcPts val="0"/>
              </a:spcAft>
            </a:pPr>
            <a:r>
              <a:rPr sz="1050" b="0" i="0">
                <a:solidFill>
                  <a:srgbClr val="333D4A"/>
                </a:solidFill>
                <a:latin typeface="Arial"/>
              </a:rPr>
              <a:t>Informasi bias di media sosial; data terpencar dan tidak ter-update.</a:t>
            </a:r>
          </a:p>
        </p:txBody>
      </p:sp>
      <p:sp>
        <p:nvSpPr>
          <p:cNvPr id="12" name="TextBox 11"/>
          <p:cNvSpPr txBox="1"/>
          <p:nvPr/>
        </p:nvSpPr>
        <p:spPr>
          <a:xfrm>
            <a:off x="868680" y="3858768"/>
            <a:ext cx="914400" cy="237744"/>
          </a:xfrm>
          <a:prstGeom prst="rect">
            <a:avLst/>
          </a:prstGeom>
          <a:noFill/>
        </p:spPr>
        <p:txBody>
          <a:bodyPr wrap="square" lIns="0" rIns="0" tIns="0" bIns="0" anchor="t">
            <a:spAutoFit/>
          </a:bodyPr>
          <a:lstStyle/>
          <a:p>
            <a:pPr algn="l">
              <a:lnSpc>
                <a:spcPct val="112000"/>
              </a:lnSpc>
              <a:spcAft>
                <a:spcPts val="0"/>
              </a:spcAft>
            </a:pPr>
            <a:r>
              <a:rPr sz="1050" b="1" i="0">
                <a:solidFill>
                  <a:srgbClr val="1F2937"/>
                </a:solidFill>
                <a:latin typeface="Arial"/>
              </a:rPr>
              <a:t>Gains</a:t>
            </a:r>
          </a:p>
        </p:txBody>
      </p:sp>
      <p:sp>
        <p:nvSpPr>
          <p:cNvPr id="13" name="TextBox 12"/>
          <p:cNvSpPr txBox="1"/>
          <p:nvPr/>
        </p:nvSpPr>
        <p:spPr>
          <a:xfrm>
            <a:off x="1783080" y="3858768"/>
            <a:ext cx="3931920" cy="566928"/>
          </a:xfrm>
          <a:prstGeom prst="rect">
            <a:avLst/>
          </a:prstGeom>
          <a:noFill/>
        </p:spPr>
        <p:txBody>
          <a:bodyPr wrap="square" lIns="0" rIns="0" tIns="0" bIns="0" anchor="t">
            <a:spAutoFit/>
          </a:bodyPr>
          <a:lstStyle/>
          <a:p>
            <a:pPr algn="l">
              <a:lnSpc>
                <a:spcPct val="122000"/>
              </a:lnSpc>
              <a:spcAft>
                <a:spcPts val="0"/>
              </a:spcAft>
            </a:pPr>
            <a:r>
              <a:rPr sz="1050" b="0" i="0">
                <a:solidFill>
                  <a:srgbClr val="333D4A"/>
                </a:solidFill>
                <a:latin typeface="Arial"/>
              </a:rPr>
              <a:t>Kepastian info operasional dan rekomendasi dari sesama penikmat.</a:t>
            </a:r>
          </a:p>
        </p:txBody>
      </p:sp>
      <p:sp>
        <p:nvSpPr>
          <p:cNvPr id="14" name="Rounded Rectangle 13"/>
          <p:cNvSpPr/>
          <p:nvPr/>
        </p:nvSpPr>
        <p:spPr>
          <a:xfrm>
            <a:off x="6236208" y="1792224"/>
            <a:ext cx="5312664" cy="2615184"/>
          </a:xfrm>
          <a:prstGeom prst="roundRect">
            <a:avLst>
              <a:gd name="adj" fmla="val 8000"/>
            </a:avLst>
          </a:prstGeom>
          <a:solidFill>
            <a:srgbClr val="FFFFFF"/>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TextBox 14"/>
          <p:cNvSpPr txBox="1"/>
          <p:nvPr/>
        </p:nvSpPr>
        <p:spPr>
          <a:xfrm>
            <a:off x="6464808" y="1947672"/>
            <a:ext cx="4846320" cy="274320"/>
          </a:xfrm>
          <a:prstGeom prst="rect">
            <a:avLst/>
          </a:prstGeom>
          <a:noFill/>
        </p:spPr>
        <p:txBody>
          <a:bodyPr wrap="square" lIns="0" rIns="0" tIns="0" bIns="0" anchor="t">
            <a:spAutoFit/>
          </a:bodyPr>
          <a:lstStyle/>
          <a:p>
            <a:pPr algn="l">
              <a:lnSpc>
                <a:spcPct val="112000"/>
              </a:lnSpc>
              <a:spcAft>
                <a:spcPts val="0"/>
              </a:spcAft>
            </a:pPr>
            <a:r>
              <a:rPr sz="950" b="1" i="0" spc="120">
                <a:solidFill>
                  <a:srgbClr val="FF5A5F"/>
                </a:solidFill>
                <a:latin typeface="Arial"/>
              </a:rPr>
              <a:t>VALUE MAP</a:t>
            </a:r>
          </a:p>
        </p:txBody>
      </p:sp>
      <p:sp>
        <p:nvSpPr>
          <p:cNvPr id="16" name="TextBox 15"/>
          <p:cNvSpPr txBox="1"/>
          <p:nvPr/>
        </p:nvSpPr>
        <p:spPr>
          <a:xfrm>
            <a:off x="6464808" y="2286000"/>
            <a:ext cx="1143000" cy="237744"/>
          </a:xfrm>
          <a:prstGeom prst="rect">
            <a:avLst/>
          </a:prstGeom>
          <a:noFill/>
        </p:spPr>
        <p:txBody>
          <a:bodyPr wrap="square" lIns="0" rIns="0" tIns="0" bIns="0" anchor="t">
            <a:spAutoFit/>
          </a:bodyPr>
          <a:lstStyle/>
          <a:p>
            <a:pPr algn="l">
              <a:lnSpc>
                <a:spcPct val="112000"/>
              </a:lnSpc>
              <a:spcAft>
                <a:spcPts val="0"/>
              </a:spcAft>
            </a:pPr>
            <a:r>
              <a:rPr sz="1050" b="1" i="0">
                <a:solidFill>
                  <a:srgbClr val="1F2937"/>
                </a:solidFill>
                <a:latin typeface="Arial"/>
              </a:rPr>
              <a:t>Produk</a:t>
            </a:r>
          </a:p>
        </p:txBody>
      </p:sp>
      <p:sp>
        <p:nvSpPr>
          <p:cNvPr id="17" name="TextBox 16"/>
          <p:cNvSpPr txBox="1"/>
          <p:nvPr/>
        </p:nvSpPr>
        <p:spPr>
          <a:xfrm>
            <a:off x="7699248" y="2286000"/>
            <a:ext cx="3657600" cy="566928"/>
          </a:xfrm>
          <a:prstGeom prst="rect">
            <a:avLst/>
          </a:prstGeom>
          <a:noFill/>
        </p:spPr>
        <p:txBody>
          <a:bodyPr wrap="square" lIns="0" rIns="0" tIns="0" bIns="0" anchor="t">
            <a:spAutoFit/>
          </a:bodyPr>
          <a:lstStyle/>
          <a:p>
            <a:pPr algn="l">
              <a:lnSpc>
                <a:spcPct val="122000"/>
              </a:lnSpc>
              <a:spcAft>
                <a:spcPts val="0"/>
              </a:spcAft>
            </a:pPr>
            <a:r>
              <a:rPr sz="1050" b="0" i="0">
                <a:solidFill>
                  <a:srgbClr val="333D4A"/>
                </a:solidFill>
                <a:latin typeface="Arial"/>
              </a:rPr>
              <a:t>Direktori terpusat spot, event, komunitas, promo berbasis tag.</a:t>
            </a:r>
          </a:p>
        </p:txBody>
      </p:sp>
      <p:sp>
        <p:nvSpPr>
          <p:cNvPr id="18" name="TextBox 17"/>
          <p:cNvSpPr txBox="1"/>
          <p:nvPr/>
        </p:nvSpPr>
        <p:spPr>
          <a:xfrm>
            <a:off x="6464808" y="3072384"/>
            <a:ext cx="1143000" cy="237744"/>
          </a:xfrm>
          <a:prstGeom prst="rect">
            <a:avLst/>
          </a:prstGeom>
          <a:noFill/>
        </p:spPr>
        <p:txBody>
          <a:bodyPr wrap="square" lIns="0" rIns="0" tIns="0" bIns="0" anchor="t">
            <a:spAutoFit/>
          </a:bodyPr>
          <a:lstStyle/>
          <a:p>
            <a:pPr algn="l">
              <a:lnSpc>
                <a:spcPct val="112000"/>
              </a:lnSpc>
              <a:spcAft>
                <a:spcPts val="0"/>
              </a:spcAft>
            </a:pPr>
            <a:r>
              <a:rPr sz="1050" b="1" i="0">
                <a:solidFill>
                  <a:srgbClr val="1F2937"/>
                </a:solidFill>
                <a:latin typeface="Arial"/>
              </a:rPr>
              <a:t>Pain reliever</a:t>
            </a:r>
          </a:p>
        </p:txBody>
      </p:sp>
      <p:sp>
        <p:nvSpPr>
          <p:cNvPr id="19" name="TextBox 18"/>
          <p:cNvSpPr txBox="1"/>
          <p:nvPr/>
        </p:nvSpPr>
        <p:spPr>
          <a:xfrm>
            <a:off x="7699248" y="3072384"/>
            <a:ext cx="3657600" cy="566928"/>
          </a:xfrm>
          <a:prstGeom prst="rect">
            <a:avLst/>
          </a:prstGeom>
          <a:noFill/>
        </p:spPr>
        <p:txBody>
          <a:bodyPr wrap="square" lIns="0" rIns="0" tIns="0" bIns="0" anchor="t">
            <a:spAutoFit/>
          </a:bodyPr>
          <a:lstStyle/>
          <a:p>
            <a:pPr algn="l">
              <a:lnSpc>
                <a:spcPct val="122000"/>
              </a:lnSpc>
              <a:spcAft>
                <a:spcPts val="0"/>
              </a:spcAft>
            </a:pPr>
            <a:r>
              <a:rPr sz="1050" b="0" i="0">
                <a:solidFill>
                  <a:srgbClr val="333D4A"/>
                </a:solidFill>
                <a:latin typeface="Arial"/>
              </a:rPr>
              <a:t>Rekomendasi dinamis sesuai tag, lokasi, dan promo aktif.</a:t>
            </a:r>
          </a:p>
        </p:txBody>
      </p:sp>
      <p:sp>
        <p:nvSpPr>
          <p:cNvPr id="20" name="TextBox 19"/>
          <p:cNvSpPr txBox="1"/>
          <p:nvPr/>
        </p:nvSpPr>
        <p:spPr>
          <a:xfrm>
            <a:off x="6464808" y="3858768"/>
            <a:ext cx="1143000" cy="237744"/>
          </a:xfrm>
          <a:prstGeom prst="rect">
            <a:avLst/>
          </a:prstGeom>
          <a:noFill/>
        </p:spPr>
        <p:txBody>
          <a:bodyPr wrap="square" lIns="0" rIns="0" tIns="0" bIns="0" anchor="t">
            <a:spAutoFit/>
          </a:bodyPr>
          <a:lstStyle/>
          <a:p>
            <a:pPr algn="l">
              <a:lnSpc>
                <a:spcPct val="112000"/>
              </a:lnSpc>
              <a:spcAft>
                <a:spcPts val="0"/>
              </a:spcAft>
            </a:pPr>
            <a:r>
              <a:rPr sz="1050" b="1" i="0">
                <a:solidFill>
                  <a:srgbClr val="1F2937"/>
                </a:solidFill>
                <a:latin typeface="Arial"/>
              </a:rPr>
              <a:t>Gain creator</a:t>
            </a:r>
          </a:p>
        </p:txBody>
      </p:sp>
      <p:sp>
        <p:nvSpPr>
          <p:cNvPr id="21" name="TextBox 20"/>
          <p:cNvSpPr txBox="1"/>
          <p:nvPr/>
        </p:nvSpPr>
        <p:spPr>
          <a:xfrm>
            <a:off x="7699248" y="3858768"/>
            <a:ext cx="3657600" cy="566928"/>
          </a:xfrm>
          <a:prstGeom prst="rect">
            <a:avLst/>
          </a:prstGeom>
          <a:noFill/>
        </p:spPr>
        <p:txBody>
          <a:bodyPr wrap="square" lIns="0" rIns="0" tIns="0" bIns="0" anchor="t">
            <a:spAutoFit/>
          </a:bodyPr>
          <a:lstStyle/>
          <a:p>
            <a:pPr algn="l">
              <a:lnSpc>
                <a:spcPct val="122000"/>
              </a:lnSpc>
              <a:spcAft>
                <a:spcPts val="0"/>
              </a:spcAft>
            </a:pPr>
            <a:r>
              <a:rPr sz="1050" b="0" i="0">
                <a:solidFill>
                  <a:srgbClr val="333D4A"/>
                </a:solidFill>
                <a:latin typeface="Arial"/>
              </a:rPr>
              <a:t>QR verified review: ulasan hanya dari yang benar-benar hadir.</a:t>
            </a:r>
          </a:p>
        </p:txBody>
      </p:sp>
      <p:sp>
        <p:nvSpPr>
          <p:cNvPr id="22" name="TextBox 21"/>
          <p:cNvSpPr txBox="1"/>
          <p:nvPr/>
        </p:nvSpPr>
        <p:spPr>
          <a:xfrm>
            <a:off x="640080" y="4590288"/>
            <a:ext cx="5486400" cy="237744"/>
          </a:xfrm>
          <a:prstGeom prst="rect">
            <a:avLst/>
          </a:prstGeom>
          <a:noFill/>
        </p:spPr>
        <p:txBody>
          <a:bodyPr wrap="square" lIns="0" rIns="0" tIns="0" bIns="0" anchor="t">
            <a:spAutoFit/>
          </a:bodyPr>
          <a:lstStyle/>
          <a:p>
            <a:pPr algn="l">
              <a:lnSpc>
                <a:spcPct val="112000"/>
              </a:lnSpc>
              <a:spcAft>
                <a:spcPts val="0"/>
              </a:spcAft>
            </a:pPr>
            <a:r>
              <a:rPr sz="950" b="1" i="0" spc="120">
                <a:solidFill>
                  <a:srgbClr val="6B7280"/>
                </a:solidFill>
                <a:latin typeface="Arial"/>
              </a:rPr>
              <a:t>STATUS DI MVP</a:t>
            </a:r>
          </a:p>
        </p:txBody>
      </p:sp>
      <p:sp>
        <p:nvSpPr>
          <p:cNvPr id="23" name="Rounded Rectangle 22"/>
          <p:cNvSpPr/>
          <p:nvPr/>
        </p:nvSpPr>
        <p:spPr>
          <a:xfrm>
            <a:off x="640080" y="4882896"/>
            <a:ext cx="2331720" cy="384048"/>
          </a:xfrm>
          <a:prstGeom prst="roundRect">
            <a:avLst>
              <a:gd name="adj" fmla="val 50000"/>
            </a:avLst>
          </a:prstGeom>
          <a:solidFill>
            <a:srgbClr val="E8F6E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50" b="1">
                <a:solidFill>
                  <a:srgbClr val="1F9D6B"/>
                </a:solidFill>
                <a:latin typeface="Arial"/>
              </a:rPr>
              <a:t>Terpenuhi · verified review</a:t>
            </a:r>
          </a:p>
        </p:txBody>
      </p:sp>
      <p:sp>
        <p:nvSpPr>
          <p:cNvPr id="24" name="Rounded Rectangle 23"/>
          <p:cNvSpPr/>
          <p:nvPr/>
        </p:nvSpPr>
        <p:spPr>
          <a:xfrm>
            <a:off x="3127248" y="4882896"/>
            <a:ext cx="2514600" cy="384048"/>
          </a:xfrm>
          <a:prstGeom prst="roundRect">
            <a:avLst>
              <a:gd name="adj" fmla="val 50000"/>
            </a:avLst>
          </a:prstGeom>
          <a:solidFill>
            <a:srgbClr val="FFF5D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50" b="1">
                <a:solidFill>
                  <a:srgbClr val="8A5B00"/>
                </a:solidFill>
                <a:latin typeface="Arial"/>
              </a:rPr>
              <a:t>Sebagian · tag &amp; lokasi</a:t>
            </a:r>
          </a:p>
        </p:txBody>
      </p:sp>
      <p:sp>
        <p:nvSpPr>
          <p:cNvPr id="25" name="Rounded Rectangle 24"/>
          <p:cNvSpPr/>
          <p:nvPr/>
        </p:nvSpPr>
        <p:spPr>
          <a:xfrm>
            <a:off x="5797296" y="4882896"/>
            <a:ext cx="2148840" cy="384048"/>
          </a:xfrm>
          <a:prstGeom prst="roundRect">
            <a:avLst>
              <a:gd name="adj" fmla="val 50000"/>
            </a:avLst>
          </a:prstGeom>
          <a:solidFill>
            <a:srgbClr val="FFECE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50" b="1">
                <a:solidFill>
                  <a:srgbClr val="D93F45"/>
                </a:solidFill>
                <a:latin typeface="Arial"/>
              </a:rPr>
              <a:t>Ditunda · points</a:t>
            </a:r>
          </a:p>
        </p:txBody>
      </p:sp>
      <p:sp>
        <p:nvSpPr>
          <p:cNvPr id="26" name="Rounded Rectangle 25"/>
          <p:cNvSpPr/>
          <p:nvPr/>
        </p:nvSpPr>
        <p:spPr>
          <a:xfrm>
            <a:off x="8101583" y="4882896"/>
            <a:ext cx="3447288" cy="384048"/>
          </a:xfrm>
          <a:prstGeom prst="roundRect">
            <a:avLst>
              <a:gd name="adj" fmla="val 50000"/>
            </a:avLst>
          </a:prstGeom>
          <a:solidFill>
            <a:srgbClr val="FFECE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50" b="1">
                <a:solidFill>
                  <a:srgbClr val="D93F45"/>
                </a:solidFill>
                <a:latin typeface="Arial"/>
              </a:rPr>
              <a:t>Ditunda · geolocation &amp; buka sekarang</a:t>
            </a:r>
          </a:p>
        </p:txBody>
      </p:sp>
      <p:sp>
        <p:nvSpPr>
          <p:cNvPr id="27" name="TextBox 26"/>
          <p:cNvSpPr txBox="1"/>
          <p:nvPr/>
        </p:nvSpPr>
        <p:spPr>
          <a:xfrm>
            <a:off x="640080" y="5504688"/>
            <a:ext cx="5074920" cy="731520"/>
          </a:xfrm>
          <a:prstGeom prst="rect">
            <a:avLst/>
          </a:prstGeom>
          <a:noFill/>
        </p:spPr>
        <p:txBody>
          <a:bodyPr wrap="square" lIns="0" rIns="0" tIns="0" bIns="0" anchor="t">
            <a:spAutoFit/>
          </a:bodyPr>
          <a:lstStyle/>
          <a:p>
            <a:pPr algn="l">
              <a:lnSpc>
                <a:spcPct val="125000"/>
              </a:lnSpc>
              <a:spcAft>
                <a:spcPts val="0"/>
              </a:spcAft>
            </a:pPr>
            <a:r>
              <a:rPr sz="950" b="0" i="0">
                <a:solidFill>
                  <a:srgbClr val="333D4A"/>
                </a:solidFill>
                <a:latin typeface="Arial"/>
              </a:rPr>
              <a:t>Bukti di kode: gate ulasan memakai QR_REVIEW_ACCESS_TTL_MS (10 menit) di src/lib/constants.ts, dan ulasan baru otomatis mencatat SpotVisit.</a:t>
            </a:r>
          </a:p>
        </p:txBody>
      </p:sp>
      <p:sp>
        <p:nvSpPr>
          <p:cNvPr id="28" name="TextBox 27"/>
          <p:cNvSpPr txBox="1"/>
          <p:nvPr/>
        </p:nvSpPr>
        <p:spPr>
          <a:xfrm>
            <a:off x="6172200" y="5504688"/>
            <a:ext cx="5376672" cy="731520"/>
          </a:xfrm>
          <a:prstGeom prst="rect">
            <a:avLst/>
          </a:prstGeom>
          <a:noFill/>
        </p:spPr>
        <p:txBody>
          <a:bodyPr wrap="square" lIns="0" rIns="0" tIns="0" bIns="0" anchor="t">
            <a:spAutoFit/>
          </a:bodyPr>
          <a:lstStyle/>
          <a:p>
            <a:pPr algn="l">
              <a:lnSpc>
                <a:spcPct val="125000"/>
              </a:lnSpc>
              <a:spcAft>
                <a:spcPts val="0"/>
              </a:spcAft>
            </a:pPr>
            <a:r>
              <a:rPr sz="950" b="0" i="0">
                <a:solidFill>
                  <a:srgbClr val="333D4A"/>
                </a:solidFill>
                <a:latin typeface="Arial"/>
              </a:rPr>
              <a:t>Points sudah ada kolomnya di database, tetapi belum dipakai UI. Filter buka-sekarang dan geolocation masuk roadmap pasca-MVP.</a:t>
            </a:r>
          </a:p>
        </p:txBody>
      </p:sp>
      <p:sp>
        <p:nvSpPr>
          <p:cNvPr id="29" name="Rounded Rectangle 28"/>
          <p:cNvSpPr/>
          <p:nvPr/>
        </p:nvSpPr>
        <p:spPr>
          <a:xfrm>
            <a:off x="640080" y="6419088"/>
            <a:ext cx="10908792" cy="7315"/>
          </a:xfrm>
          <a:prstGeom prst="roundRect">
            <a:avLst>
              <a:gd name="adj" fmla="val 0"/>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0" name="Rounded Rectangle 29"/>
          <p:cNvSpPr/>
          <p:nvPr/>
        </p:nvSpPr>
        <p:spPr>
          <a:xfrm>
            <a:off x="640080" y="6537960"/>
            <a:ext cx="224942" cy="224942"/>
          </a:xfrm>
          <a:prstGeom prst="roundRect">
            <a:avLst>
              <a:gd name="adj" fmla="val 22000"/>
            </a:avLst>
          </a:prstGeom>
          <a:solidFill>
            <a:srgbClr val="FF5A5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1" name="TextBox 30"/>
          <p:cNvSpPr txBox="1"/>
          <p:nvPr/>
        </p:nvSpPr>
        <p:spPr>
          <a:xfrm>
            <a:off x="640080" y="6526987"/>
            <a:ext cx="224942" cy="224942"/>
          </a:xfrm>
          <a:prstGeom prst="rect">
            <a:avLst/>
          </a:prstGeom>
          <a:noFill/>
        </p:spPr>
        <p:txBody>
          <a:bodyPr wrap="square" lIns="0" rIns="0" tIns="0" bIns="0" anchor="ctr">
            <a:spAutoFit/>
          </a:bodyPr>
          <a:lstStyle/>
          <a:p>
            <a:pPr algn="ctr">
              <a:lnSpc>
                <a:spcPct val="112000"/>
              </a:lnSpc>
              <a:spcAft>
                <a:spcPts val="0"/>
              </a:spcAft>
            </a:pPr>
            <a:r>
              <a:rPr sz="1066" b="1" i="0">
                <a:solidFill>
                  <a:srgbClr val="FFFFFF"/>
                </a:solidFill>
                <a:latin typeface="Arial"/>
              </a:rPr>
              <a:t>n</a:t>
            </a:r>
          </a:p>
        </p:txBody>
      </p:sp>
      <p:sp>
        <p:nvSpPr>
          <p:cNvPr id="32" name="TextBox 31"/>
          <p:cNvSpPr txBox="1"/>
          <p:nvPr/>
        </p:nvSpPr>
        <p:spPr>
          <a:xfrm>
            <a:off x="932505" y="6510528"/>
            <a:ext cx="899769" cy="224942"/>
          </a:xfrm>
          <a:prstGeom prst="rect">
            <a:avLst/>
          </a:prstGeom>
          <a:noFill/>
        </p:spPr>
        <p:txBody>
          <a:bodyPr wrap="square" lIns="0" rIns="0" tIns="0" bIns="0" anchor="t">
            <a:spAutoFit/>
          </a:bodyPr>
          <a:lstStyle/>
          <a:p>
            <a:pPr algn="l">
              <a:lnSpc>
                <a:spcPct val="112000"/>
              </a:lnSpc>
              <a:spcAft>
                <a:spcPts val="0"/>
              </a:spcAft>
            </a:pPr>
            <a:r>
              <a:rPr sz="1066" b="1" i="0">
                <a:solidFill>
                  <a:srgbClr val="1F2937"/>
                </a:solidFill>
                <a:latin typeface="Arial"/>
              </a:rPr>
              <a:t>NgeTag</a:t>
            </a:r>
          </a:p>
        </p:txBody>
      </p:sp>
      <p:sp>
        <p:nvSpPr>
          <p:cNvPr id="33" name="TextBox 32"/>
          <p:cNvSpPr txBox="1"/>
          <p:nvPr/>
        </p:nvSpPr>
        <p:spPr>
          <a:xfrm>
            <a:off x="1600200" y="6556248"/>
            <a:ext cx="5486400" cy="201168"/>
          </a:xfrm>
          <a:prstGeom prst="rect">
            <a:avLst/>
          </a:prstGeom>
          <a:noFill/>
        </p:spPr>
        <p:txBody>
          <a:bodyPr wrap="square" lIns="0" rIns="0" tIns="0" bIns="0" anchor="t">
            <a:spAutoFit/>
          </a:bodyPr>
          <a:lstStyle/>
          <a:p>
            <a:pPr algn="l">
              <a:lnSpc>
                <a:spcPct val="112000"/>
              </a:lnSpc>
              <a:spcAft>
                <a:spcPts val="0"/>
              </a:spcAft>
            </a:pPr>
            <a:r>
              <a:rPr sz="850" b="0" i="0">
                <a:solidFill>
                  <a:srgbClr val="6B7280"/>
                </a:solidFill>
                <a:latin typeface="Arial"/>
              </a:rPr>
              <a:t>NgeTag · Review Repository &amp; Seed Data User</a:t>
            </a:r>
          </a:p>
        </p:txBody>
      </p:sp>
      <p:sp>
        <p:nvSpPr>
          <p:cNvPr id="34" name="TextBox 33"/>
          <p:cNvSpPr txBox="1"/>
          <p:nvPr/>
        </p:nvSpPr>
        <p:spPr>
          <a:xfrm>
            <a:off x="10607040" y="6556248"/>
            <a:ext cx="941832" cy="201168"/>
          </a:xfrm>
          <a:prstGeom prst="rect">
            <a:avLst/>
          </a:prstGeom>
          <a:noFill/>
        </p:spPr>
        <p:txBody>
          <a:bodyPr wrap="square" lIns="0" rIns="0" tIns="0" bIns="0" anchor="t">
            <a:spAutoFit/>
          </a:bodyPr>
          <a:lstStyle/>
          <a:p>
            <a:pPr algn="r">
              <a:lnSpc>
                <a:spcPct val="112000"/>
              </a:lnSpc>
              <a:spcAft>
                <a:spcPts val="0"/>
              </a:spcAft>
            </a:pPr>
            <a:r>
              <a:rPr sz="850" b="0" i="0">
                <a:solidFill>
                  <a:srgbClr val="6B7280"/>
                </a:solidFill>
                <a:latin typeface="Arial"/>
              </a:rPr>
              <a:t>05 / 22</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AFAFB"/>
        </a:solidFill>
        <a:effectLst/>
      </p:bgPr>
    </p:bg>
    <p:spTree>
      <p:nvGrpSpPr>
        <p:cNvPr id="1" name=""/>
        <p:cNvGrpSpPr/>
        <p:nvPr/>
      </p:nvGrpSpPr>
      <p:grpSpPr/>
      <p:sp>
        <p:nvSpPr>
          <p:cNvPr id="2" name="TextBox 1"/>
          <p:cNvSpPr txBox="1"/>
          <p:nvPr/>
        </p:nvSpPr>
        <p:spPr>
          <a:xfrm>
            <a:off x="640080" y="384048"/>
            <a:ext cx="9601200" cy="228600"/>
          </a:xfrm>
          <a:prstGeom prst="rect">
            <a:avLst/>
          </a:prstGeom>
          <a:noFill/>
        </p:spPr>
        <p:txBody>
          <a:bodyPr wrap="square" lIns="0" rIns="0" tIns="0" bIns="0" anchor="t">
            <a:spAutoFit/>
          </a:bodyPr>
          <a:lstStyle/>
          <a:p>
            <a:pPr algn="l">
              <a:lnSpc>
                <a:spcPct val="112000"/>
              </a:lnSpc>
              <a:spcAft>
                <a:spcPts val="0"/>
              </a:spcAft>
            </a:pPr>
            <a:r>
              <a:rPr sz="1000" b="1" i="0" spc="140">
                <a:solidFill>
                  <a:srgbClr val="FF5A5F"/>
                </a:solidFill>
                <a:latin typeface="Arial"/>
              </a:rPr>
              <a:t>01 · PRODUK &amp; KONTEKS</a:t>
            </a:r>
          </a:p>
        </p:txBody>
      </p:sp>
      <p:sp>
        <p:nvSpPr>
          <p:cNvPr id="3" name="TextBox 2"/>
          <p:cNvSpPr txBox="1"/>
          <p:nvPr/>
        </p:nvSpPr>
        <p:spPr>
          <a:xfrm>
            <a:off x="640080" y="621792"/>
            <a:ext cx="10881360" cy="566928"/>
          </a:xfrm>
          <a:prstGeom prst="rect">
            <a:avLst/>
          </a:prstGeom>
          <a:noFill/>
        </p:spPr>
        <p:txBody>
          <a:bodyPr wrap="square" lIns="0" rIns="0" tIns="0" bIns="0" anchor="t">
            <a:spAutoFit/>
          </a:bodyPr>
          <a:lstStyle/>
          <a:p>
            <a:pPr algn="l">
              <a:lnSpc>
                <a:spcPct val="112000"/>
              </a:lnSpc>
              <a:spcAft>
                <a:spcPts val="0"/>
              </a:spcAft>
            </a:pPr>
            <a:r>
              <a:rPr sz="2600" b="1" i="0">
                <a:solidFill>
                  <a:srgbClr val="1F2937"/>
                </a:solidFill>
                <a:latin typeface="Arial"/>
              </a:rPr>
              <a:t>20 halaman, dibagi tiga lapis prioritas</a:t>
            </a:r>
          </a:p>
        </p:txBody>
      </p:sp>
      <p:sp>
        <p:nvSpPr>
          <p:cNvPr id="4" name="TextBox 3"/>
          <p:cNvSpPr txBox="1"/>
          <p:nvPr/>
        </p:nvSpPr>
        <p:spPr>
          <a:xfrm>
            <a:off x="640080" y="1225296"/>
            <a:ext cx="10424160" cy="365760"/>
          </a:xfrm>
          <a:prstGeom prst="rect">
            <a:avLst/>
          </a:prstGeom>
          <a:noFill/>
        </p:spPr>
        <p:txBody>
          <a:bodyPr wrap="square" lIns="0" rIns="0" tIns="0" bIns="0" anchor="t">
            <a:spAutoFit/>
          </a:bodyPr>
          <a:lstStyle/>
          <a:p>
            <a:pPr algn="l">
              <a:lnSpc>
                <a:spcPct val="112000"/>
              </a:lnSpc>
              <a:spcAft>
                <a:spcPts val="0"/>
              </a:spcAft>
            </a:pPr>
            <a:r>
              <a:rPr sz="1250" b="0" i="0">
                <a:solidFill>
                  <a:srgbClr val="6B7280"/>
                </a:solidFill>
                <a:latin typeface="Arial"/>
              </a:rPr>
              <a:t>P0 untuk demo flow, P1 untuk polish, plus modul discovery yang sudah aktif di navigasi.</a:t>
            </a:r>
          </a:p>
        </p:txBody>
      </p:sp>
      <p:sp>
        <p:nvSpPr>
          <p:cNvPr id="5" name="Rounded Rectangle 4"/>
          <p:cNvSpPr/>
          <p:nvPr/>
        </p:nvSpPr>
        <p:spPr>
          <a:xfrm>
            <a:off x="640080" y="1170432"/>
            <a:ext cx="502920" cy="32004"/>
          </a:xfrm>
          <a:prstGeom prst="roundRect">
            <a:avLst>
              <a:gd name="adj" fmla="val 0"/>
            </a:avLst>
          </a:prstGeom>
          <a:solidFill>
            <a:srgbClr val="FF5A5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 name="Rounded Rectangle 5"/>
          <p:cNvSpPr/>
          <p:nvPr/>
        </p:nvSpPr>
        <p:spPr>
          <a:xfrm>
            <a:off x="640080" y="1792224"/>
            <a:ext cx="3456432" cy="3035808"/>
          </a:xfrm>
          <a:prstGeom prst="roundRect">
            <a:avLst>
              <a:gd name="adj" fmla="val 8000"/>
            </a:avLst>
          </a:prstGeom>
          <a:solidFill>
            <a:srgbClr val="FFFFFF"/>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 name="Rounded Rectangle 6"/>
          <p:cNvSpPr/>
          <p:nvPr/>
        </p:nvSpPr>
        <p:spPr>
          <a:xfrm>
            <a:off x="640080" y="1792224"/>
            <a:ext cx="3456432" cy="64008"/>
          </a:xfrm>
          <a:prstGeom prst="roundRect">
            <a:avLst>
              <a:gd name="adj" fmla="val 0"/>
            </a:avLst>
          </a:prstGeom>
          <a:solidFill>
            <a:srgbClr val="FF5A5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TextBox 7"/>
          <p:cNvSpPr txBox="1"/>
          <p:nvPr/>
        </p:nvSpPr>
        <p:spPr>
          <a:xfrm>
            <a:off x="868680" y="1993392"/>
            <a:ext cx="2194560" cy="237744"/>
          </a:xfrm>
          <a:prstGeom prst="rect">
            <a:avLst/>
          </a:prstGeom>
          <a:noFill/>
        </p:spPr>
        <p:txBody>
          <a:bodyPr wrap="square" lIns="0" rIns="0" tIns="0" bIns="0" anchor="t">
            <a:spAutoFit/>
          </a:bodyPr>
          <a:lstStyle/>
          <a:p>
            <a:pPr algn="l">
              <a:lnSpc>
                <a:spcPct val="112000"/>
              </a:lnSpc>
              <a:spcAft>
                <a:spcPts val="0"/>
              </a:spcAft>
            </a:pPr>
            <a:r>
              <a:rPr sz="950" b="1" i="0" spc="100">
                <a:solidFill>
                  <a:srgbClr val="FF5A5F"/>
                </a:solidFill>
                <a:latin typeface="Arial"/>
              </a:rPr>
              <a:t>P0 · DEMO FLOW</a:t>
            </a:r>
          </a:p>
        </p:txBody>
      </p:sp>
      <p:sp>
        <p:nvSpPr>
          <p:cNvPr id="9" name="TextBox 8"/>
          <p:cNvSpPr txBox="1"/>
          <p:nvPr/>
        </p:nvSpPr>
        <p:spPr>
          <a:xfrm>
            <a:off x="868680" y="2240280"/>
            <a:ext cx="1828800" cy="274320"/>
          </a:xfrm>
          <a:prstGeom prst="rect">
            <a:avLst/>
          </a:prstGeom>
          <a:noFill/>
        </p:spPr>
        <p:txBody>
          <a:bodyPr wrap="square" lIns="0" rIns="0" tIns="0" bIns="0" anchor="t">
            <a:spAutoFit/>
          </a:bodyPr>
          <a:lstStyle/>
          <a:p>
            <a:pPr algn="l">
              <a:lnSpc>
                <a:spcPct val="112000"/>
              </a:lnSpc>
              <a:spcAft>
                <a:spcPts val="0"/>
              </a:spcAft>
            </a:pPr>
            <a:r>
              <a:rPr sz="1500" b="1" i="0">
                <a:solidFill>
                  <a:srgbClr val="1F2937"/>
                </a:solidFill>
                <a:latin typeface="Arial"/>
              </a:rPr>
              <a:t>7 halaman</a:t>
            </a:r>
          </a:p>
        </p:txBody>
      </p:sp>
      <p:sp>
        <p:nvSpPr>
          <p:cNvPr id="10" name="TextBox 9"/>
          <p:cNvSpPr txBox="1"/>
          <p:nvPr/>
        </p:nvSpPr>
        <p:spPr>
          <a:xfrm>
            <a:off x="868680" y="2679192"/>
            <a:ext cx="3017520" cy="2057400"/>
          </a:xfrm>
          <a:prstGeom prst="rect">
            <a:avLst/>
          </a:prstGeom>
          <a:noFill/>
        </p:spPr>
        <p:txBody>
          <a:bodyPr wrap="square" lIns="0" rIns="0" tIns="0" bIns="0">
            <a:spAutoFit/>
          </a:bodyPr>
          <a:lstStyle/>
          <a:p>
            <a:pPr marL="201168" indent="-201168">
              <a:lnSpc>
                <a:spcPct val="112000"/>
              </a:lnSpc>
              <a:spcAft>
                <a:spcPts val="700"/>
              </a:spcAft>
              <a:buClr>
                <a:srgbClr val="FF5A5F"/>
              </a:buClr>
              <a:buFont typeface="Arial"/>
              <a:buChar char="•"/>
            </a:pPr>
            <a:r>
              <a:rPr sz="1050" b="0">
                <a:solidFill>
                  <a:srgbClr val="333D4A"/>
                </a:solidFill>
                <a:latin typeface="Arial"/>
              </a:rPr>
              <a:t>Home — trending tag, rekomendasi</a:t>
            </a:r>
          </a:p>
          <a:p>
            <a:pPr marL="201168" indent="-201168">
              <a:lnSpc>
                <a:spcPct val="112000"/>
              </a:lnSpc>
              <a:spcAft>
                <a:spcPts val="700"/>
              </a:spcAft>
              <a:buClr>
                <a:srgbClr val="FF5A5F"/>
              </a:buClr>
              <a:buFont typeface="Arial"/>
              <a:buChar char="•"/>
            </a:pPr>
            <a:r>
              <a:rPr sz="1050" b="0">
                <a:solidFill>
                  <a:srgbClr val="333D4A"/>
                </a:solidFill>
                <a:latin typeface="Arial"/>
              </a:rPr>
              <a:t>Search — filter tag &amp; sort</a:t>
            </a:r>
          </a:p>
          <a:p>
            <a:pPr marL="201168" indent="-201168">
              <a:lnSpc>
                <a:spcPct val="112000"/>
              </a:lnSpc>
              <a:spcAft>
                <a:spcPts val="700"/>
              </a:spcAft>
              <a:buClr>
                <a:srgbClr val="FF5A5F"/>
              </a:buClr>
              <a:buFont typeface="Arial"/>
              <a:buChar char="•"/>
            </a:pPr>
            <a:r>
              <a:rPr sz="1050" b="0">
                <a:solidFill>
                  <a:srgbClr val="333D4A"/>
                </a:solidFill>
                <a:latin typeface="Arial"/>
              </a:rPr>
              <a:t>Spot detail — galeri, jam, promo</a:t>
            </a:r>
          </a:p>
          <a:p>
            <a:pPr marL="201168" indent="-201168">
              <a:lnSpc>
                <a:spcPct val="112000"/>
              </a:lnSpc>
              <a:spcAft>
                <a:spcPts val="700"/>
              </a:spcAft>
              <a:buClr>
                <a:srgbClr val="FF5A5F"/>
              </a:buClr>
              <a:buFont typeface="Arial"/>
              <a:buChar char="•"/>
            </a:pPr>
            <a:r>
              <a:rPr sz="1050" b="0">
                <a:solidFill>
                  <a:srgbClr val="333D4A"/>
                </a:solidFill>
                <a:latin typeface="Arial"/>
              </a:rPr>
              <a:t>Event detail — banner &amp; organizer</a:t>
            </a:r>
          </a:p>
          <a:p>
            <a:pPr marL="201168" indent="-201168">
              <a:lnSpc>
                <a:spcPct val="112000"/>
              </a:lnSpc>
              <a:spcAft>
                <a:spcPts val="700"/>
              </a:spcAft>
              <a:buClr>
                <a:srgbClr val="FF5A5F"/>
              </a:buClr>
              <a:buFont typeface="Arial"/>
              <a:buChar char="•"/>
            </a:pPr>
            <a:r>
              <a:rPr sz="1050" b="0">
                <a:solidFill>
                  <a:srgbClr val="333D4A"/>
                </a:solidFill>
                <a:latin typeface="Arial"/>
              </a:rPr>
              <a:t>Bookmarks — tab spot &amp; event</a:t>
            </a:r>
          </a:p>
          <a:p>
            <a:pPr marL="201168" indent="-201168">
              <a:lnSpc>
                <a:spcPct val="112000"/>
              </a:lnSpc>
              <a:spcAft>
                <a:spcPts val="700"/>
              </a:spcAft>
              <a:buClr>
                <a:srgbClr val="FF5A5F"/>
              </a:buClr>
              <a:buFont typeface="Arial"/>
              <a:buChar char="•"/>
            </a:pPr>
            <a:r>
              <a:rPr sz="1050" b="0">
                <a:solidFill>
                  <a:srgbClr val="333D4A"/>
                </a:solidFill>
                <a:latin typeface="Arial"/>
              </a:rPr>
              <a:t>Profil — statistik &amp; reset demo</a:t>
            </a:r>
          </a:p>
          <a:p>
            <a:pPr marL="201168" indent="-201168">
              <a:lnSpc>
                <a:spcPct val="112000"/>
              </a:lnSpc>
              <a:spcAft>
                <a:spcPts val="700"/>
              </a:spcAft>
              <a:buClr>
                <a:srgbClr val="FF5A5F"/>
              </a:buClr>
              <a:buFont typeface="Arial"/>
              <a:buChar char="•"/>
            </a:pPr>
            <a:r>
              <a:rPr sz="1050" b="0">
                <a:solidFill>
                  <a:srgbClr val="333D4A"/>
                </a:solidFill>
                <a:latin typeface="Arial"/>
              </a:rPr>
              <a:t>Tulis ulasan — rating &amp; komentar</a:t>
            </a:r>
          </a:p>
        </p:txBody>
      </p:sp>
      <p:sp>
        <p:nvSpPr>
          <p:cNvPr id="11" name="Rounded Rectangle 10"/>
          <p:cNvSpPr/>
          <p:nvPr/>
        </p:nvSpPr>
        <p:spPr>
          <a:xfrm>
            <a:off x="4361688" y="1792224"/>
            <a:ext cx="3456432" cy="3035808"/>
          </a:xfrm>
          <a:prstGeom prst="roundRect">
            <a:avLst>
              <a:gd name="adj" fmla="val 8000"/>
            </a:avLst>
          </a:prstGeom>
          <a:solidFill>
            <a:srgbClr val="FFFFFF"/>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Rounded Rectangle 11"/>
          <p:cNvSpPr/>
          <p:nvPr/>
        </p:nvSpPr>
        <p:spPr>
          <a:xfrm>
            <a:off x="4361688" y="1792224"/>
            <a:ext cx="3456432" cy="64008"/>
          </a:xfrm>
          <a:prstGeom prst="roundRect">
            <a:avLst>
              <a:gd name="adj" fmla="val 0"/>
            </a:avLst>
          </a:prstGeom>
          <a:solidFill>
            <a:srgbClr val="FFB4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TextBox 12"/>
          <p:cNvSpPr txBox="1"/>
          <p:nvPr/>
        </p:nvSpPr>
        <p:spPr>
          <a:xfrm>
            <a:off x="4590288" y="1993392"/>
            <a:ext cx="2194560" cy="237744"/>
          </a:xfrm>
          <a:prstGeom prst="rect">
            <a:avLst/>
          </a:prstGeom>
          <a:noFill/>
        </p:spPr>
        <p:txBody>
          <a:bodyPr wrap="square" lIns="0" rIns="0" tIns="0" bIns="0" anchor="t">
            <a:spAutoFit/>
          </a:bodyPr>
          <a:lstStyle/>
          <a:p>
            <a:pPr algn="l">
              <a:lnSpc>
                <a:spcPct val="112000"/>
              </a:lnSpc>
              <a:spcAft>
                <a:spcPts val="0"/>
              </a:spcAft>
            </a:pPr>
            <a:r>
              <a:rPr sz="950" b="1" i="0" spc="100">
                <a:solidFill>
                  <a:srgbClr val="FFB400"/>
                </a:solidFill>
                <a:latin typeface="Arial"/>
              </a:rPr>
              <a:t>P1 · POLISH</a:t>
            </a:r>
          </a:p>
        </p:txBody>
      </p:sp>
      <p:sp>
        <p:nvSpPr>
          <p:cNvPr id="14" name="TextBox 13"/>
          <p:cNvSpPr txBox="1"/>
          <p:nvPr/>
        </p:nvSpPr>
        <p:spPr>
          <a:xfrm>
            <a:off x="4590288" y="2240280"/>
            <a:ext cx="1828800" cy="274320"/>
          </a:xfrm>
          <a:prstGeom prst="rect">
            <a:avLst/>
          </a:prstGeom>
          <a:noFill/>
        </p:spPr>
        <p:txBody>
          <a:bodyPr wrap="square" lIns="0" rIns="0" tIns="0" bIns="0" anchor="t">
            <a:spAutoFit/>
          </a:bodyPr>
          <a:lstStyle/>
          <a:p>
            <a:pPr algn="l">
              <a:lnSpc>
                <a:spcPct val="112000"/>
              </a:lnSpc>
              <a:spcAft>
                <a:spcPts val="0"/>
              </a:spcAft>
            </a:pPr>
            <a:r>
              <a:rPr sz="1500" b="1" i="0">
                <a:solidFill>
                  <a:srgbClr val="1F2937"/>
                </a:solidFill>
                <a:latin typeface="Arial"/>
              </a:rPr>
              <a:t>4 halaman</a:t>
            </a:r>
          </a:p>
        </p:txBody>
      </p:sp>
      <p:sp>
        <p:nvSpPr>
          <p:cNvPr id="15" name="TextBox 14"/>
          <p:cNvSpPr txBox="1"/>
          <p:nvPr/>
        </p:nvSpPr>
        <p:spPr>
          <a:xfrm>
            <a:off x="4590288" y="2679192"/>
            <a:ext cx="3017520" cy="2057400"/>
          </a:xfrm>
          <a:prstGeom prst="rect">
            <a:avLst/>
          </a:prstGeom>
          <a:noFill/>
        </p:spPr>
        <p:txBody>
          <a:bodyPr wrap="square" lIns="0" rIns="0" tIns="0" bIns="0">
            <a:spAutoFit/>
          </a:bodyPr>
          <a:lstStyle/>
          <a:p>
            <a:pPr marL="201168" indent="-201168">
              <a:lnSpc>
                <a:spcPct val="112000"/>
              </a:lnSpc>
              <a:spcAft>
                <a:spcPts val="700"/>
              </a:spcAft>
              <a:buClr>
                <a:srgbClr val="FF5A5F"/>
              </a:buClr>
              <a:buFont typeface="Arial"/>
              <a:buChar char="•"/>
            </a:pPr>
            <a:r>
              <a:rPr sz="1050" b="0">
                <a:solidFill>
                  <a:srgbClr val="333D4A"/>
                </a:solidFill>
                <a:latin typeface="Arial"/>
              </a:rPr>
              <a:t>Ulasan saya — edit &amp; hapus</a:t>
            </a:r>
          </a:p>
          <a:p>
            <a:pPr marL="201168" indent="-201168">
              <a:lnSpc>
                <a:spcPct val="112000"/>
              </a:lnSpc>
              <a:spcAft>
                <a:spcPts val="700"/>
              </a:spcAft>
              <a:buClr>
                <a:srgbClr val="FF5A5F"/>
              </a:buClr>
              <a:buFont typeface="Arial"/>
              <a:buChar char="•"/>
            </a:pPr>
            <a:r>
              <a:rPr sz="1050" b="0">
                <a:solidFill>
                  <a:srgbClr val="333D4A"/>
                </a:solidFill>
                <a:latin typeface="Arial"/>
              </a:rPr>
              <a:t>Tag landing — spot &amp; event per tag</a:t>
            </a:r>
          </a:p>
          <a:p>
            <a:pPr marL="201168" indent="-201168">
              <a:lnSpc>
                <a:spcPct val="112000"/>
              </a:lnSpc>
              <a:spcAft>
                <a:spcPts val="700"/>
              </a:spcAft>
              <a:buClr>
                <a:srgbClr val="FF5A5F"/>
              </a:buClr>
              <a:buFont typeface="Arial"/>
              <a:buChar char="•"/>
            </a:pPr>
            <a:r>
              <a:rPr sz="1050" b="0">
                <a:solidFill>
                  <a:srgbClr val="333D4A"/>
                </a:solidFill>
                <a:latin typeface="Arial"/>
              </a:rPr>
              <a:t>Promo — seluruh promo aktif</a:t>
            </a:r>
          </a:p>
          <a:p>
            <a:pPr marL="201168" indent="-201168">
              <a:lnSpc>
                <a:spcPct val="112000"/>
              </a:lnSpc>
              <a:spcAft>
                <a:spcPts val="700"/>
              </a:spcAft>
              <a:buClr>
                <a:srgbClr val="FF5A5F"/>
              </a:buClr>
              <a:buFont typeface="Arial"/>
              <a:buChar char="•"/>
            </a:pPr>
            <a:r>
              <a:rPr sz="1050" b="0">
                <a:solidFill>
                  <a:srgbClr val="333D4A"/>
                </a:solidFill>
                <a:latin typeface="Arial"/>
              </a:rPr>
              <a:t>Error &amp; not-found boundary</a:t>
            </a:r>
          </a:p>
        </p:txBody>
      </p:sp>
      <p:sp>
        <p:nvSpPr>
          <p:cNvPr id="16" name="Rounded Rectangle 15"/>
          <p:cNvSpPr/>
          <p:nvPr/>
        </p:nvSpPr>
        <p:spPr>
          <a:xfrm>
            <a:off x="8083296" y="1792224"/>
            <a:ext cx="3456432" cy="3035808"/>
          </a:xfrm>
          <a:prstGeom prst="roundRect">
            <a:avLst>
              <a:gd name="adj" fmla="val 8000"/>
            </a:avLst>
          </a:prstGeom>
          <a:solidFill>
            <a:srgbClr val="FFFFFF"/>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Rounded Rectangle 16"/>
          <p:cNvSpPr/>
          <p:nvPr/>
        </p:nvSpPr>
        <p:spPr>
          <a:xfrm>
            <a:off x="8083296" y="1792224"/>
            <a:ext cx="3456432" cy="64008"/>
          </a:xfrm>
          <a:prstGeom prst="roundRect">
            <a:avLst>
              <a:gd name="adj" fmla="val 0"/>
            </a:avLst>
          </a:prstGeom>
          <a:solidFill>
            <a:srgbClr val="333D4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TextBox 17"/>
          <p:cNvSpPr txBox="1"/>
          <p:nvPr/>
        </p:nvSpPr>
        <p:spPr>
          <a:xfrm>
            <a:off x="8311896" y="1993392"/>
            <a:ext cx="2194560" cy="237744"/>
          </a:xfrm>
          <a:prstGeom prst="rect">
            <a:avLst/>
          </a:prstGeom>
          <a:noFill/>
        </p:spPr>
        <p:txBody>
          <a:bodyPr wrap="square" lIns="0" rIns="0" tIns="0" bIns="0" anchor="t">
            <a:spAutoFit/>
          </a:bodyPr>
          <a:lstStyle/>
          <a:p>
            <a:pPr algn="l">
              <a:lnSpc>
                <a:spcPct val="112000"/>
              </a:lnSpc>
              <a:spcAft>
                <a:spcPts val="0"/>
              </a:spcAft>
            </a:pPr>
            <a:r>
              <a:rPr sz="950" b="1" i="0" spc="100">
                <a:solidFill>
                  <a:srgbClr val="333D4A"/>
                </a:solidFill>
                <a:latin typeface="Arial"/>
              </a:rPr>
              <a:t>MODUL AKTIF</a:t>
            </a:r>
          </a:p>
        </p:txBody>
      </p:sp>
      <p:sp>
        <p:nvSpPr>
          <p:cNvPr id="19" name="TextBox 18"/>
          <p:cNvSpPr txBox="1"/>
          <p:nvPr/>
        </p:nvSpPr>
        <p:spPr>
          <a:xfrm>
            <a:off x="8311896" y="2240280"/>
            <a:ext cx="1828800" cy="274320"/>
          </a:xfrm>
          <a:prstGeom prst="rect">
            <a:avLst/>
          </a:prstGeom>
          <a:noFill/>
        </p:spPr>
        <p:txBody>
          <a:bodyPr wrap="square" lIns="0" rIns="0" tIns="0" bIns="0" anchor="t">
            <a:spAutoFit/>
          </a:bodyPr>
          <a:lstStyle/>
          <a:p>
            <a:pPr algn="l">
              <a:lnSpc>
                <a:spcPct val="112000"/>
              </a:lnSpc>
              <a:spcAft>
                <a:spcPts val="0"/>
              </a:spcAft>
            </a:pPr>
            <a:r>
              <a:rPr sz="1500" b="1" i="0">
                <a:solidFill>
                  <a:srgbClr val="1F2937"/>
                </a:solidFill>
                <a:latin typeface="Arial"/>
              </a:rPr>
              <a:t>9 halaman</a:t>
            </a:r>
          </a:p>
        </p:txBody>
      </p:sp>
      <p:sp>
        <p:nvSpPr>
          <p:cNvPr id="20" name="TextBox 19"/>
          <p:cNvSpPr txBox="1"/>
          <p:nvPr/>
        </p:nvSpPr>
        <p:spPr>
          <a:xfrm>
            <a:off x="8311896" y="2679192"/>
            <a:ext cx="3017520" cy="2057400"/>
          </a:xfrm>
          <a:prstGeom prst="rect">
            <a:avLst/>
          </a:prstGeom>
          <a:noFill/>
        </p:spPr>
        <p:txBody>
          <a:bodyPr wrap="square" lIns="0" rIns="0" tIns="0" bIns="0">
            <a:spAutoFit/>
          </a:bodyPr>
          <a:lstStyle/>
          <a:p>
            <a:pPr marL="201168" indent="-201168">
              <a:lnSpc>
                <a:spcPct val="112000"/>
              </a:lnSpc>
              <a:spcAft>
                <a:spcPts val="700"/>
              </a:spcAft>
              <a:buClr>
                <a:srgbClr val="FF5A5F"/>
              </a:buClr>
              <a:buFont typeface="Arial"/>
              <a:buChar char="•"/>
            </a:pPr>
            <a:r>
              <a:rPr sz="1050" b="0">
                <a:solidFill>
                  <a:srgbClr val="333D4A"/>
                </a:solidFill>
                <a:latin typeface="Arial"/>
              </a:rPr>
              <a:t>Hype — Reels video &amp; carousel</a:t>
            </a:r>
          </a:p>
          <a:p>
            <a:pPr marL="201168" indent="-201168">
              <a:lnSpc>
                <a:spcPct val="112000"/>
              </a:lnSpc>
              <a:spcAft>
                <a:spcPts val="700"/>
              </a:spcAft>
              <a:buClr>
                <a:srgbClr val="FF5A5F"/>
              </a:buClr>
              <a:buFont typeface="Arial"/>
              <a:buChar char="•"/>
            </a:pPr>
            <a:r>
              <a:rPr sz="1050" b="0">
                <a:solidFill>
                  <a:srgbClr val="333D4A"/>
                </a:solidFill>
                <a:latin typeface="Arial"/>
              </a:rPr>
              <a:t>Komunitas + agenda &amp; update</a:t>
            </a:r>
          </a:p>
          <a:p>
            <a:pPr marL="201168" indent="-201168">
              <a:lnSpc>
                <a:spcPct val="112000"/>
              </a:lnSpc>
              <a:spcAft>
                <a:spcPts val="700"/>
              </a:spcAft>
              <a:buClr>
                <a:srgbClr val="FF5A5F"/>
              </a:buClr>
              <a:buFont typeface="Arial"/>
              <a:buChar char="•"/>
            </a:pPr>
            <a:r>
              <a:rPr sz="1050" b="0">
                <a:solidFill>
                  <a:srgbClr val="333D4A"/>
                </a:solidFill>
                <a:latin typeface="Arial"/>
              </a:rPr>
              <a:t>Kalender kehadiran event</a:t>
            </a:r>
          </a:p>
          <a:p>
            <a:pPr marL="201168" indent="-201168">
              <a:lnSpc>
                <a:spcPct val="112000"/>
              </a:lnSpc>
              <a:spcAft>
                <a:spcPts val="700"/>
              </a:spcAft>
              <a:buClr>
                <a:srgbClr val="FF5A5F"/>
              </a:buClr>
              <a:buFont typeface="Arial"/>
              <a:buChar char="•"/>
            </a:pPr>
            <a:r>
              <a:rPr sz="1050" b="0">
                <a:solidFill>
                  <a:srgbClr val="333D4A"/>
                </a:solidFill>
                <a:latin typeface="Arial"/>
              </a:rPr>
              <a:t>Blog editorial</a:t>
            </a:r>
          </a:p>
          <a:p>
            <a:pPr marL="201168" indent="-201168">
              <a:lnSpc>
                <a:spcPct val="112000"/>
              </a:lnSpc>
              <a:spcAft>
                <a:spcPts val="700"/>
              </a:spcAft>
              <a:buClr>
                <a:srgbClr val="FF5A5F"/>
              </a:buClr>
              <a:buFont typeface="Arial"/>
              <a:buChar char="•"/>
            </a:pPr>
            <a:r>
              <a:rPr sz="1050" b="0">
                <a:solidFill>
                  <a:srgbClr val="333D4A"/>
                </a:solidFill>
                <a:latin typeface="Arial"/>
              </a:rPr>
              <a:t>Notifikasi tiket &amp; sistem</a:t>
            </a:r>
          </a:p>
          <a:p>
            <a:pPr marL="201168" indent="-201168">
              <a:lnSpc>
                <a:spcPct val="112000"/>
              </a:lnSpc>
              <a:spcAft>
                <a:spcPts val="700"/>
              </a:spcAft>
              <a:buClr>
                <a:srgbClr val="FF5A5F"/>
              </a:buClr>
              <a:buFont typeface="Arial"/>
              <a:buChar char="•"/>
            </a:pPr>
            <a:r>
              <a:rPr sz="1050" b="0">
                <a:solidFill>
                  <a:srgbClr val="333D4A"/>
                </a:solidFill>
                <a:latin typeface="Arial"/>
              </a:rPr>
              <a:t>Scan QR code</a:t>
            </a:r>
          </a:p>
          <a:p>
            <a:pPr marL="201168" indent="-201168">
              <a:lnSpc>
                <a:spcPct val="112000"/>
              </a:lnSpc>
              <a:spcAft>
                <a:spcPts val="700"/>
              </a:spcAft>
              <a:buClr>
                <a:srgbClr val="FF5A5F"/>
              </a:buClr>
              <a:buFont typeface="Arial"/>
              <a:buChar char="•"/>
            </a:pPr>
            <a:r>
              <a:rPr sz="1050" b="0">
                <a:solidFill>
                  <a:srgbClr val="333D4A"/>
                </a:solidFill>
                <a:latin typeface="Arial"/>
              </a:rPr>
              <a:t>Pemilih lokasi &amp; rekomendasi</a:t>
            </a:r>
          </a:p>
          <a:p>
            <a:pPr marL="201168" indent="-201168">
              <a:lnSpc>
                <a:spcPct val="112000"/>
              </a:lnSpc>
              <a:spcAft>
                <a:spcPts val="700"/>
              </a:spcAft>
              <a:buClr>
                <a:srgbClr val="FF5A5F"/>
              </a:buClr>
              <a:buFont typeface="Arial"/>
              <a:buChar char="•"/>
            </a:pPr>
            <a:r>
              <a:rPr sz="1050" b="0">
                <a:solidFill>
                  <a:srgbClr val="333D4A"/>
                </a:solidFill>
                <a:latin typeface="Arial"/>
              </a:rPr>
              <a:t>Detail komunitas</a:t>
            </a:r>
          </a:p>
        </p:txBody>
      </p:sp>
      <p:sp>
        <p:nvSpPr>
          <p:cNvPr id="21" name="Rounded Rectangle 20"/>
          <p:cNvSpPr/>
          <p:nvPr/>
        </p:nvSpPr>
        <p:spPr>
          <a:xfrm>
            <a:off x="640080" y="5047488"/>
            <a:ext cx="10908792" cy="658368"/>
          </a:xfrm>
          <a:prstGeom prst="roundRect">
            <a:avLst>
              <a:gd name="adj" fmla="val 8000"/>
            </a:avLst>
          </a:prstGeom>
          <a:solidFill>
            <a:srgbClr val="FFF5D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2" name="Rounded Rectangle 21"/>
          <p:cNvSpPr/>
          <p:nvPr/>
        </p:nvSpPr>
        <p:spPr>
          <a:xfrm>
            <a:off x="640080" y="5047488"/>
            <a:ext cx="50292" cy="658368"/>
          </a:xfrm>
          <a:prstGeom prst="roundRect">
            <a:avLst>
              <a:gd name="adj" fmla="val 0"/>
            </a:avLst>
          </a:prstGeom>
          <a:solidFill>
            <a:srgbClr val="FFB4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TextBox 22"/>
          <p:cNvSpPr txBox="1"/>
          <p:nvPr/>
        </p:nvSpPr>
        <p:spPr>
          <a:xfrm>
            <a:off x="859536" y="5184648"/>
            <a:ext cx="10543032" cy="237744"/>
          </a:xfrm>
          <a:prstGeom prst="rect">
            <a:avLst/>
          </a:prstGeom>
          <a:noFill/>
        </p:spPr>
        <p:txBody>
          <a:bodyPr wrap="square" lIns="0" rIns="0" tIns="0" bIns="0" anchor="t">
            <a:spAutoFit/>
          </a:bodyPr>
          <a:lstStyle/>
          <a:p>
            <a:pPr algn="l">
              <a:lnSpc>
                <a:spcPct val="112000"/>
              </a:lnSpc>
              <a:spcAft>
                <a:spcPts val="0"/>
              </a:spcAft>
            </a:pPr>
            <a:r>
              <a:rPr sz="1100" b="1" i="0">
                <a:solidFill>
                  <a:srgbClr val="1F2937"/>
                </a:solidFill>
                <a:latin typeface="Arial"/>
              </a:rPr>
              <a:t>Cara membaca peta ini</a:t>
            </a:r>
          </a:p>
        </p:txBody>
      </p:sp>
      <p:sp>
        <p:nvSpPr>
          <p:cNvPr id="24" name="TextBox 23"/>
          <p:cNvSpPr txBox="1"/>
          <p:nvPr/>
        </p:nvSpPr>
        <p:spPr>
          <a:xfrm>
            <a:off x="859536" y="5458968"/>
            <a:ext cx="10524744" cy="155447"/>
          </a:xfrm>
          <a:prstGeom prst="rect">
            <a:avLst/>
          </a:prstGeom>
          <a:noFill/>
        </p:spPr>
        <p:txBody>
          <a:bodyPr wrap="square" lIns="0" rIns="0" tIns="0" bIns="0" anchor="t">
            <a:spAutoFit/>
          </a:bodyPr>
          <a:lstStyle/>
          <a:p>
            <a:pPr algn="l">
              <a:lnSpc>
                <a:spcPct val="125000"/>
              </a:lnSpc>
              <a:spcAft>
                <a:spcPts val="0"/>
              </a:spcAft>
            </a:pPr>
            <a:r>
              <a:rPr sz="1050" b="0" i="0">
                <a:solidFill>
                  <a:srgbClr val="333D4A"/>
                </a:solidFill>
                <a:latin typeface="Arial"/>
              </a:rPr>
              <a:t>Tujuh halaman P0 membentuk demo flow utuh. Halaman di kolom ketiga sudah berjalan tetapi belum masuk daftar prioritas di README.</a:t>
            </a:r>
          </a:p>
        </p:txBody>
      </p:sp>
      <p:sp>
        <p:nvSpPr>
          <p:cNvPr id="25" name="TextBox 24"/>
          <p:cNvSpPr txBox="1"/>
          <p:nvPr/>
        </p:nvSpPr>
        <p:spPr>
          <a:xfrm>
            <a:off x="640080" y="5989320"/>
            <a:ext cx="10881360" cy="274320"/>
          </a:xfrm>
          <a:prstGeom prst="rect">
            <a:avLst/>
          </a:prstGeom>
          <a:noFill/>
        </p:spPr>
        <p:txBody>
          <a:bodyPr wrap="square" lIns="0" rIns="0" tIns="0" bIns="0" anchor="t">
            <a:spAutoFit/>
          </a:bodyPr>
          <a:lstStyle/>
          <a:p>
            <a:pPr algn="l">
              <a:lnSpc>
                <a:spcPct val="112000"/>
              </a:lnSpc>
              <a:spcAft>
                <a:spcPts val="0"/>
              </a:spcAft>
            </a:pPr>
            <a:r>
              <a:rPr sz="950" b="0" i="0">
                <a:solidFill>
                  <a:srgbClr val="6B7280"/>
                </a:solidFill>
                <a:latin typeface="Arial"/>
              </a:rPr>
              <a:t>Navigasi utama: Beranda · Hype · Eksplore · Promo · Blog · Profil — didefinisikan sekali di src/config/site.ts.</a:t>
            </a:r>
          </a:p>
        </p:txBody>
      </p:sp>
      <p:sp>
        <p:nvSpPr>
          <p:cNvPr id="26" name="Rounded Rectangle 25"/>
          <p:cNvSpPr/>
          <p:nvPr/>
        </p:nvSpPr>
        <p:spPr>
          <a:xfrm>
            <a:off x="640080" y="6419088"/>
            <a:ext cx="10908792" cy="7315"/>
          </a:xfrm>
          <a:prstGeom prst="roundRect">
            <a:avLst>
              <a:gd name="adj" fmla="val 0"/>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7" name="Rounded Rectangle 26"/>
          <p:cNvSpPr/>
          <p:nvPr/>
        </p:nvSpPr>
        <p:spPr>
          <a:xfrm>
            <a:off x="640080" y="6537960"/>
            <a:ext cx="224942" cy="224942"/>
          </a:xfrm>
          <a:prstGeom prst="roundRect">
            <a:avLst>
              <a:gd name="adj" fmla="val 22000"/>
            </a:avLst>
          </a:prstGeom>
          <a:solidFill>
            <a:srgbClr val="FF5A5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8" name="TextBox 27"/>
          <p:cNvSpPr txBox="1"/>
          <p:nvPr/>
        </p:nvSpPr>
        <p:spPr>
          <a:xfrm>
            <a:off x="640080" y="6526987"/>
            <a:ext cx="224942" cy="224942"/>
          </a:xfrm>
          <a:prstGeom prst="rect">
            <a:avLst/>
          </a:prstGeom>
          <a:noFill/>
        </p:spPr>
        <p:txBody>
          <a:bodyPr wrap="square" lIns="0" rIns="0" tIns="0" bIns="0" anchor="ctr">
            <a:spAutoFit/>
          </a:bodyPr>
          <a:lstStyle/>
          <a:p>
            <a:pPr algn="ctr">
              <a:lnSpc>
                <a:spcPct val="112000"/>
              </a:lnSpc>
              <a:spcAft>
                <a:spcPts val="0"/>
              </a:spcAft>
            </a:pPr>
            <a:r>
              <a:rPr sz="1066" b="1" i="0">
                <a:solidFill>
                  <a:srgbClr val="FFFFFF"/>
                </a:solidFill>
                <a:latin typeface="Arial"/>
              </a:rPr>
              <a:t>n</a:t>
            </a:r>
          </a:p>
        </p:txBody>
      </p:sp>
      <p:sp>
        <p:nvSpPr>
          <p:cNvPr id="29" name="TextBox 28"/>
          <p:cNvSpPr txBox="1"/>
          <p:nvPr/>
        </p:nvSpPr>
        <p:spPr>
          <a:xfrm>
            <a:off x="932505" y="6510528"/>
            <a:ext cx="899769" cy="224942"/>
          </a:xfrm>
          <a:prstGeom prst="rect">
            <a:avLst/>
          </a:prstGeom>
          <a:noFill/>
        </p:spPr>
        <p:txBody>
          <a:bodyPr wrap="square" lIns="0" rIns="0" tIns="0" bIns="0" anchor="t">
            <a:spAutoFit/>
          </a:bodyPr>
          <a:lstStyle/>
          <a:p>
            <a:pPr algn="l">
              <a:lnSpc>
                <a:spcPct val="112000"/>
              </a:lnSpc>
              <a:spcAft>
                <a:spcPts val="0"/>
              </a:spcAft>
            </a:pPr>
            <a:r>
              <a:rPr sz="1066" b="1" i="0">
                <a:solidFill>
                  <a:srgbClr val="1F2937"/>
                </a:solidFill>
                <a:latin typeface="Arial"/>
              </a:rPr>
              <a:t>NgeTag</a:t>
            </a:r>
          </a:p>
        </p:txBody>
      </p:sp>
      <p:sp>
        <p:nvSpPr>
          <p:cNvPr id="30" name="TextBox 29"/>
          <p:cNvSpPr txBox="1"/>
          <p:nvPr/>
        </p:nvSpPr>
        <p:spPr>
          <a:xfrm>
            <a:off x="1600200" y="6556248"/>
            <a:ext cx="5486400" cy="201168"/>
          </a:xfrm>
          <a:prstGeom prst="rect">
            <a:avLst/>
          </a:prstGeom>
          <a:noFill/>
        </p:spPr>
        <p:txBody>
          <a:bodyPr wrap="square" lIns="0" rIns="0" tIns="0" bIns="0" anchor="t">
            <a:spAutoFit/>
          </a:bodyPr>
          <a:lstStyle/>
          <a:p>
            <a:pPr algn="l">
              <a:lnSpc>
                <a:spcPct val="112000"/>
              </a:lnSpc>
              <a:spcAft>
                <a:spcPts val="0"/>
              </a:spcAft>
            </a:pPr>
            <a:r>
              <a:rPr sz="850" b="0" i="0">
                <a:solidFill>
                  <a:srgbClr val="6B7280"/>
                </a:solidFill>
                <a:latin typeface="Arial"/>
              </a:rPr>
              <a:t>NgeTag · Review Repository &amp; Seed Data User</a:t>
            </a:r>
          </a:p>
        </p:txBody>
      </p:sp>
      <p:sp>
        <p:nvSpPr>
          <p:cNvPr id="31" name="TextBox 30"/>
          <p:cNvSpPr txBox="1"/>
          <p:nvPr/>
        </p:nvSpPr>
        <p:spPr>
          <a:xfrm>
            <a:off x="10607040" y="6556248"/>
            <a:ext cx="941832" cy="201168"/>
          </a:xfrm>
          <a:prstGeom prst="rect">
            <a:avLst/>
          </a:prstGeom>
          <a:noFill/>
        </p:spPr>
        <p:txBody>
          <a:bodyPr wrap="square" lIns="0" rIns="0" tIns="0" bIns="0" anchor="t">
            <a:spAutoFit/>
          </a:bodyPr>
          <a:lstStyle/>
          <a:p>
            <a:pPr algn="r">
              <a:lnSpc>
                <a:spcPct val="112000"/>
              </a:lnSpc>
              <a:spcAft>
                <a:spcPts val="0"/>
              </a:spcAft>
            </a:pPr>
            <a:r>
              <a:rPr sz="850" b="0" i="0">
                <a:solidFill>
                  <a:srgbClr val="6B7280"/>
                </a:solidFill>
                <a:latin typeface="Arial"/>
              </a:rPr>
              <a:t>06 / 22</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AFAFB"/>
        </a:solidFill>
        <a:effectLst/>
      </p:bgPr>
    </p:bg>
    <p:spTree>
      <p:nvGrpSpPr>
        <p:cNvPr id="1" name=""/>
        <p:cNvGrpSpPr/>
        <p:nvPr/>
      </p:nvGrpSpPr>
      <p:grpSpPr/>
      <p:sp>
        <p:nvSpPr>
          <p:cNvPr id="2" name="TextBox 1"/>
          <p:cNvSpPr txBox="1"/>
          <p:nvPr/>
        </p:nvSpPr>
        <p:spPr>
          <a:xfrm>
            <a:off x="640080" y="384048"/>
            <a:ext cx="9601200" cy="228600"/>
          </a:xfrm>
          <a:prstGeom prst="rect">
            <a:avLst/>
          </a:prstGeom>
          <a:noFill/>
        </p:spPr>
        <p:txBody>
          <a:bodyPr wrap="square" lIns="0" rIns="0" tIns="0" bIns="0" anchor="t">
            <a:spAutoFit/>
          </a:bodyPr>
          <a:lstStyle/>
          <a:p>
            <a:pPr algn="l">
              <a:lnSpc>
                <a:spcPct val="112000"/>
              </a:lnSpc>
              <a:spcAft>
                <a:spcPts val="0"/>
              </a:spcAft>
            </a:pPr>
            <a:r>
              <a:rPr sz="1000" b="1" i="0" spc="140">
                <a:solidFill>
                  <a:srgbClr val="FF5A5F"/>
                </a:solidFill>
                <a:latin typeface="Arial"/>
              </a:rPr>
              <a:t>01 · PRODUK &amp; KONTEKS</a:t>
            </a:r>
          </a:p>
        </p:txBody>
      </p:sp>
      <p:sp>
        <p:nvSpPr>
          <p:cNvPr id="3" name="TextBox 2"/>
          <p:cNvSpPr txBox="1"/>
          <p:nvPr/>
        </p:nvSpPr>
        <p:spPr>
          <a:xfrm>
            <a:off x="640080" y="621792"/>
            <a:ext cx="10881360" cy="566928"/>
          </a:xfrm>
          <a:prstGeom prst="rect">
            <a:avLst/>
          </a:prstGeom>
          <a:noFill/>
        </p:spPr>
        <p:txBody>
          <a:bodyPr wrap="square" lIns="0" rIns="0" tIns="0" bIns="0" anchor="t">
            <a:spAutoFit/>
          </a:bodyPr>
          <a:lstStyle/>
          <a:p>
            <a:pPr algn="l">
              <a:lnSpc>
                <a:spcPct val="112000"/>
              </a:lnSpc>
              <a:spcAft>
                <a:spcPts val="0"/>
              </a:spcAft>
            </a:pPr>
            <a:r>
              <a:rPr sz="2600" b="1" i="0">
                <a:solidFill>
                  <a:srgbClr val="1F2937"/>
                </a:solidFill>
                <a:latin typeface="Arial"/>
              </a:rPr>
              <a:t>Alur inti yang dijaga oleh MVP</a:t>
            </a:r>
          </a:p>
        </p:txBody>
      </p:sp>
      <p:sp>
        <p:nvSpPr>
          <p:cNvPr id="4" name="TextBox 3"/>
          <p:cNvSpPr txBox="1"/>
          <p:nvPr/>
        </p:nvSpPr>
        <p:spPr>
          <a:xfrm>
            <a:off x="640080" y="1225296"/>
            <a:ext cx="10424160" cy="365760"/>
          </a:xfrm>
          <a:prstGeom prst="rect">
            <a:avLst/>
          </a:prstGeom>
          <a:noFill/>
        </p:spPr>
        <p:txBody>
          <a:bodyPr wrap="square" lIns="0" rIns="0" tIns="0" bIns="0" anchor="t">
            <a:spAutoFit/>
          </a:bodyPr>
          <a:lstStyle/>
          <a:p>
            <a:pPr algn="l">
              <a:lnSpc>
                <a:spcPct val="112000"/>
              </a:lnSpc>
              <a:spcAft>
                <a:spcPts val="0"/>
              </a:spcAft>
            </a:pPr>
            <a:r>
              <a:rPr sz="1250" b="0" i="0">
                <a:solidFill>
                  <a:srgbClr val="6B7280"/>
                </a:solidFill>
                <a:latin typeface="Arial"/>
              </a:rPr>
              <a:t>Setiap langkah punya route, komponen, dan sinyal datanya sendiri.</a:t>
            </a:r>
          </a:p>
        </p:txBody>
      </p:sp>
      <p:sp>
        <p:nvSpPr>
          <p:cNvPr id="5" name="Rounded Rectangle 4"/>
          <p:cNvSpPr/>
          <p:nvPr/>
        </p:nvSpPr>
        <p:spPr>
          <a:xfrm>
            <a:off x="640080" y="1170432"/>
            <a:ext cx="502920" cy="32004"/>
          </a:xfrm>
          <a:prstGeom prst="roundRect">
            <a:avLst>
              <a:gd name="adj" fmla="val 0"/>
            </a:avLst>
          </a:prstGeom>
          <a:solidFill>
            <a:srgbClr val="FF5A5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 name="Rounded Rectangle 5"/>
          <p:cNvSpPr/>
          <p:nvPr/>
        </p:nvSpPr>
        <p:spPr>
          <a:xfrm>
            <a:off x="640080" y="1783080"/>
            <a:ext cx="2011680" cy="1078992"/>
          </a:xfrm>
          <a:prstGeom prst="roundRect">
            <a:avLst>
              <a:gd name="adj" fmla="val 8000"/>
            </a:avLst>
          </a:prstGeom>
          <a:solidFill>
            <a:srgbClr val="FFFFFF"/>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 name="Oval 6"/>
          <p:cNvSpPr/>
          <p:nvPr/>
        </p:nvSpPr>
        <p:spPr>
          <a:xfrm>
            <a:off x="804671" y="1947672"/>
            <a:ext cx="329184" cy="329184"/>
          </a:xfrm>
          <a:prstGeom prst="ellipse">
            <a:avLst/>
          </a:prstGeom>
          <a:solidFill>
            <a:srgbClr val="FF5A5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50" b="1">
                <a:solidFill>
                  <a:srgbClr val="FFFFFF"/>
                </a:solidFill>
                <a:latin typeface="Arial"/>
              </a:rPr>
              <a:t>1</a:t>
            </a:r>
          </a:p>
        </p:txBody>
      </p:sp>
      <p:sp>
        <p:nvSpPr>
          <p:cNvPr id="8" name="TextBox 7"/>
          <p:cNvSpPr txBox="1"/>
          <p:nvPr/>
        </p:nvSpPr>
        <p:spPr>
          <a:xfrm>
            <a:off x="1216152" y="1956816"/>
            <a:ext cx="1325880" cy="274320"/>
          </a:xfrm>
          <a:prstGeom prst="rect">
            <a:avLst/>
          </a:prstGeom>
          <a:noFill/>
        </p:spPr>
        <p:txBody>
          <a:bodyPr wrap="square" lIns="0" rIns="0" tIns="0" bIns="0" anchor="t">
            <a:spAutoFit/>
          </a:bodyPr>
          <a:lstStyle/>
          <a:p>
            <a:pPr algn="l">
              <a:lnSpc>
                <a:spcPct val="112000"/>
              </a:lnSpc>
              <a:spcAft>
                <a:spcPts val="0"/>
              </a:spcAft>
            </a:pPr>
            <a:r>
              <a:rPr sz="1250" b="1" i="0">
                <a:solidFill>
                  <a:srgbClr val="1F2937"/>
                </a:solidFill>
                <a:latin typeface="Arial"/>
              </a:rPr>
              <a:t>Temukan</a:t>
            </a:r>
          </a:p>
        </p:txBody>
      </p:sp>
      <p:sp>
        <p:nvSpPr>
          <p:cNvPr id="9" name="TextBox 8"/>
          <p:cNvSpPr txBox="1"/>
          <p:nvPr/>
        </p:nvSpPr>
        <p:spPr>
          <a:xfrm>
            <a:off x="804671" y="2340864"/>
            <a:ext cx="1691640" cy="457200"/>
          </a:xfrm>
          <a:prstGeom prst="rect">
            <a:avLst/>
          </a:prstGeom>
          <a:noFill/>
        </p:spPr>
        <p:txBody>
          <a:bodyPr wrap="square" lIns="0" rIns="0" tIns="0" bIns="0" anchor="t">
            <a:spAutoFit/>
          </a:bodyPr>
          <a:lstStyle/>
          <a:p>
            <a:pPr algn="l">
              <a:lnSpc>
                <a:spcPct val="115000"/>
              </a:lnSpc>
              <a:spcAft>
                <a:spcPts val="0"/>
              </a:spcAft>
            </a:pPr>
            <a:r>
              <a:rPr sz="900" b="0" i="0">
                <a:solidFill>
                  <a:srgbClr val="6B7280"/>
                </a:solidFill>
                <a:latin typeface="Arial"/>
              </a:rPr>
              <a:t>Home, search,</a:t>
            </a:r>
          </a:p>
          <a:p>
            <a:pPr algn="l">
              <a:lnSpc>
                <a:spcPct val="115000"/>
              </a:lnSpc>
              <a:spcAft>
                <a:spcPts val="0"/>
              </a:spcAft>
            </a:pPr>
            <a:r>
              <a:rPr sz="900" b="0" i="0">
                <a:solidFill>
                  <a:srgbClr val="6B7280"/>
                </a:solidFill>
                <a:latin typeface="Arial"/>
              </a:rPr>
              <a:t>tag landing</a:t>
            </a:r>
          </a:p>
        </p:txBody>
      </p:sp>
      <p:sp>
        <p:nvSpPr>
          <p:cNvPr id="10" name="TextBox 9"/>
          <p:cNvSpPr txBox="1"/>
          <p:nvPr/>
        </p:nvSpPr>
        <p:spPr>
          <a:xfrm>
            <a:off x="2670048" y="2130552"/>
            <a:ext cx="256032" cy="274320"/>
          </a:xfrm>
          <a:prstGeom prst="rect">
            <a:avLst/>
          </a:prstGeom>
          <a:noFill/>
        </p:spPr>
        <p:txBody>
          <a:bodyPr wrap="square" lIns="0" rIns="0" tIns="0" bIns="0" anchor="t">
            <a:spAutoFit/>
          </a:bodyPr>
          <a:lstStyle/>
          <a:p>
            <a:pPr algn="l">
              <a:lnSpc>
                <a:spcPct val="112000"/>
              </a:lnSpc>
              <a:spcAft>
                <a:spcPts val="0"/>
              </a:spcAft>
            </a:pPr>
            <a:r>
              <a:rPr sz="1700" b="1" i="0">
                <a:solidFill>
                  <a:srgbClr val="FF5A5F"/>
                </a:solidFill>
                <a:latin typeface="Arial"/>
              </a:rPr>
              <a:t>›</a:t>
            </a:r>
          </a:p>
        </p:txBody>
      </p:sp>
      <p:sp>
        <p:nvSpPr>
          <p:cNvPr id="11" name="Rounded Rectangle 10"/>
          <p:cNvSpPr/>
          <p:nvPr/>
        </p:nvSpPr>
        <p:spPr>
          <a:xfrm>
            <a:off x="2898648" y="1783080"/>
            <a:ext cx="2011680" cy="1078992"/>
          </a:xfrm>
          <a:prstGeom prst="roundRect">
            <a:avLst>
              <a:gd name="adj" fmla="val 8000"/>
            </a:avLst>
          </a:prstGeom>
          <a:solidFill>
            <a:srgbClr val="FFFFFF"/>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Oval 11"/>
          <p:cNvSpPr/>
          <p:nvPr/>
        </p:nvSpPr>
        <p:spPr>
          <a:xfrm>
            <a:off x="3063240" y="1947672"/>
            <a:ext cx="329184" cy="329184"/>
          </a:xfrm>
          <a:prstGeom prst="ellipse">
            <a:avLst/>
          </a:prstGeom>
          <a:solidFill>
            <a:srgbClr val="FF5A5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50" b="1">
                <a:solidFill>
                  <a:srgbClr val="FFFFFF"/>
                </a:solidFill>
                <a:latin typeface="Arial"/>
              </a:rPr>
              <a:t>2</a:t>
            </a:r>
          </a:p>
        </p:txBody>
      </p:sp>
      <p:sp>
        <p:nvSpPr>
          <p:cNvPr id="13" name="TextBox 12"/>
          <p:cNvSpPr txBox="1"/>
          <p:nvPr/>
        </p:nvSpPr>
        <p:spPr>
          <a:xfrm>
            <a:off x="3474720" y="1956816"/>
            <a:ext cx="1325880" cy="274320"/>
          </a:xfrm>
          <a:prstGeom prst="rect">
            <a:avLst/>
          </a:prstGeom>
          <a:noFill/>
        </p:spPr>
        <p:txBody>
          <a:bodyPr wrap="square" lIns="0" rIns="0" tIns="0" bIns="0" anchor="t">
            <a:spAutoFit/>
          </a:bodyPr>
          <a:lstStyle/>
          <a:p>
            <a:pPr algn="l">
              <a:lnSpc>
                <a:spcPct val="112000"/>
              </a:lnSpc>
              <a:spcAft>
                <a:spcPts val="0"/>
              </a:spcAft>
            </a:pPr>
            <a:r>
              <a:rPr sz="1250" b="1" i="0">
                <a:solidFill>
                  <a:srgbClr val="1F2937"/>
                </a:solidFill>
                <a:latin typeface="Arial"/>
              </a:rPr>
              <a:t>Bandingkan</a:t>
            </a:r>
          </a:p>
        </p:txBody>
      </p:sp>
      <p:sp>
        <p:nvSpPr>
          <p:cNvPr id="14" name="TextBox 13"/>
          <p:cNvSpPr txBox="1"/>
          <p:nvPr/>
        </p:nvSpPr>
        <p:spPr>
          <a:xfrm>
            <a:off x="3063240" y="2340864"/>
            <a:ext cx="1691640" cy="457200"/>
          </a:xfrm>
          <a:prstGeom prst="rect">
            <a:avLst/>
          </a:prstGeom>
          <a:noFill/>
        </p:spPr>
        <p:txBody>
          <a:bodyPr wrap="square" lIns="0" rIns="0" tIns="0" bIns="0" anchor="t">
            <a:spAutoFit/>
          </a:bodyPr>
          <a:lstStyle/>
          <a:p>
            <a:pPr algn="l">
              <a:lnSpc>
                <a:spcPct val="115000"/>
              </a:lnSpc>
              <a:spcAft>
                <a:spcPts val="0"/>
              </a:spcAft>
            </a:pPr>
            <a:r>
              <a:rPr sz="900" b="0" i="0">
                <a:solidFill>
                  <a:srgbClr val="6B7280"/>
                </a:solidFill>
                <a:latin typeface="Arial"/>
              </a:rPr>
              <a:t>Filter, sort,</a:t>
            </a:r>
          </a:p>
          <a:p>
            <a:pPr algn="l">
              <a:lnSpc>
                <a:spcPct val="115000"/>
              </a:lnSpc>
              <a:spcAft>
                <a:spcPts val="0"/>
              </a:spcAft>
            </a:pPr>
            <a:r>
              <a:rPr sz="900" b="0" i="0">
                <a:solidFill>
                  <a:srgbClr val="6B7280"/>
                </a:solidFill>
                <a:latin typeface="Arial"/>
              </a:rPr>
              <a:t>promo</a:t>
            </a:r>
          </a:p>
        </p:txBody>
      </p:sp>
      <p:sp>
        <p:nvSpPr>
          <p:cNvPr id="15" name="TextBox 14"/>
          <p:cNvSpPr txBox="1"/>
          <p:nvPr/>
        </p:nvSpPr>
        <p:spPr>
          <a:xfrm>
            <a:off x="4928616" y="2130552"/>
            <a:ext cx="256032" cy="274320"/>
          </a:xfrm>
          <a:prstGeom prst="rect">
            <a:avLst/>
          </a:prstGeom>
          <a:noFill/>
        </p:spPr>
        <p:txBody>
          <a:bodyPr wrap="square" lIns="0" rIns="0" tIns="0" bIns="0" anchor="t">
            <a:spAutoFit/>
          </a:bodyPr>
          <a:lstStyle/>
          <a:p>
            <a:pPr algn="l">
              <a:lnSpc>
                <a:spcPct val="112000"/>
              </a:lnSpc>
              <a:spcAft>
                <a:spcPts val="0"/>
              </a:spcAft>
            </a:pPr>
            <a:r>
              <a:rPr sz="1700" b="1" i="0">
                <a:solidFill>
                  <a:srgbClr val="FF5A5F"/>
                </a:solidFill>
                <a:latin typeface="Arial"/>
              </a:rPr>
              <a:t>›</a:t>
            </a:r>
          </a:p>
        </p:txBody>
      </p:sp>
      <p:sp>
        <p:nvSpPr>
          <p:cNvPr id="16" name="Rounded Rectangle 15"/>
          <p:cNvSpPr/>
          <p:nvPr/>
        </p:nvSpPr>
        <p:spPr>
          <a:xfrm>
            <a:off x="5157216" y="1783080"/>
            <a:ext cx="2011680" cy="1078992"/>
          </a:xfrm>
          <a:prstGeom prst="roundRect">
            <a:avLst>
              <a:gd name="adj" fmla="val 8000"/>
            </a:avLst>
          </a:prstGeom>
          <a:solidFill>
            <a:srgbClr val="FFFFFF"/>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Oval 16"/>
          <p:cNvSpPr/>
          <p:nvPr/>
        </p:nvSpPr>
        <p:spPr>
          <a:xfrm>
            <a:off x="5321808" y="1947672"/>
            <a:ext cx="329184" cy="329184"/>
          </a:xfrm>
          <a:prstGeom prst="ellipse">
            <a:avLst/>
          </a:prstGeom>
          <a:solidFill>
            <a:srgbClr val="FF5A5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50" b="1">
                <a:solidFill>
                  <a:srgbClr val="FFFFFF"/>
                </a:solidFill>
                <a:latin typeface="Arial"/>
              </a:rPr>
              <a:t>3</a:t>
            </a:r>
          </a:p>
        </p:txBody>
      </p:sp>
      <p:sp>
        <p:nvSpPr>
          <p:cNvPr id="18" name="TextBox 17"/>
          <p:cNvSpPr txBox="1"/>
          <p:nvPr/>
        </p:nvSpPr>
        <p:spPr>
          <a:xfrm>
            <a:off x="5733288" y="1956816"/>
            <a:ext cx="1325880" cy="274320"/>
          </a:xfrm>
          <a:prstGeom prst="rect">
            <a:avLst/>
          </a:prstGeom>
          <a:noFill/>
        </p:spPr>
        <p:txBody>
          <a:bodyPr wrap="square" lIns="0" rIns="0" tIns="0" bIns="0" anchor="t">
            <a:spAutoFit/>
          </a:bodyPr>
          <a:lstStyle/>
          <a:p>
            <a:pPr algn="l">
              <a:lnSpc>
                <a:spcPct val="112000"/>
              </a:lnSpc>
              <a:spcAft>
                <a:spcPts val="0"/>
              </a:spcAft>
            </a:pPr>
            <a:r>
              <a:rPr sz="1250" b="1" i="0">
                <a:solidFill>
                  <a:srgbClr val="1F2937"/>
                </a:solidFill>
                <a:latin typeface="Arial"/>
              </a:rPr>
              <a:t>Simpan</a:t>
            </a:r>
          </a:p>
        </p:txBody>
      </p:sp>
      <p:sp>
        <p:nvSpPr>
          <p:cNvPr id="19" name="TextBox 18"/>
          <p:cNvSpPr txBox="1"/>
          <p:nvPr/>
        </p:nvSpPr>
        <p:spPr>
          <a:xfrm>
            <a:off x="5321808" y="2340864"/>
            <a:ext cx="1691640" cy="457200"/>
          </a:xfrm>
          <a:prstGeom prst="rect">
            <a:avLst/>
          </a:prstGeom>
          <a:noFill/>
        </p:spPr>
        <p:txBody>
          <a:bodyPr wrap="square" lIns="0" rIns="0" tIns="0" bIns="0" anchor="t">
            <a:spAutoFit/>
          </a:bodyPr>
          <a:lstStyle/>
          <a:p>
            <a:pPr algn="l">
              <a:lnSpc>
                <a:spcPct val="115000"/>
              </a:lnSpc>
              <a:spcAft>
                <a:spcPts val="0"/>
              </a:spcAft>
            </a:pPr>
            <a:r>
              <a:rPr sz="900" b="0" i="0">
                <a:solidFill>
                  <a:srgbClr val="6B7280"/>
                </a:solidFill>
                <a:latin typeface="Arial"/>
              </a:rPr>
              <a:t>Bookmark,</a:t>
            </a:r>
          </a:p>
          <a:p>
            <a:pPr algn="l">
              <a:lnSpc>
                <a:spcPct val="115000"/>
              </a:lnSpc>
              <a:spcAft>
                <a:spcPts val="0"/>
              </a:spcAft>
            </a:pPr>
            <a:r>
              <a:rPr sz="900" b="0" i="0">
                <a:solidFill>
                  <a:srgbClr val="6B7280"/>
                </a:solidFill>
                <a:latin typeface="Arial"/>
              </a:rPr>
              <a:t>kalender</a:t>
            </a:r>
          </a:p>
        </p:txBody>
      </p:sp>
      <p:sp>
        <p:nvSpPr>
          <p:cNvPr id="20" name="TextBox 19"/>
          <p:cNvSpPr txBox="1"/>
          <p:nvPr/>
        </p:nvSpPr>
        <p:spPr>
          <a:xfrm>
            <a:off x="7187184" y="2130552"/>
            <a:ext cx="256032" cy="274320"/>
          </a:xfrm>
          <a:prstGeom prst="rect">
            <a:avLst/>
          </a:prstGeom>
          <a:noFill/>
        </p:spPr>
        <p:txBody>
          <a:bodyPr wrap="square" lIns="0" rIns="0" tIns="0" bIns="0" anchor="t">
            <a:spAutoFit/>
          </a:bodyPr>
          <a:lstStyle/>
          <a:p>
            <a:pPr algn="l">
              <a:lnSpc>
                <a:spcPct val="112000"/>
              </a:lnSpc>
              <a:spcAft>
                <a:spcPts val="0"/>
              </a:spcAft>
            </a:pPr>
            <a:r>
              <a:rPr sz="1700" b="1" i="0">
                <a:solidFill>
                  <a:srgbClr val="FF5A5F"/>
                </a:solidFill>
                <a:latin typeface="Arial"/>
              </a:rPr>
              <a:t>›</a:t>
            </a:r>
          </a:p>
        </p:txBody>
      </p:sp>
      <p:sp>
        <p:nvSpPr>
          <p:cNvPr id="21" name="Rounded Rectangle 20"/>
          <p:cNvSpPr/>
          <p:nvPr/>
        </p:nvSpPr>
        <p:spPr>
          <a:xfrm>
            <a:off x="7415784" y="1783080"/>
            <a:ext cx="2011680" cy="1078992"/>
          </a:xfrm>
          <a:prstGeom prst="roundRect">
            <a:avLst>
              <a:gd name="adj" fmla="val 8000"/>
            </a:avLst>
          </a:prstGeom>
          <a:solidFill>
            <a:srgbClr val="FFFFFF"/>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2" name="Oval 21"/>
          <p:cNvSpPr/>
          <p:nvPr/>
        </p:nvSpPr>
        <p:spPr>
          <a:xfrm>
            <a:off x="7580376" y="1947672"/>
            <a:ext cx="329184" cy="329184"/>
          </a:xfrm>
          <a:prstGeom prst="ellipse">
            <a:avLst/>
          </a:prstGeom>
          <a:solidFill>
            <a:srgbClr val="FF5A5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50" b="1">
                <a:solidFill>
                  <a:srgbClr val="FFFFFF"/>
                </a:solidFill>
                <a:latin typeface="Arial"/>
              </a:rPr>
              <a:t>4</a:t>
            </a:r>
          </a:p>
        </p:txBody>
      </p:sp>
      <p:sp>
        <p:nvSpPr>
          <p:cNvPr id="23" name="TextBox 22"/>
          <p:cNvSpPr txBox="1"/>
          <p:nvPr/>
        </p:nvSpPr>
        <p:spPr>
          <a:xfrm>
            <a:off x="7991856" y="1956816"/>
            <a:ext cx="1325880" cy="274320"/>
          </a:xfrm>
          <a:prstGeom prst="rect">
            <a:avLst/>
          </a:prstGeom>
          <a:noFill/>
        </p:spPr>
        <p:txBody>
          <a:bodyPr wrap="square" lIns="0" rIns="0" tIns="0" bIns="0" anchor="t">
            <a:spAutoFit/>
          </a:bodyPr>
          <a:lstStyle/>
          <a:p>
            <a:pPr algn="l">
              <a:lnSpc>
                <a:spcPct val="112000"/>
              </a:lnSpc>
              <a:spcAft>
                <a:spcPts val="0"/>
              </a:spcAft>
            </a:pPr>
            <a:r>
              <a:rPr sz="1250" b="1" i="0">
                <a:solidFill>
                  <a:srgbClr val="1F2937"/>
                </a:solidFill>
                <a:latin typeface="Arial"/>
              </a:rPr>
              <a:t>Kunjungi</a:t>
            </a:r>
          </a:p>
        </p:txBody>
      </p:sp>
      <p:sp>
        <p:nvSpPr>
          <p:cNvPr id="24" name="TextBox 23"/>
          <p:cNvSpPr txBox="1"/>
          <p:nvPr/>
        </p:nvSpPr>
        <p:spPr>
          <a:xfrm>
            <a:off x="7580376" y="2340864"/>
            <a:ext cx="1691640" cy="457200"/>
          </a:xfrm>
          <a:prstGeom prst="rect">
            <a:avLst/>
          </a:prstGeom>
          <a:noFill/>
        </p:spPr>
        <p:txBody>
          <a:bodyPr wrap="square" lIns="0" rIns="0" tIns="0" bIns="0" anchor="t">
            <a:spAutoFit/>
          </a:bodyPr>
          <a:lstStyle/>
          <a:p>
            <a:pPr algn="l">
              <a:lnSpc>
                <a:spcPct val="115000"/>
              </a:lnSpc>
              <a:spcAft>
                <a:spcPts val="0"/>
              </a:spcAft>
            </a:pPr>
            <a:r>
              <a:rPr sz="900" b="0" i="0">
                <a:solidFill>
                  <a:srgbClr val="6B7280"/>
                </a:solidFill>
                <a:latin typeface="Arial"/>
              </a:rPr>
              <a:t>Scan QR di</a:t>
            </a:r>
          </a:p>
          <a:p>
            <a:pPr algn="l">
              <a:lnSpc>
                <a:spcPct val="115000"/>
              </a:lnSpc>
              <a:spcAft>
                <a:spcPts val="0"/>
              </a:spcAft>
            </a:pPr>
            <a:r>
              <a:rPr sz="900" b="0" i="0">
                <a:solidFill>
                  <a:srgbClr val="6B7280"/>
                </a:solidFill>
                <a:latin typeface="Arial"/>
              </a:rPr>
              <a:t>lokasi</a:t>
            </a:r>
          </a:p>
        </p:txBody>
      </p:sp>
      <p:sp>
        <p:nvSpPr>
          <p:cNvPr id="25" name="TextBox 24"/>
          <p:cNvSpPr txBox="1"/>
          <p:nvPr/>
        </p:nvSpPr>
        <p:spPr>
          <a:xfrm>
            <a:off x="9445752" y="2130552"/>
            <a:ext cx="256032" cy="274320"/>
          </a:xfrm>
          <a:prstGeom prst="rect">
            <a:avLst/>
          </a:prstGeom>
          <a:noFill/>
        </p:spPr>
        <p:txBody>
          <a:bodyPr wrap="square" lIns="0" rIns="0" tIns="0" bIns="0" anchor="t">
            <a:spAutoFit/>
          </a:bodyPr>
          <a:lstStyle/>
          <a:p>
            <a:pPr algn="l">
              <a:lnSpc>
                <a:spcPct val="112000"/>
              </a:lnSpc>
              <a:spcAft>
                <a:spcPts val="0"/>
              </a:spcAft>
            </a:pPr>
            <a:r>
              <a:rPr sz="1700" b="1" i="0">
                <a:solidFill>
                  <a:srgbClr val="FF5A5F"/>
                </a:solidFill>
                <a:latin typeface="Arial"/>
              </a:rPr>
              <a:t>›</a:t>
            </a:r>
          </a:p>
        </p:txBody>
      </p:sp>
      <p:sp>
        <p:nvSpPr>
          <p:cNvPr id="26" name="Rounded Rectangle 25"/>
          <p:cNvSpPr/>
          <p:nvPr/>
        </p:nvSpPr>
        <p:spPr>
          <a:xfrm>
            <a:off x="9674352" y="1783080"/>
            <a:ext cx="2011680" cy="1078992"/>
          </a:xfrm>
          <a:prstGeom prst="roundRect">
            <a:avLst>
              <a:gd name="adj" fmla="val 8000"/>
            </a:avLst>
          </a:prstGeom>
          <a:solidFill>
            <a:srgbClr val="FFFFFF"/>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7" name="Oval 26"/>
          <p:cNvSpPr/>
          <p:nvPr/>
        </p:nvSpPr>
        <p:spPr>
          <a:xfrm>
            <a:off x="9838944" y="1947672"/>
            <a:ext cx="329184" cy="329184"/>
          </a:xfrm>
          <a:prstGeom prst="ellipse">
            <a:avLst/>
          </a:prstGeom>
          <a:solidFill>
            <a:srgbClr val="FF5A5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50" b="1">
                <a:solidFill>
                  <a:srgbClr val="FFFFFF"/>
                </a:solidFill>
                <a:latin typeface="Arial"/>
              </a:rPr>
              <a:t>5</a:t>
            </a:r>
          </a:p>
        </p:txBody>
      </p:sp>
      <p:sp>
        <p:nvSpPr>
          <p:cNvPr id="28" name="TextBox 27"/>
          <p:cNvSpPr txBox="1"/>
          <p:nvPr/>
        </p:nvSpPr>
        <p:spPr>
          <a:xfrm>
            <a:off x="10250424" y="1956816"/>
            <a:ext cx="1325880" cy="274320"/>
          </a:xfrm>
          <a:prstGeom prst="rect">
            <a:avLst/>
          </a:prstGeom>
          <a:noFill/>
        </p:spPr>
        <p:txBody>
          <a:bodyPr wrap="square" lIns="0" rIns="0" tIns="0" bIns="0" anchor="t">
            <a:spAutoFit/>
          </a:bodyPr>
          <a:lstStyle/>
          <a:p>
            <a:pPr algn="l">
              <a:lnSpc>
                <a:spcPct val="112000"/>
              </a:lnSpc>
              <a:spcAft>
                <a:spcPts val="0"/>
              </a:spcAft>
            </a:pPr>
            <a:r>
              <a:rPr sz="1250" b="1" i="0">
                <a:solidFill>
                  <a:srgbClr val="1F2937"/>
                </a:solidFill>
                <a:latin typeface="Arial"/>
              </a:rPr>
              <a:t>Ulas</a:t>
            </a:r>
          </a:p>
        </p:txBody>
      </p:sp>
      <p:sp>
        <p:nvSpPr>
          <p:cNvPr id="29" name="TextBox 28"/>
          <p:cNvSpPr txBox="1"/>
          <p:nvPr/>
        </p:nvSpPr>
        <p:spPr>
          <a:xfrm>
            <a:off x="9838944" y="2340864"/>
            <a:ext cx="1691640" cy="457200"/>
          </a:xfrm>
          <a:prstGeom prst="rect">
            <a:avLst/>
          </a:prstGeom>
          <a:noFill/>
        </p:spPr>
        <p:txBody>
          <a:bodyPr wrap="square" lIns="0" rIns="0" tIns="0" bIns="0" anchor="t">
            <a:spAutoFit/>
          </a:bodyPr>
          <a:lstStyle/>
          <a:p>
            <a:pPr algn="l">
              <a:lnSpc>
                <a:spcPct val="115000"/>
              </a:lnSpc>
              <a:spcAft>
                <a:spcPts val="0"/>
              </a:spcAft>
            </a:pPr>
            <a:r>
              <a:rPr sz="900" b="0" i="0">
                <a:solidFill>
                  <a:srgbClr val="6B7280"/>
                </a:solidFill>
                <a:latin typeface="Arial"/>
              </a:rPr>
              <a:t>Rating, tag,</a:t>
            </a:r>
          </a:p>
          <a:p>
            <a:pPr algn="l">
              <a:lnSpc>
                <a:spcPct val="115000"/>
              </a:lnSpc>
              <a:spcAft>
                <a:spcPts val="0"/>
              </a:spcAft>
            </a:pPr>
            <a:r>
              <a:rPr sz="900" b="0" i="0">
                <a:solidFill>
                  <a:srgbClr val="6B7280"/>
                </a:solidFill>
                <a:latin typeface="Arial"/>
              </a:rPr>
              <a:t>badge</a:t>
            </a:r>
          </a:p>
        </p:txBody>
      </p:sp>
      <p:sp>
        <p:nvSpPr>
          <p:cNvPr id="30" name="Rounded Rectangle 29"/>
          <p:cNvSpPr/>
          <p:nvPr/>
        </p:nvSpPr>
        <p:spPr>
          <a:xfrm>
            <a:off x="640080" y="3127248"/>
            <a:ext cx="3456432" cy="1773936"/>
          </a:xfrm>
          <a:prstGeom prst="roundRect">
            <a:avLst>
              <a:gd name="adj" fmla="val 8000"/>
            </a:avLst>
          </a:prstGeom>
          <a:solidFill>
            <a:srgbClr val="FFFFFF"/>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1" name="Rounded Rectangle 30"/>
          <p:cNvSpPr/>
          <p:nvPr/>
        </p:nvSpPr>
        <p:spPr>
          <a:xfrm>
            <a:off x="640080" y="3127248"/>
            <a:ext cx="54864" cy="1773936"/>
          </a:xfrm>
          <a:prstGeom prst="roundRect">
            <a:avLst>
              <a:gd name="adj" fmla="val 0"/>
            </a:avLst>
          </a:prstGeom>
          <a:solidFill>
            <a:srgbClr val="FF5A5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2" name="TextBox 31"/>
          <p:cNvSpPr txBox="1"/>
          <p:nvPr/>
        </p:nvSpPr>
        <p:spPr>
          <a:xfrm>
            <a:off x="877824" y="3291840"/>
            <a:ext cx="2926080" cy="274320"/>
          </a:xfrm>
          <a:prstGeom prst="rect">
            <a:avLst/>
          </a:prstGeom>
          <a:noFill/>
        </p:spPr>
        <p:txBody>
          <a:bodyPr wrap="square" lIns="0" rIns="0" tIns="0" bIns="0" anchor="t">
            <a:spAutoFit/>
          </a:bodyPr>
          <a:lstStyle/>
          <a:p>
            <a:pPr algn="l">
              <a:lnSpc>
                <a:spcPct val="112000"/>
              </a:lnSpc>
              <a:spcAft>
                <a:spcPts val="0"/>
              </a:spcAft>
            </a:pPr>
            <a:r>
              <a:rPr sz="1300" b="1" i="0">
                <a:solidFill>
                  <a:srgbClr val="1F2937"/>
                </a:solidFill>
                <a:latin typeface="Arial"/>
              </a:rPr>
              <a:t>QR verified review</a:t>
            </a:r>
          </a:p>
        </p:txBody>
      </p:sp>
      <p:sp>
        <p:nvSpPr>
          <p:cNvPr id="33" name="TextBox 32"/>
          <p:cNvSpPr txBox="1"/>
          <p:nvPr/>
        </p:nvSpPr>
        <p:spPr>
          <a:xfrm>
            <a:off x="877824" y="3639312"/>
            <a:ext cx="2971800" cy="1188720"/>
          </a:xfrm>
          <a:prstGeom prst="rect">
            <a:avLst/>
          </a:prstGeom>
          <a:noFill/>
        </p:spPr>
        <p:txBody>
          <a:bodyPr wrap="square" lIns="0" rIns="0" tIns="0" bIns="0">
            <a:spAutoFit/>
          </a:bodyPr>
          <a:lstStyle/>
          <a:p>
            <a:pPr marL="201168" indent="-201168">
              <a:lnSpc>
                <a:spcPct val="112000"/>
              </a:lnSpc>
              <a:spcAft>
                <a:spcPts val="600"/>
              </a:spcAft>
              <a:buClr>
                <a:srgbClr val="FF5A5F"/>
              </a:buClr>
              <a:buFont typeface="Arial"/>
              <a:buChar char="•"/>
            </a:pPr>
            <a:r>
              <a:rPr sz="980" b="0">
                <a:solidFill>
                  <a:srgbClr val="333D4A"/>
                </a:solidFill>
                <a:latin typeface="Arial"/>
              </a:rPr>
              <a:t>Akses ulasan dibuka lewat scan QR per spot.</a:t>
            </a:r>
          </a:p>
          <a:p>
            <a:pPr marL="201168" indent="-201168">
              <a:lnSpc>
                <a:spcPct val="112000"/>
              </a:lnSpc>
              <a:spcAft>
                <a:spcPts val="600"/>
              </a:spcAft>
              <a:buClr>
                <a:srgbClr val="FF5A5F"/>
              </a:buClr>
              <a:buFont typeface="Arial"/>
              <a:buChar char="•"/>
            </a:pPr>
            <a:r>
              <a:rPr sz="980" b="0">
                <a:solidFill>
                  <a:srgbClr val="333D4A"/>
                </a:solidFill>
                <a:latin typeface="Arial"/>
              </a:rPr>
              <a:t>Token akses berlaku 10 menit, disimpan berversi.</a:t>
            </a:r>
          </a:p>
          <a:p>
            <a:pPr marL="201168" indent="-201168">
              <a:lnSpc>
                <a:spcPct val="112000"/>
              </a:lnSpc>
              <a:spcAft>
                <a:spcPts val="600"/>
              </a:spcAft>
              <a:buClr>
                <a:srgbClr val="FF5A5F"/>
              </a:buClr>
              <a:buFont typeface="Arial"/>
              <a:buChar char="•"/>
            </a:pPr>
            <a:r>
              <a:rPr sz="980" b="0">
                <a:solidFill>
                  <a:srgbClr val="333D4A"/>
                </a:solidFill>
                <a:latin typeface="Arial"/>
              </a:rPr>
              <a:t>Kunjungan tercatat sebagai SpotVisit saat ulasan dibuat.</a:t>
            </a:r>
          </a:p>
        </p:txBody>
      </p:sp>
      <p:sp>
        <p:nvSpPr>
          <p:cNvPr id="34" name="Rounded Rectangle 33"/>
          <p:cNvSpPr/>
          <p:nvPr/>
        </p:nvSpPr>
        <p:spPr>
          <a:xfrm>
            <a:off x="4361688" y="3127248"/>
            <a:ext cx="3456432" cy="1773936"/>
          </a:xfrm>
          <a:prstGeom prst="roundRect">
            <a:avLst>
              <a:gd name="adj" fmla="val 8000"/>
            </a:avLst>
          </a:prstGeom>
          <a:solidFill>
            <a:srgbClr val="FFFFFF"/>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5" name="Rounded Rectangle 34"/>
          <p:cNvSpPr/>
          <p:nvPr/>
        </p:nvSpPr>
        <p:spPr>
          <a:xfrm>
            <a:off x="4361688" y="3127248"/>
            <a:ext cx="54864" cy="1773936"/>
          </a:xfrm>
          <a:prstGeom prst="roundRect">
            <a:avLst>
              <a:gd name="adj" fmla="val 0"/>
            </a:avLst>
          </a:prstGeom>
          <a:solidFill>
            <a:srgbClr val="FFB4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6" name="TextBox 35"/>
          <p:cNvSpPr txBox="1"/>
          <p:nvPr/>
        </p:nvSpPr>
        <p:spPr>
          <a:xfrm>
            <a:off x="4599432" y="3291840"/>
            <a:ext cx="2926080" cy="274320"/>
          </a:xfrm>
          <a:prstGeom prst="rect">
            <a:avLst/>
          </a:prstGeom>
          <a:noFill/>
        </p:spPr>
        <p:txBody>
          <a:bodyPr wrap="square" lIns="0" rIns="0" tIns="0" bIns="0" anchor="t">
            <a:spAutoFit/>
          </a:bodyPr>
          <a:lstStyle/>
          <a:p>
            <a:pPr algn="l">
              <a:lnSpc>
                <a:spcPct val="112000"/>
              </a:lnSpc>
              <a:spcAft>
                <a:spcPts val="0"/>
              </a:spcAft>
            </a:pPr>
            <a:r>
              <a:rPr sz="1300" b="1" i="0">
                <a:solidFill>
                  <a:srgbClr val="1F2937"/>
                </a:solidFill>
                <a:latin typeface="Arial"/>
              </a:rPr>
              <a:t>Hype Reels</a:t>
            </a:r>
          </a:p>
        </p:txBody>
      </p:sp>
      <p:sp>
        <p:nvSpPr>
          <p:cNvPr id="37" name="TextBox 36"/>
          <p:cNvSpPr txBox="1"/>
          <p:nvPr/>
        </p:nvSpPr>
        <p:spPr>
          <a:xfrm>
            <a:off x="4599432" y="3639312"/>
            <a:ext cx="2971800" cy="1188720"/>
          </a:xfrm>
          <a:prstGeom prst="rect">
            <a:avLst/>
          </a:prstGeom>
          <a:noFill/>
        </p:spPr>
        <p:txBody>
          <a:bodyPr wrap="square" lIns="0" rIns="0" tIns="0" bIns="0">
            <a:spAutoFit/>
          </a:bodyPr>
          <a:lstStyle/>
          <a:p>
            <a:pPr marL="201168" indent="-201168">
              <a:lnSpc>
                <a:spcPct val="112000"/>
              </a:lnSpc>
              <a:spcAft>
                <a:spcPts val="600"/>
              </a:spcAft>
              <a:buClr>
                <a:srgbClr val="FFB400"/>
              </a:buClr>
              <a:buFont typeface="Arial"/>
              <a:buChar char="•"/>
            </a:pPr>
            <a:r>
              <a:rPr sz="980" b="0">
                <a:solidFill>
                  <a:srgbClr val="333D4A"/>
                </a:solidFill>
                <a:latin typeface="Arial"/>
              </a:rPr>
              <a:t>Feed vertikal: video dan carousel foto.</a:t>
            </a:r>
          </a:p>
          <a:p>
            <a:pPr marL="201168" indent="-201168">
              <a:lnSpc>
                <a:spcPct val="112000"/>
              </a:lnSpc>
              <a:spcAft>
                <a:spcPts val="600"/>
              </a:spcAft>
              <a:buClr>
                <a:srgbClr val="FFB400"/>
              </a:buClr>
              <a:buFont typeface="Arial"/>
              <a:buChar char="•"/>
            </a:pPr>
            <a:r>
              <a:rPr sz="980" b="0">
                <a:solidFill>
                  <a:srgbClr val="333D4A"/>
                </a:solidFill>
                <a:latin typeface="Arial"/>
              </a:rPr>
              <a:t>Metrik like, komentar, share per item.</a:t>
            </a:r>
          </a:p>
          <a:p>
            <a:pPr marL="201168" indent="-201168">
              <a:lnSpc>
                <a:spcPct val="112000"/>
              </a:lnSpc>
              <a:spcAft>
                <a:spcPts val="600"/>
              </a:spcAft>
              <a:buClr>
                <a:srgbClr val="FFB400"/>
              </a:buClr>
              <a:buFont typeface="Arial"/>
              <a:buChar char="•"/>
            </a:pPr>
            <a:r>
              <a:rPr sz="980" b="0">
                <a:solidFill>
                  <a:srgbClr val="333D4A"/>
                </a:solidFill>
                <a:latin typeface="Arial"/>
              </a:rPr>
              <a:t>Route /hype memakai layout layar penuh.</a:t>
            </a:r>
          </a:p>
        </p:txBody>
      </p:sp>
      <p:sp>
        <p:nvSpPr>
          <p:cNvPr id="38" name="Rounded Rectangle 37"/>
          <p:cNvSpPr/>
          <p:nvPr/>
        </p:nvSpPr>
        <p:spPr>
          <a:xfrm>
            <a:off x="8083296" y="3127248"/>
            <a:ext cx="3456432" cy="1773936"/>
          </a:xfrm>
          <a:prstGeom prst="roundRect">
            <a:avLst>
              <a:gd name="adj" fmla="val 8000"/>
            </a:avLst>
          </a:prstGeom>
          <a:solidFill>
            <a:srgbClr val="FFFFFF"/>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9" name="Rounded Rectangle 38"/>
          <p:cNvSpPr/>
          <p:nvPr/>
        </p:nvSpPr>
        <p:spPr>
          <a:xfrm>
            <a:off x="8083296" y="3127248"/>
            <a:ext cx="54864" cy="1773936"/>
          </a:xfrm>
          <a:prstGeom prst="roundRect">
            <a:avLst>
              <a:gd name="adj" fmla="val 0"/>
            </a:avLst>
          </a:prstGeom>
          <a:solidFill>
            <a:srgbClr val="333D4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0" name="TextBox 39"/>
          <p:cNvSpPr txBox="1"/>
          <p:nvPr/>
        </p:nvSpPr>
        <p:spPr>
          <a:xfrm>
            <a:off x="8321040" y="3291840"/>
            <a:ext cx="2926080" cy="274320"/>
          </a:xfrm>
          <a:prstGeom prst="rect">
            <a:avLst/>
          </a:prstGeom>
          <a:noFill/>
        </p:spPr>
        <p:txBody>
          <a:bodyPr wrap="square" lIns="0" rIns="0" tIns="0" bIns="0" anchor="t">
            <a:spAutoFit/>
          </a:bodyPr>
          <a:lstStyle/>
          <a:p>
            <a:pPr algn="l">
              <a:lnSpc>
                <a:spcPct val="112000"/>
              </a:lnSpc>
              <a:spcAft>
                <a:spcPts val="0"/>
              </a:spcAft>
            </a:pPr>
            <a:r>
              <a:rPr sz="1300" b="1" i="0">
                <a:solidFill>
                  <a:srgbClr val="1F2937"/>
                </a:solidFill>
                <a:latin typeface="Arial"/>
              </a:rPr>
              <a:t>Rekomendasi lokasi</a:t>
            </a:r>
          </a:p>
        </p:txBody>
      </p:sp>
      <p:sp>
        <p:nvSpPr>
          <p:cNvPr id="41" name="TextBox 40"/>
          <p:cNvSpPr txBox="1"/>
          <p:nvPr/>
        </p:nvSpPr>
        <p:spPr>
          <a:xfrm>
            <a:off x="8321040" y="3639312"/>
            <a:ext cx="2971800" cy="1188720"/>
          </a:xfrm>
          <a:prstGeom prst="rect">
            <a:avLst/>
          </a:prstGeom>
          <a:noFill/>
        </p:spPr>
        <p:txBody>
          <a:bodyPr wrap="square" lIns="0" rIns="0" tIns="0" bIns="0">
            <a:spAutoFit/>
          </a:bodyPr>
          <a:lstStyle/>
          <a:p>
            <a:pPr marL="201168" indent="-201168">
              <a:lnSpc>
                <a:spcPct val="112000"/>
              </a:lnSpc>
              <a:spcAft>
                <a:spcPts val="600"/>
              </a:spcAft>
              <a:buClr>
                <a:srgbClr val="333D4A"/>
              </a:buClr>
              <a:buFont typeface="Arial"/>
              <a:buChar char="•"/>
            </a:pPr>
            <a:r>
              <a:rPr sz="980" b="0">
                <a:solidFill>
                  <a:srgbClr val="333D4A"/>
                </a:solidFill>
                <a:latin typeface="Arial"/>
              </a:rPr>
              <a:t>Lokasi browser atau pilih manual.</a:t>
            </a:r>
          </a:p>
          <a:p>
            <a:pPr marL="201168" indent="-201168">
              <a:lnSpc>
                <a:spcPct val="112000"/>
              </a:lnSpc>
              <a:spcAft>
                <a:spcPts val="600"/>
              </a:spcAft>
              <a:buClr>
                <a:srgbClr val="333D4A"/>
              </a:buClr>
              <a:buFont typeface="Arial"/>
              <a:buChar char="•"/>
            </a:pPr>
            <a:r>
              <a:rPr sz="980" b="0">
                <a:solidFill>
                  <a:srgbClr val="333D4A"/>
                </a:solidFill>
                <a:latin typeface="Arial"/>
              </a:rPr>
              <a:t>Jarak dihitung Haversine di src/lib/location.ts.</a:t>
            </a:r>
          </a:p>
          <a:p>
            <a:pPr marL="201168" indent="-201168">
              <a:lnSpc>
                <a:spcPct val="112000"/>
              </a:lnSpc>
              <a:spcAft>
                <a:spcPts val="600"/>
              </a:spcAft>
              <a:buClr>
                <a:srgbClr val="333D4A"/>
              </a:buClr>
              <a:buFont typeface="Arial"/>
              <a:buChar char="•"/>
            </a:pPr>
            <a:r>
              <a:rPr sz="980" b="0">
                <a:solidFill>
                  <a:srgbClr val="333D4A"/>
                </a:solidFill>
                <a:latin typeface="Arial"/>
              </a:rPr>
              <a:t>Rekomendasi memfilter spot &amp; event sekitar.</a:t>
            </a:r>
          </a:p>
        </p:txBody>
      </p:sp>
      <p:sp>
        <p:nvSpPr>
          <p:cNvPr id="42" name="Rounded Rectangle 41"/>
          <p:cNvSpPr/>
          <p:nvPr/>
        </p:nvSpPr>
        <p:spPr>
          <a:xfrm>
            <a:off x="640080" y="5138928"/>
            <a:ext cx="10908792" cy="822960"/>
          </a:xfrm>
          <a:prstGeom prst="roundRect">
            <a:avLst>
              <a:gd name="adj" fmla="val 8000"/>
            </a:avLst>
          </a:prstGeom>
          <a:solidFill>
            <a:srgbClr val="E8F6E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3" name="Rounded Rectangle 42"/>
          <p:cNvSpPr/>
          <p:nvPr/>
        </p:nvSpPr>
        <p:spPr>
          <a:xfrm>
            <a:off x="640080" y="5138928"/>
            <a:ext cx="50292" cy="822960"/>
          </a:xfrm>
          <a:prstGeom prst="roundRect">
            <a:avLst>
              <a:gd name="adj" fmla="val 0"/>
            </a:avLst>
          </a:prstGeom>
          <a:solidFill>
            <a:srgbClr val="1F9D6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4" name="TextBox 43"/>
          <p:cNvSpPr txBox="1"/>
          <p:nvPr/>
        </p:nvSpPr>
        <p:spPr>
          <a:xfrm>
            <a:off x="859536" y="5276088"/>
            <a:ext cx="10543032" cy="237744"/>
          </a:xfrm>
          <a:prstGeom prst="rect">
            <a:avLst/>
          </a:prstGeom>
          <a:noFill/>
        </p:spPr>
        <p:txBody>
          <a:bodyPr wrap="square" lIns="0" rIns="0" tIns="0" bIns="0" anchor="t">
            <a:spAutoFit/>
          </a:bodyPr>
          <a:lstStyle/>
          <a:p>
            <a:pPr algn="l">
              <a:lnSpc>
                <a:spcPct val="112000"/>
              </a:lnSpc>
              <a:spcAft>
                <a:spcPts val="0"/>
              </a:spcAft>
            </a:pPr>
            <a:r>
              <a:rPr sz="1100" b="1" i="0">
                <a:solidFill>
                  <a:srgbClr val="1F2937"/>
                </a:solidFill>
                <a:latin typeface="Arial"/>
              </a:rPr>
              <a:t>Kenapa alur ini penting untuk bisnis</a:t>
            </a:r>
          </a:p>
        </p:txBody>
      </p:sp>
      <p:sp>
        <p:nvSpPr>
          <p:cNvPr id="45" name="TextBox 44"/>
          <p:cNvSpPr txBox="1"/>
          <p:nvPr/>
        </p:nvSpPr>
        <p:spPr>
          <a:xfrm>
            <a:off x="859536" y="5550408"/>
            <a:ext cx="10524744" cy="320040"/>
          </a:xfrm>
          <a:prstGeom prst="rect">
            <a:avLst/>
          </a:prstGeom>
          <a:noFill/>
        </p:spPr>
        <p:txBody>
          <a:bodyPr wrap="square" lIns="0" rIns="0" tIns="0" bIns="0" anchor="t">
            <a:spAutoFit/>
          </a:bodyPr>
          <a:lstStyle/>
          <a:p>
            <a:pPr algn="l">
              <a:lnSpc>
                <a:spcPct val="125000"/>
              </a:lnSpc>
              <a:spcAft>
                <a:spcPts val="0"/>
              </a:spcAft>
            </a:pPr>
            <a:r>
              <a:rPr sz="1050" b="0" i="0">
                <a:solidFill>
                  <a:srgbClr val="333D4A"/>
                </a:solidFill>
                <a:latin typeface="Arial"/>
              </a:rPr>
              <a:t>Setiap langkah menghasilkan sinyal yang bisa dipakai ulang: bookmark untuk minat, kehadiran untuk retensi, kunjungan QR untuk membuktikan objektivitas ulasan.</a:t>
            </a:r>
          </a:p>
        </p:txBody>
      </p:sp>
      <p:sp>
        <p:nvSpPr>
          <p:cNvPr id="46" name="TextBox 45"/>
          <p:cNvSpPr txBox="1"/>
          <p:nvPr/>
        </p:nvSpPr>
        <p:spPr>
          <a:xfrm>
            <a:off x="640080" y="6080760"/>
            <a:ext cx="10881360" cy="274320"/>
          </a:xfrm>
          <a:prstGeom prst="rect">
            <a:avLst/>
          </a:prstGeom>
          <a:noFill/>
        </p:spPr>
        <p:txBody>
          <a:bodyPr wrap="square" lIns="0" rIns="0" tIns="0" bIns="0" anchor="t">
            <a:spAutoFit/>
          </a:bodyPr>
          <a:lstStyle/>
          <a:p>
            <a:pPr algn="l">
              <a:lnSpc>
                <a:spcPct val="112000"/>
              </a:lnSpc>
              <a:spcAft>
                <a:spcPts val="0"/>
              </a:spcAft>
            </a:pPr>
            <a:r>
              <a:rPr sz="950" b="0" i="0">
                <a:solidFill>
                  <a:srgbClr val="6B7280"/>
                </a:solidFill>
                <a:latin typeface="Arial"/>
              </a:rPr>
              <a:t>Sinyal engagement disimpan di 8 Zustand store dengan localStorage berversi (:v1) — siap dipindah ke API.</a:t>
            </a:r>
          </a:p>
        </p:txBody>
      </p:sp>
      <p:sp>
        <p:nvSpPr>
          <p:cNvPr id="47" name="Rounded Rectangle 46"/>
          <p:cNvSpPr/>
          <p:nvPr/>
        </p:nvSpPr>
        <p:spPr>
          <a:xfrm>
            <a:off x="640080" y="6419088"/>
            <a:ext cx="10908792" cy="7315"/>
          </a:xfrm>
          <a:prstGeom prst="roundRect">
            <a:avLst>
              <a:gd name="adj" fmla="val 0"/>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8" name="Rounded Rectangle 47"/>
          <p:cNvSpPr/>
          <p:nvPr/>
        </p:nvSpPr>
        <p:spPr>
          <a:xfrm>
            <a:off x="640080" y="6537960"/>
            <a:ext cx="224942" cy="224942"/>
          </a:xfrm>
          <a:prstGeom prst="roundRect">
            <a:avLst>
              <a:gd name="adj" fmla="val 22000"/>
            </a:avLst>
          </a:prstGeom>
          <a:solidFill>
            <a:srgbClr val="FF5A5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9" name="TextBox 48"/>
          <p:cNvSpPr txBox="1"/>
          <p:nvPr/>
        </p:nvSpPr>
        <p:spPr>
          <a:xfrm>
            <a:off x="640080" y="6526987"/>
            <a:ext cx="224942" cy="224942"/>
          </a:xfrm>
          <a:prstGeom prst="rect">
            <a:avLst/>
          </a:prstGeom>
          <a:noFill/>
        </p:spPr>
        <p:txBody>
          <a:bodyPr wrap="square" lIns="0" rIns="0" tIns="0" bIns="0" anchor="ctr">
            <a:spAutoFit/>
          </a:bodyPr>
          <a:lstStyle/>
          <a:p>
            <a:pPr algn="ctr">
              <a:lnSpc>
                <a:spcPct val="112000"/>
              </a:lnSpc>
              <a:spcAft>
                <a:spcPts val="0"/>
              </a:spcAft>
            </a:pPr>
            <a:r>
              <a:rPr sz="1066" b="1" i="0">
                <a:solidFill>
                  <a:srgbClr val="FFFFFF"/>
                </a:solidFill>
                <a:latin typeface="Arial"/>
              </a:rPr>
              <a:t>n</a:t>
            </a:r>
          </a:p>
        </p:txBody>
      </p:sp>
      <p:sp>
        <p:nvSpPr>
          <p:cNvPr id="50" name="TextBox 49"/>
          <p:cNvSpPr txBox="1"/>
          <p:nvPr/>
        </p:nvSpPr>
        <p:spPr>
          <a:xfrm>
            <a:off x="932505" y="6510528"/>
            <a:ext cx="899769" cy="224942"/>
          </a:xfrm>
          <a:prstGeom prst="rect">
            <a:avLst/>
          </a:prstGeom>
          <a:noFill/>
        </p:spPr>
        <p:txBody>
          <a:bodyPr wrap="square" lIns="0" rIns="0" tIns="0" bIns="0" anchor="t">
            <a:spAutoFit/>
          </a:bodyPr>
          <a:lstStyle/>
          <a:p>
            <a:pPr algn="l">
              <a:lnSpc>
                <a:spcPct val="112000"/>
              </a:lnSpc>
              <a:spcAft>
                <a:spcPts val="0"/>
              </a:spcAft>
            </a:pPr>
            <a:r>
              <a:rPr sz="1066" b="1" i="0">
                <a:solidFill>
                  <a:srgbClr val="1F2937"/>
                </a:solidFill>
                <a:latin typeface="Arial"/>
              </a:rPr>
              <a:t>NgeTag</a:t>
            </a:r>
          </a:p>
        </p:txBody>
      </p:sp>
      <p:sp>
        <p:nvSpPr>
          <p:cNvPr id="51" name="TextBox 50"/>
          <p:cNvSpPr txBox="1"/>
          <p:nvPr/>
        </p:nvSpPr>
        <p:spPr>
          <a:xfrm>
            <a:off x="1600200" y="6556248"/>
            <a:ext cx="5486400" cy="201168"/>
          </a:xfrm>
          <a:prstGeom prst="rect">
            <a:avLst/>
          </a:prstGeom>
          <a:noFill/>
        </p:spPr>
        <p:txBody>
          <a:bodyPr wrap="square" lIns="0" rIns="0" tIns="0" bIns="0" anchor="t">
            <a:spAutoFit/>
          </a:bodyPr>
          <a:lstStyle/>
          <a:p>
            <a:pPr algn="l">
              <a:lnSpc>
                <a:spcPct val="112000"/>
              </a:lnSpc>
              <a:spcAft>
                <a:spcPts val="0"/>
              </a:spcAft>
            </a:pPr>
            <a:r>
              <a:rPr sz="850" b="0" i="0">
                <a:solidFill>
                  <a:srgbClr val="6B7280"/>
                </a:solidFill>
                <a:latin typeface="Arial"/>
              </a:rPr>
              <a:t>NgeTag · Review Repository &amp; Seed Data User</a:t>
            </a:r>
          </a:p>
        </p:txBody>
      </p:sp>
      <p:sp>
        <p:nvSpPr>
          <p:cNvPr id="52" name="TextBox 51"/>
          <p:cNvSpPr txBox="1"/>
          <p:nvPr/>
        </p:nvSpPr>
        <p:spPr>
          <a:xfrm>
            <a:off x="10607040" y="6556248"/>
            <a:ext cx="941832" cy="201168"/>
          </a:xfrm>
          <a:prstGeom prst="rect">
            <a:avLst/>
          </a:prstGeom>
          <a:noFill/>
        </p:spPr>
        <p:txBody>
          <a:bodyPr wrap="square" lIns="0" rIns="0" tIns="0" bIns="0" anchor="t">
            <a:spAutoFit/>
          </a:bodyPr>
          <a:lstStyle/>
          <a:p>
            <a:pPr algn="r">
              <a:lnSpc>
                <a:spcPct val="112000"/>
              </a:lnSpc>
              <a:spcAft>
                <a:spcPts val="0"/>
              </a:spcAft>
            </a:pPr>
            <a:r>
              <a:rPr sz="850" b="0" i="0">
                <a:solidFill>
                  <a:srgbClr val="6B7280"/>
                </a:solidFill>
                <a:latin typeface="Arial"/>
              </a:rPr>
              <a:t>07 / 22</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5161B"/>
        </a:solidFill>
        <a:effectLst/>
      </p:bgPr>
    </p:bg>
    <p:spTree>
      <p:nvGrpSpPr>
        <p:cNvPr id="1" name=""/>
        <p:cNvGrpSpPr/>
        <p:nvPr/>
      </p:nvGrpSpPr>
      <p:grpSpPr/>
      <p:sp>
        <p:nvSpPr>
          <p:cNvPr id="2" name="Oval 1"/>
          <p:cNvSpPr/>
          <p:nvPr/>
        </p:nvSpPr>
        <p:spPr>
          <a:xfrm>
            <a:off x="9052560" y="-1371600"/>
            <a:ext cx="4754880" cy="4754880"/>
          </a:xfrm>
          <a:prstGeom prst="ellipse">
            <a:avLst/>
          </a:prstGeom>
          <a:noFill/>
          <a:ln w="15240">
            <a:solidFill>
              <a:srgbClr val="2E3038"/>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 name="Oval 2"/>
          <p:cNvSpPr/>
          <p:nvPr/>
        </p:nvSpPr>
        <p:spPr>
          <a:xfrm>
            <a:off x="10424160" y="3566160"/>
            <a:ext cx="3291840" cy="3291840"/>
          </a:xfrm>
          <a:prstGeom prst="ellipse">
            <a:avLst/>
          </a:prstGeom>
          <a:solidFill>
            <a:srgbClr val="2324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Rounded Rectangle 3"/>
          <p:cNvSpPr/>
          <p:nvPr/>
        </p:nvSpPr>
        <p:spPr>
          <a:xfrm>
            <a:off x="640080" y="1417320"/>
            <a:ext cx="54864" cy="1874519"/>
          </a:xfrm>
          <a:prstGeom prst="roundRect">
            <a:avLst>
              <a:gd name="adj" fmla="val 0"/>
            </a:avLst>
          </a:prstGeom>
          <a:solidFill>
            <a:srgbClr val="FF5A5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TextBox 4"/>
          <p:cNvSpPr txBox="1"/>
          <p:nvPr/>
        </p:nvSpPr>
        <p:spPr>
          <a:xfrm>
            <a:off x="960120" y="1097280"/>
            <a:ext cx="3657600" cy="274320"/>
          </a:xfrm>
          <a:prstGeom prst="rect">
            <a:avLst/>
          </a:prstGeom>
          <a:noFill/>
        </p:spPr>
        <p:txBody>
          <a:bodyPr wrap="square" lIns="0" rIns="0" tIns="0" bIns="0" anchor="t">
            <a:spAutoFit/>
          </a:bodyPr>
          <a:lstStyle/>
          <a:p>
            <a:pPr algn="l">
              <a:lnSpc>
                <a:spcPct val="112000"/>
              </a:lnSpc>
              <a:spcAft>
                <a:spcPts val="0"/>
              </a:spcAft>
            </a:pPr>
            <a:r>
              <a:rPr sz="1000" b="1" i="0" spc="180">
                <a:solidFill>
                  <a:srgbClr val="FF5A5F"/>
                </a:solidFill>
                <a:latin typeface="Arial"/>
              </a:rPr>
              <a:t>ARSITEKTUR &amp; DATA</a:t>
            </a:r>
          </a:p>
        </p:txBody>
      </p:sp>
      <p:sp>
        <p:nvSpPr>
          <p:cNvPr id="6" name="TextBox 5"/>
          <p:cNvSpPr txBox="1"/>
          <p:nvPr/>
        </p:nvSpPr>
        <p:spPr>
          <a:xfrm>
            <a:off x="960120" y="1417320"/>
            <a:ext cx="2011680" cy="1005840"/>
          </a:xfrm>
          <a:prstGeom prst="rect">
            <a:avLst/>
          </a:prstGeom>
          <a:noFill/>
        </p:spPr>
        <p:txBody>
          <a:bodyPr wrap="square" lIns="0" rIns="0" tIns="0" bIns="0" anchor="t">
            <a:spAutoFit/>
          </a:bodyPr>
          <a:lstStyle/>
          <a:p>
            <a:pPr algn="l">
              <a:lnSpc>
                <a:spcPct val="112000"/>
              </a:lnSpc>
              <a:spcAft>
                <a:spcPts val="0"/>
              </a:spcAft>
            </a:pPr>
            <a:r>
              <a:rPr sz="7200" b="1" i="0">
                <a:solidFill>
                  <a:srgbClr val="FF5A5F"/>
                </a:solidFill>
                <a:latin typeface="Arial"/>
              </a:rPr>
              <a:t>02</a:t>
            </a:r>
          </a:p>
        </p:txBody>
      </p:sp>
      <p:sp>
        <p:nvSpPr>
          <p:cNvPr id="7" name="TextBox 6"/>
          <p:cNvSpPr txBox="1"/>
          <p:nvPr/>
        </p:nvSpPr>
        <p:spPr>
          <a:xfrm>
            <a:off x="960120" y="2505456"/>
            <a:ext cx="9509760" cy="868680"/>
          </a:xfrm>
          <a:prstGeom prst="rect">
            <a:avLst/>
          </a:prstGeom>
          <a:noFill/>
        </p:spPr>
        <p:txBody>
          <a:bodyPr wrap="square" lIns="0" rIns="0" tIns="0" bIns="0" anchor="t">
            <a:spAutoFit/>
          </a:bodyPr>
          <a:lstStyle/>
          <a:p>
            <a:pPr algn="l">
              <a:lnSpc>
                <a:spcPct val="112000"/>
              </a:lnSpc>
              <a:spcAft>
                <a:spcPts val="0"/>
              </a:spcAft>
            </a:pPr>
            <a:r>
              <a:rPr sz="3100" b="1" i="0">
                <a:solidFill>
                  <a:srgbClr val="FFFFFF"/>
                </a:solidFill>
                <a:latin typeface="Arial"/>
              </a:rPr>
              <a:t>Di balik layar</a:t>
            </a:r>
          </a:p>
        </p:txBody>
      </p:sp>
      <p:sp>
        <p:nvSpPr>
          <p:cNvPr id="8" name="TextBox 7"/>
          <p:cNvSpPr txBox="1"/>
          <p:nvPr/>
        </p:nvSpPr>
        <p:spPr>
          <a:xfrm>
            <a:off x="960120" y="3529584"/>
            <a:ext cx="7132320" cy="640080"/>
          </a:xfrm>
          <a:prstGeom prst="rect">
            <a:avLst/>
          </a:prstGeom>
          <a:noFill/>
        </p:spPr>
        <p:txBody>
          <a:bodyPr wrap="square" lIns="0" rIns="0" tIns="0" bIns="0" anchor="t">
            <a:spAutoFit/>
          </a:bodyPr>
          <a:lstStyle/>
          <a:p>
            <a:pPr algn="l">
              <a:lnSpc>
                <a:spcPct val="130000"/>
              </a:lnSpc>
              <a:spcAft>
                <a:spcPts val="0"/>
              </a:spcAft>
            </a:pPr>
            <a:r>
              <a:rPr sz="1300" b="0" i="0">
                <a:solidFill>
                  <a:srgbClr val="B4BAC4"/>
                </a:solidFill>
                <a:latin typeface="Arial"/>
              </a:rPr>
              <a:t>Stack, lapisan aplikasi, permukaan API, dan skema database yang menopang produk.</a:t>
            </a:r>
          </a:p>
        </p:txBody>
      </p:sp>
      <p:sp>
        <p:nvSpPr>
          <p:cNvPr id="9" name="Oval 8"/>
          <p:cNvSpPr/>
          <p:nvPr/>
        </p:nvSpPr>
        <p:spPr>
          <a:xfrm>
            <a:off x="978408" y="4654296"/>
            <a:ext cx="73152" cy="73152"/>
          </a:xfrm>
          <a:prstGeom prst="ellipse">
            <a:avLst/>
          </a:prstGeom>
          <a:solidFill>
            <a:srgbClr val="FF5A5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TextBox 9"/>
          <p:cNvSpPr txBox="1"/>
          <p:nvPr/>
        </p:nvSpPr>
        <p:spPr>
          <a:xfrm>
            <a:off x="1207008" y="4572000"/>
            <a:ext cx="7680960" cy="292608"/>
          </a:xfrm>
          <a:prstGeom prst="rect">
            <a:avLst/>
          </a:prstGeom>
          <a:noFill/>
        </p:spPr>
        <p:txBody>
          <a:bodyPr wrap="square" lIns="0" rIns="0" tIns="0" bIns="0" anchor="t">
            <a:spAutoFit/>
          </a:bodyPr>
          <a:lstStyle/>
          <a:p>
            <a:pPr algn="l">
              <a:lnSpc>
                <a:spcPct val="112000"/>
              </a:lnSpc>
              <a:spcAft>
                <a:spcPts val="0"/>
              </a:spcAft>
            </a:pPr>
            <a:r>
              <a:rPr sz="1200" b="0" i="0">
                <a:solidFill>
                  <a:srgbClr val="DADEE5"/>
                </a:solidFill>
                <a:latin typeface="Arial"/>
              </a:rPr>
              <a:t>App Router + React Server Components</a:t>
            </a:r>
          </a:p>
        </p:txBody>
      </p:sp>
      <p:sp>
        <p:nvSpPr>
          <p:cNvPr id="11" name="Oval 10"/>
          <p:cNvSpPr/>
          <p:nvPr/>
        </p:nvSpPr>
        <p:spPr>
          <a:xfrm>
            <a:off x="978408" y="5020056"/>
            <a:ext cx="73152" cy="73152"/>
          </a:xfrm>
          <a:prstGeom prst="ellipse">
            <a:avLst/>
          </a:prstGeom>
          <a:solidFill>
            <a:srgbClr val="FF5A5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TextBox 11"/>
          <p:cNvSpPr txBox="1"/>
          <p:nvPr/>
        </p:nvSpPr>
        <p:spPr>
          <a:xfrm>
            <a:off x="1207008" y="4937760"/>
            <a:ext cx="7680960" cy="292608"/>
          </a:xfrm>
          <a:prstGeom prst="rect">
            <a:avLst/>
          </a:prstGeom>
          <a:noFill/>
        </p:spPr>
        <p:txBody>
          <a:bodyPr wrap="square" lIns="0" rIns="0" tIns="0" bIns="0" anchor="t">
            <a:spAutoFit/>
          </a:bodyPr>
          <a:lstStyle/>
          <a:p>
            <a:pPr algn="l">
              <a:lnSpc>
                <a:spcPct val="112000"/>
              </a:lnSpc>
              <a:spcAft>
                <a:spcPts val="0"/>
              </a:spcAft>
            </a:pPr>
            <a:r>
              <a:rPr sz="1200" b="0" i="0">
                <a:solidFill>
                  <a:srgbClr val="DADEE5"/>
                </a:solidFill>
                <a:latin typeface="Arial"/>
              </a:rPr>
              <a:t>Repository pattern sebagai satu-satunya pintu data</a:t>
            </a:r>
          </a:p>
        </p:txBody>
      </p:sp>
      <p:sp>
        <p:nvSpPr>
          <p:cNvPr id="13" name="Oval 12"/>
          <p:cNvSpPr/>
          <p:nvPr/>
        </p:nvSpPr>
        <p:spPr>
          <a:xfrm>
            <a:off x="978408" y="5385816"/>
            <a:ext cx="73152" cy="73152"/>
          </a:xfrm>
          <a:prstGeom prst="ellipse">
            <a:avLst/>
          </a:prstGeom>
          <a:solidFill>
            <a:srgbClr val="FF5A5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TextBox 13"/>
          <p:cNvSpPr txBox="1"/>
          <p:nvPr/>
        </p:nvSpPr>
        <p:spPr>
          <a:xfrm>
            <a:off x="1207008" y="5303520"/>
            <a:ext cx="7680960" cy="292608"/>
          </a:xfrm>
          <a:prstGeom prst="rect">
            <a:avLst/>
          </a:prstGeom>
          <a:noFill/>
        </p:spPr>
        <p:txBody>
          <a:bodyPr wrap="square" lIns="0" rIns="0" tIns="0" bIns="0" anchor="t">
            <a:spAutoFit/>
          </a:bodyPr>
          <a:lstStyle/>
          <a:p>
            <a:pPr algn="l">
              <a:lnSpc>
                <a:spcPct val="112000"/>
              </a:lnSpc>
              <a:spcAft>
                <a:spcPts val="0"/>
              </a:spcAft>
            </a:pPr>
            <a:r>
              <a:rPr sz="1200" b="0" i="0">
                <a:solidFill>
                  <a:srgbClr val="DADEE5"/>
                </a:solidFill>
                <a:latin typeface="Arial"/>
              </a:rPr>
              <a:t>32 tabel PostgreSQL via Drizzle ORM, 17 enum</a:t>
            </a:r>
          </a:p>
        </p:txBody>
      </p:sp>
      <p:sp>
        <p:nvSpPr>
          <p:cNvPr id="15" name="Rounded Rectangle 14"/>
          <p:cNvSpPr/>
          <p:nvPr/>
        </p:nvSpPr>
        <p:spPr>
          <a:xfrm>
            <a:off x="640080" y="6400800"/>
            <a:ext cx="224942" cy="224942"/>
          </a:xfrm>
          <a:prstGeom prst="roundRect">
            <a:avLst>
              <a:gd name="adj" fmla="val 22000"/>
            </a:avLst>
          </a:prstGeom>
          <a:solidFill>
            <a:srgbClr val="FF5A5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6" name="TextBox 15"/>
          <p:cNvSpPr txBox="1"/>
          <p:nvPr/>
        </p:nvSpPr>
        <p:spPr>
          <a:xfrm>
            <a:off x="640080" y="6389827"/>
            <a:ext cx="224942" cy="224942"/>
          </a:xfrm>
          <a:prstGeom prst="rect">
            <a:avLst/>
          </a:prstGeom>
          <a:noFill/>
        </p:spPr>
        <p:txBody>
          <a:bodyPr wrap="square" lIns="0" rIns="0" tIns="0" bIns="0" anchor="ctr">
            <a:spAutoFit/>
          </a:bodyPr>
          <a:lstStyle/>
          <a:p>
            <a:pPr algn="ctr">
              <a:lnSpc>
                <a:spcPct val="112000"/>
              </a:lnSpc>
              <a:spcAft>
                <a:spcPts val="0"/>
              </a:spcAft>
            </a:pPr>
            <a:r>
              <a:rPr sz="1066" b="1" i="0">
                <a:solidFill>
                  <a:srgbClr val="FFFFFF"/>
                </a:solidFill>
                <a:latin typeface="Arial"/>
              </a:rPr>
              <a:t>n</a:t>
            </a:r>
          </a:p>
        </p:txBody>
      </p:sp>
      <p:sp>
        <p:nvSpPr>
          <p:cNvPr id="17" name="TextBox 16"/>
          <p:cNvSpPr txBox="1"/>
          <p:nvPr/>
        </p:nvSpPr>
        <p:spPr>
          <a:xfrm>
            <a:off x="932505" y="6373368"/>
            <a:ext cx="899769" cy="224942"/>
          </a:xfrm>
          <a:prstGeom prst="rect">
            <a:avLst/>
          </a:prstGeom>
          <a:noFill/>
        </p:spPr>
        <p:txBody>
          <a:bodyPr wrap="square" lIns="0" rIns="0" tIns="0" bIns="0" anchor="t">
            <a:spAutoFit/>
          </a:bodyPr>
          <a:lstStyle/>
          <a:p>
            <a:pPr algn="l">
              <a:lnSpc>
                <a:spcPct val="112000"/>
              </a:lnSpc>
              <a:spcAft>
                <a:spcPts val="0"/>
              </a:spcAft>
            </a:pPr>
            <a:r>
              <a:rPr sz="1066" b="1" i="0">
                <a:solidFill>
                  <a:srgbClr val="FFFFFF"/>
                </a:solidFill>
                <a:latin typeface="Arial"/>
              </a:rPr>
              <a:t>NgeTag</a:t>
            </a:r>
          </a:p>
        </p:txBody>
      </p:sp>
      <p:sp>
        <p:nvSpPr>
          <p:cNvPr id="18" name="TextBox 17"/>
          <p:cNvSpPr txBox="1"/>
          <p:nvPr/>
        </p:nvSpPr>
        <p:spPr>
          <a:xfrm>
            <a:off x="10607040" y="6419088"/>
            <a:ext cx="941832" cy="201168"/>
          </a:xfrm>
          <a:prstGeom prst="rect">
            <a:avLst/>
          </a:prstGeom>
          <a:noFill/>
        </p:spPr>
        <p:txBody>
          <a:bodyPr wrap="square" lIns="0" rIns="0" tIns="0" bIns="0" anchor="t">
            <a:spAutoFit/>
          </a:bodyPr>
          <a:lstStyle/>
          <a:p>
            <a:pPr algn="r">
              <a:lnSpc>
                <a:spcPct val="112000"/>
              </a:lnSpc>
              <a:spcAft>
                <a:spcPts val="0"/>
              </a:spcAft>
            </a:pPr>
            <a:r>
              <a:rPr sz="850" b="0" i="0">
                <a:solidFill>
                  <a:srgbClr val="7A828E"/>
                </a:solidFill>
                <a:latin typeface="Arial"/>
              </a:rPr>
              <a:t>02</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AFAFB"/>
        </a:solidFill>
        <a:effectLst/>
      </p:bgPr>
    </p:bg>
    <p:spTree>
      <p:nvGrpSpPr>
        <p:cNvPr id="1" name=""/>
        <p:cNvGrpSpPr/>
        <p:nvPr/>
      </p:nvGrpSpPr>
      <p:grpSpPr/>
      <p:sp>
        <p:nvSpPr>
          <p:cNvPr id="2" name="TextBox 1"/>
          <p:cNvSpPr txBox="1"/>
          <p:nvPr/>
        </p:nvSpPr>
        <p:spPr>
          <a:xfrm>
            <a:off x="640080" y="384048"/>
            <a:ext cx="9601200" cy="228600"/>
          </a:xfrm>
          <a:prstGeom prst="rect">
            <a:avLst/>
          </a:prstGeom>
          <a:noFill/>
        </p:spPr>
        <p:txBody>
          <a:bodyPr wrap="square" lIns="0" rIns="0" tIns="0" bIns="0" anchor="t">
            <a:spAutoFit/>
          </a:bodyPr>
          <a:lstStyle/>
          <a:p>
            <a:pPr algn="l">
              <a:lnSpc>
                <a:spcPct val="112000"/>
              </a:lnSpc>
              <a:spcAft>
                <a:spcPts val="0"/>
              </a:spcAft>
            </a:pPr>
            <a:r>
              <a:rPr sz="1000" b="1" i="0" spc="140">
                <a:solidFill>
                  <a:srgbClr val="FF5A5F"/>
                </a:solidFill>
                <a:latin typeface="Arial"/>
              </a:rPr>
              <a:t>02 · ARSITEKTUR &amp; DATA</a:t>
            </a:r>
          </a:p>
        </p:txBody>
      </p:sp>
      <p:sp>
        <p:nvSpPr>
          <p:cNvPr id="3" name="TextBox 2"/>
          <p:cNvSpPr txBox="1"/>
          <p:nvPr/>
        </p:nvSpPr>
        <p:spPr>
          <a:xfrm>
            <a:off x="640080" y="621792"/>
            <a:ext cx="10881360" cy="566928"/>
          </a:xfrm>
          <a:prstGeom prst="rect">
            <a:avLst/>
          </a:prstGeom>
          <a:noFill/>
        </p:spPr>
        <p:txBody>
          <a:bodyPr wrap="square" lIns="0" rIns="0" tIns="0" bIns="0" anchor="t">
            <a:spAutoFit/>
          </a:bodyPr>
          <a:lstStyle/>
          <a:p>
            <a:pPr algn="l">
              <a:lnSpc>
                <a:spcPct val="112000"/>
              </a:lnSpc>
              <a:spcAft>
                <a:spcPts val="0"/>
              </a:spcAft>
            </a:pPr>
            <a:r>
              <a:rPr sz="2600" b="1" i="0">
                <a:solidFill>
                  <a:srgbClr val="1F2937"/>
                </a:solidFill>
                <a:latin typeface="Arial"/>
              </a:rPr>
              <a:t>Stack modern, satu bahasa dari UI sampai skema</a:t>
            </a:r>
          </a:p>
        </p:txBody>
      </p:sp>
      <p:sp>
        <p:nvSpPr>
          <p:cNvPr id="4" name="TextBox 3"/>
          <p:cNvSpPr txBox="1"/>
          <p:nvPr/>
        </p:nvSpPr>
        <p:spPr>
          <a:xfrm>
            <a:off x="640080" y="1225296"/>
            <a:ext cx="10424160" cy="365760"/>
          </a:xfrm>
          <a:prstGeom prst="rect">
            <a:avLst/>
          </a:prstGeom>
          <a:noFill/>
        </p:spPr>
        <p:txBody>
          <a:bodyPr wrap="square" lIns="0" rIns="0" tIns="0" bIns="0" anchor="t">
            <a:spAutoFit/>
          </a:bodyPr>
          <a:lstStyle/>
          <a:p>
            <a:pPr algn="l">
              <a:lnSpc>
                <a:spcPct val="112000"/>
              </a:lnSpc>
              <a:spcAft>
                <a:spcPts val="0"/>
              </a:spcAft>
            </a:pPr>
            <a:r>
              <a:rPr sz="1250" b="0" i="0">
                <a:solidFill>
                  <a:srgbClr val="6B7280"/>
                </a:solidFill>
                <a:latin typeface="Arial"/>
              </a:rPr>
              <a:t>Semua lapisan memakai TypeScript; tipe domain dibagi lewat src/types dan src/shared/contracts.</a:t>
            </a:r>
          </a:p>
        </p:txBody>
      </p:sp>
      <p:sp>
        <p:nvSpPr>
          <p:cNvPr id="5" name="Rounded Rectangle 4"/>
          <p:cNvSpPr/>
          <p:nvPr/>
        </p:nvSpPr>
        <p:spPr>
          <a:xfrm>
            <a:off x="640080" y="1170432"/>
            <a:ext cx="502920" cy="32004"/>
          </a:xfrm>
          <a:prstGeom prst="roundRect">
            <a:avLst>
              <a:gd name="adj" fmla="val 0"/>
            </a:avLst>
          </a:prstGeom>
          <a:solidFill>
            <a:srgbClr val="FF5A5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 name="Rounded Rectangle 5"/>
          <p:cNvSpPr/>
          <p:nvPr/>
        </p:nvSpPr>
        <p:spPr>
          <a:xfrm>
            <a:off x="640080" y="1792224"/>
            <a:ext cx="2560320" cy="969264"/>
          </a:xfrm>
          <a:prstGeom prst="roundRect">
            <a:avLst>
              <a:gd name="adj" fmla="val 8000"/>
            </a:avLst>
          </a:prstGeom>
          <a:solidFill>
            <a:srgbClr val="FFFFFF"/>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 name="Rounded Rectangle 6"/>
          <p:cNvSpPr/>
          <p:nvPr/>
        </p:nvSpPr>
        <p:spPr>
          <a:xfrm>
            <a:off x="640080" y="1792224"/>
            <a:ext cx="2560320" cy="50292"/>
          </a:xfrm>
          <a:prstGeom prst="roundRect">
            <a:avLst>
              <a:gd name="adj" fmla="val 0"/>
            </a:avLst>
          </a:prstGeom>
          <a:solidFill>
            <a:srgbClr val="FF5A5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TextBox 7"/>
          <p:cNvSpPr txBox="1"/>
          <p:nvPr/>
        </p:nvSpPr>
        <p:spPr>
          <a:xfrm>
            <a:off x="822959" y="1956816"/>
            <a:ext cx="2194560" cy="274320"/>
          </a:xfrm>
          <a:prstGeom prst="rect">
            <a:avLst/>
          </a:prstGeom>
          <a:noFill/>
        </p:spPr>
        <p:txBody>
          <a:bodyPr wrap="square" lIns="0" rIns="0" tIns="0" bIns="0" anchor="t">
            <a:spAutoFit/>
          </a:bodyPr>
          <a:lstStyle/>
          <a:p>
            <a:pPr algn="l">
              <a:lnSpc>
                <a:spcPct val="112000"/>
              </a:lnSpc>
              <a:spcAft>
                <a:spcPts val="0"/>
              </a:spcAft>
            </a:pPr>
            <a:r>
              <a:rPr sz="1200" b="1" i="0">
                <a:solidFill>
                  <a:srgbClr val="1F2937"/>
                </a:solidFill>
                <a:latin typeface="Arial"/>
              </a:rPr>
              <a:t>Next.js 16.4</a:t>
            </a:r>
          </a:p>
        </p:txBody>
      </p:sp>
      <p:sp>
        <p:nvSpPr>
          <p:cNvPr id="9" name="TextBox 8"/>
          <p:cNvSpPr txBox="1"/>
          <p:nvPr/>
        </p:nvSpPr>
        <p:spPr>
          <a:xfrm>
            <a:off x="822959" y="2267712"/>
            <a:ext cx="2212848" cy="457200"/>
          </a:xfrm>
          <a:prstGeom prst="rect">
            <a:avLst/>
          </a:prstGeom>
          <a:noFill/>
        </p:spPr>
        <p:txBody>
          <a:bodyPr wrap="square" lIns="0" rIns="0" tIns="0" bIns="0" anchor="t">
            <a:spAutoFit/>
          </a:bodyPr>
          <a:lstStyle/>
          <a:p>
            <a:pPr algn="l">
              <a:lnSpc>
                <a:spcPct val="120000"/>
              </a:lnSpc>
              <a:spcAft>
                <a:spcPts val="0"/>
              </a:spcAft>
            </a:pPr>
            <a:r>
              <a:rPr sz="900" b="0" i="0">
                <a:solidFill>
                  <a:srgbClr val="6B7280"/>
                </a:solidFill>
                <a:latin typeface="Arial"/>
              </a:rPr>
              <a:t>App Router, Turbopack, Server Components</a:t>
            </a:r>
          </a:p>
        </p:txBody>
      </p:sp>
      <p:sp>
        <p:nvSpPr>
          <p:cNvPr id="10" name="Rounded Rectangle 9"/>
          <p:cNvSpPr/>
          <p:nvPr/>
        </p:nvSpPr>
        <p:spPr>
          <a:xfrm>
            <a:off x="3355848" y="1792224"/>
            <a:ext cx="2560320" cy="969264"/>
          </a:xfrm>
          <a:prstGeom prst="roundRect">
            <a:avLst>
              <a:gd name="adj" fmla="val 8000"/>
            </a:avLst>
          </a:prstGeom>
          <a:solidFill>
            <a:srgbClr val="FFFFFF"/>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Rounded Rectangle 10"/>
          <p:cNvSpPr/>
          <p:nvPr/>
        </p:nvSpPr>
        <p:spPr>
          <a:xfrm>
            <a:off x="3355848" y="1792224"/>
            <a:ext cx="2560320" cy="50292"/>
          </a:xfrm>
          <a:prstGeom prst="roundRect">
            <a:avLst>
              <a:gd name="adj" fmla="val 0"/>
            </a:avLst>
          </a:prstGeom>
          <a:solidFill>
            <a:srgbClr val="FF5A5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TextBox 11"/>
          <p:cNvSpPr txBox="1"/>
          <p:nvPr/>
        </p:nvSpPr>
        <p:spPr>
          <a:xfrm>
            <a:off x="3538728" y="1956816"/>
            <a:ext cx="2194560" cy="274320"/>
          </a:xfrm>
          <a:prstGeom prst="rect">
            <a:avLst/>
          </a:prstGeom>
          <a:noFill/>
        </p:spPr>
        <p:txBody>
          <a:bodyPr wrap="square" lIns="0" rIns="0" tIns="0" bIns="0" anchor="t">
            <a:spAutoFit/>
          </a:bodyPr>
          <a:lstStyle/>
          <a:p>
            <a:pPr algn="l">
              <a:lnSpc>
                <a:spcPct val="112000"/>
              </a:lnSpc>
              <a:spcAft>
                <a:spcPts val="0"/>
              </a:spcAft>
            </a:pPr>
            <a:r>
              <a:rPr sz="1200" b="1" i="0">
                <a:solidFill>
                  <a:srgbClr val="1F2937"/>
                </a:solidFill>
                <a:latin typeface="Arial"/>
              </a:rPr>
              <a:t>React 19.2</a:t>
            </a:r>
          </a:p>
        </p:txBody>
      </p:sp>
      <p:sp>
        <p:nvSpPr>
          <p:cNvPr id="13" name="TextBox 12"/>
          <p:cNvSpPr txBox="1"/>
          <p:nvPr/>
        </p:nvSpPr>
        <p:spPr>
          <a:xfrm>
            <a:off x="3538728" y="2267712"/>
            <a:ext cx="2212848" cy="457200"/>
          </a:xfrm>
          <a:prstGeom prst="rect">
            <a:avLst/>
          </a:prstGeom>
          <a:noFill/>
        </p:spPr>
        <p:txBody>
          <a:bodyPr wrap="square" lIns="0" rIns="0" tIns="0" bIns="0" anchor="t">
            <a:spAutoFit/>
          </a:bodyPr>
          <a:lstStyle/>
          <a:p>
            <a:pPr algn="l">
              <a:lnSpc>
                <a:spcPct val="120000"/>
              </a:lnSpc>
              <a:spcAft>
                <a:spcPts val="0"/>
              </a:spcAft>
            </a:pPr>
            <a:r>
              <a:rPr sz="900" b="0" i="0">
                <a:solidFill>
                  <a:srgbClr val="6B7280"/>
                </a:solidFill>
                <a:latin typeface="Arial"/>
              </a:rPr>
              <a:t>Server &amp; client components, hooks modern</a:t>
            </a:r>
          </a:p>
        </p:txBody>
      </p:sp>
      <p:sp>
        <p:nvSpPr>
          <p:cNvPr id="14" name="Rounded Rectangle 13"/>
          <p:cNvSpPr/>
          <p:nvPr/>
        </p:nvSpPr>
        <p:spPr>
          <a:xfrm>
            <a:off x="6071616" y="1792224"/>
            <a:ext cx="2560320" cy="969264"/>
          </a:xfrm>
          <a:prstGeom prst="roundRect">
            <a:avLst>
              <a:gd name="adj" fmla="val 8000"/>
            </a:avLst>
          </a:prstGeom>
          <a:solidFill>
            <a:srgbClr val="FFFFFF"/>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Rounded Rectangle 14"/>
          <p:cNvSpPr/>
          <p:nvPr/>
        </p:nvSpPr>
        <p:spPr>
          <a:xfrm>
            <a:off x="6071616" y="1792224"/>
            <a:ext cx="2560320" cy="50292"/>
          </a:xfrm>
          <a:prstGeom prst="roundRect">
            <a:avLst>
              <a:gd name="adj" fmla="val 0"/>
            </a:avLst>
          </a:prstGeom>
          <a:solidFill>
            <a:srgbClr val="FF5A5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6" name="TextBox 15"/>
          <p:cNvSpPr txBox="1"/>
          <p:nvPr/>
        </p:nvSpPr>
        <p:spPr>
          <a:xfrm>
            <a:off x="6254496" y="1956816"/>
            <a:ext cx="2194560" cy="274320"/>
          </a:xfrm>
          <a:prstGeom prst="rect">
            <a:avLst/>
          </a:prstGeom>
          <a:noFill/>
        </p:spPr>
        <p:txBody>
          <a:bodyPr wrap="square" lIns="0" rIns="0" tIns="0" bIns="0" anchor="t">
            <a:spAutoFit/>
          </a:bodyPr>
          <a:lstStyle/>
          <a:p>
            <a:pPr algn="l">
              <a:lnSpc>
                <a:spcPct val="112000"/>
              </a:lnSpc>
              <a:spcAft>
                <a:spcPts val="0"/>
              </a:spcAft>
            </a:pPr>
            <a:r>
              <a:rPr sz="1200" b="1" i="0">
                <a:solidFill>
                  <a:srgbClr val="1F2937"/>
                </a:solidFill>
                <a:latin typeface="Arial"/>
              </a:rPr>
              <a:t>TypeScript 5</a:t>
            </a:r>
          </a:p>
        </p:txBody>
      </p:sp>
      <p:sp>
        <p:nvSpPr>
          <p:cNvPr id="17" name="TextBox 16"/>
          <p:cNvSpPr txBox="1"/>
          <p:nvPr/>
        </p:nvSpPr>
        <p:spPr>
          <a:xfrm>
            <a:off x="6254496" y="2267712"/>
            <a:ext cx="2212848" cy="457200"/>
          </a:xfrm>
          <a:prstGeom prst="rect">
            <a:avLst/>
          </a:prstGeom>
          <a:noFill/>
        </p:spPr>
        <p:txBody>
          <a:bodyPr wrap="square" lIns="0" rIns="0" tIns="0" bIns="0" anchor="t">
            <a:spAutoFit/>
          </a:bodyPr>
          <a:lstStyle/>
          <a:p>
            <a:pPr algn="l">
              <a:lnSpc>
                <a:spcPct val="120000"/>
              </a:lnSpc>
              <a:spcAft>
                <a:spcPts val="0"/>
              </a:spcAft>
            </a:pPr>
            <a:r>
              <a:rPr sz="900" b="0" i="0">
                <a:solidFill>
                  <a:srgbClr val="6B7280"/>
                </a:solidFill>
                <a:latin typeface="Arial"/>
              </a:rPr>
              <a:t>strict mode, path alias @/*</a:t>
            </a:r>
          </a:p>
        </p:txBody>
      </p:sp>
      <p:sp>
        <p:nvSpPr>
          <p:cNvPr id="18" name="Rounded Rectangle 17"/>
          <p:cNvSpPr/>
          <p:nvPr/>
        </p:nvSpPr>
        <p:spPr>
          <a:xfrm>
            <a:off x="8787384" y="1792224"/>
            <a:ext cx="2560320" cy="969264"/>
          </a:xfrm>
          <a:prstGeom prst="roundRect">
            <a:avLst>
              <a:gd name="adj" fmla="val 8000"/>
            </a:avLst>
          </a:prstGeom>
          <a:solidFill>
            <a:srgbClr val="FFFFFF"/>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9" name="Rounded Rectangle 18"/>
          <p:cNvSpPr/>
          <p:nvPr/>
        </p:nvSpPr>
        <p:spPr>
          <a:xfrm>
            <a:off x="8787384" y="1792224"/>
            <a:ext cx="2560320" cy="50292"/>
          </a:xfrm>
          <a:prstGeom prst="roundRect">
            <a:avLst>
              <a:gd name="adj" fmla="val 0"/>
            </a:avLst>
          </a:prstGeom>
          <a:solidFill>
            <a:srgbClr val="FF5A5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TextBox 19"/>
          <p:cNvSpPr txBox="1"/>
          <p:nvPr/>
        </p:nvSpPr>
        <p:spPr>
          <a:xfrm>
            <a:off x="8970263" y="1956816"/>
            <a:ext cx="2194560" cy="274320"/>
          </a:xfrm>
          <a:prstGeom prst="rect">
            <a:avLst/>
          </a:prstGeom>
          <a:noFill/>
        </p:spPr>
        <p:txBody>
          <a:bodyPr wrap="square" lIns="0" rIns="0" tIns="0" bIns="0" anchor="t">
            <a:spAutoFit/>
          </a:bodyPr>
          <a:lstStyle/>
          <a:p>
            <a:pPr algn="l">
              <a:lnSpc>
                <a:spcPct val="112000"/>
              </a:lnSpc>
              <a:spcAft>
                <a:spcPts val="0"/>
              </a:spcAft>
            </a:pPr>
            <a:r>
              <a:rPr sz="1200" b="1" i="0">
                <a:solidFill>
                  <a:srgbClr val="1F2937"/>
                </a:solidFill>
                <a:latin typeface="Arial"/>
              </a:rPr>
              <a:t>Tailwind v4</a:t>
            </a:r>
          </a:p>
        </p:txBody>
      </p:sp>
      <p:sp>
        <p:nvSpPr>
          <p:cNvPr id="21" name="TextBox 20"/>
          <p:cNvSpPr txBox="1"/>
          <p:nvPr/>
        </p:nvSpPr>
        <p:spPr>
          <a:xfrm>
            <a:off x="8970263" y="2267712"/>
            <a:ext cx="2212848" cy="457200"/>
          </a:xfrm>
          <a:prstGeom prst="rect">
            <a:avLst/>
          </a:prstGeom>
          <a:noFill/>
        </p:spPr>
        <p:txBody>
          <a:bodyPr wrap="square" lIns="0" rIns="0" tIns="0" bIns="0" anchor="t">
            <a:spAutoFit/>
          </a:bodyPr>
          <a:lstStyle/>
          <a:p>
            <a:pPr algn="l">
              <a:lnSpc>
                <a:spcPct val="120000"/>
              </a:lnSpc>
              <a:spcAft>
                <a:spcPts val="0"/>
              </a:spcAft>
            </a:pPr>
            <a:r>
              <a:rPr sz="900" b="0" i="0">
                <a:solidFill>
                  <a:srgbClr val="6B7280"/>
                </a:solidFill>
                <a:latin typeface="Arial"/>
              </a:rPr>
              <a:t>@theme tokens + primitif shadcn/ui</a:t>
            </a:r>
          </a:p>
        </p:txBody>
      </p:sp>
      <p:sp>
        <p:nvSpPr>
          <p:cNvPr id="22" name="Rounded Rectangle 21"/>
          <p:cNvSpPr/>
          <p:nvPr/>
        </p:nvSpPr>
        <p:spPr>
          <a:xfrm>
            <a:off x="640080" y="2926080"/>
            <a:ext cx="2560320" cy="969264"/>
          </a:xfrm>
          <a:prstGeom prst="roundRect">
            <a:avLst>
              <a:gd name="adj" fmla="val 8000"/>
            </a:avLst>
          </a:prstGeom>
          <a:solidFill>
            <a:srgbClr val="FFFFFF"/>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Rounded Rectangle 22"/>
          <p:cNvSpPr/>
          <p:nvPr/>
        </p:nvSpPr>
        <p:spPr>
          <a:xfrm>
            <a:off x="640080" y="2926080"/>
            <a:ext cx="2560320" cy="50292"/>
          </a:xfrm>
          <a:prstGeom prst="roundRect">
            <a:avLst>
              <a:gd name="adj" fmla="val 0"/>
            </a:avLst>
          </a:prstGeom>
          <a:solidFill>
            <a:srgbClr val="FFB4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TextBox 23"/>
          <p:cNvSpPr txBox="1"/>
          <p:nvPr/>
        </p:nvSpPr>
        <p:spPr>
          <a:xfrm>
            <a:off x="822959" y="3090672"/>
            <a:ext cx="2194560" cy="274320"/>
          </a:xfrm>
          <a:prstGeom prst="rect">
            <a:avLst/>
          </a:prstGeom>
          <a:noFill/>
        </p:spPr>
        <p:txBody>
          <a:bodyPr wrap="square" lIns="0" rIns="0" tIns="0" bIns="0" anchor="t">
            <a:spAutoFit/>
          </a:bodyPr>
          <a:lstStyle/>
          <a:p>
            <a:pPr algn="l">
              <a:lnSpc>
                <a:spcPct val="112000"/>
              </a:lnSpc>
              <a:spcAft>
                <a:spcPts val="0"/>
              </a:spcAft>
            </a:pPr>
            <a:r>
              <a:rPr sz="1200" b="1" i="0">
                <a:solidFill>
                  <a:srgbClr val="1F2937"/>
                </a:solidFill>
                <a:latin typeface="Arial"/>
              </a:rPr>
              <a:t>Zustand 5</a:t>
            </a:r>
          </a:p>
        </p:txBody>
      </p:sp>
      <p:sp>
        <p:nvSpPr>
          <p:cNvPr id="25" name="TextBox 24"/>
          <p:cNvSpPr txBox="1"/>
          <p:nvPr/>
        </p:nvSpPr>
        <p:spPr>
          <a:xfrm>
            <a:off x="822959" y="3401568"/>
            <a:ext cx="2212848" cy="457200"/>
          </a:xfrm>
          <a:prstGeom prst="rect">
            <a:avLst/>
          </a:prstGeom>
          <a:noFill/>
        </p:spPr>
        <p:txBody>
          <a:bodyPr wrap="square" lIns="0" rIns="0" tIns="0" bIns="0" anchor="t">
            <a:spAutoFit/>
          </a:bodyPr>
          <a:lstStyle/>
          <a:p>
            <a:pPr algn="l">
              <a:lnSpc>
                <a:spcPct val="120000"/>
              </a:lnSpc>
              <a:spcAft>
                <a:spcPts val="0"/>
              </a:spcAft>
            </a:pPr>
            <a:r>
              <a:rPr sz="900" b="0" i="0">
                <a:solidFill>
                  <a:srgbClr val="6B7280"/>
                </a:solidFill>
                <a:latin typeface="Arial"/>
              </a:rPr>
              <a:t>8 store + persist localStorage</a:t>
            </a:r>
          </a:p>
        </p:txBody>
      </p:sp>
      <p:sp>
        <p:nvSpPr>
          <p:cNvPr id="26" name="Rounded Rectangle 25"/>
          <p:cNvSpPr/>
          <p:nvPr/>
        </p:nvSpPr>
        <p:spPr>
          <a:xfrm>
            <a:off x="3355848" y="2926080"/>
            <a:ext cx="2560320" cy="969264"/>
          </a:xfrm>
          <a:prstGeom prst="roundRect">
            <a:avLst>
              <a:gd name="adj" fmla="val 8000"/>
            </a:avLst>
          </a:prstGeom>
          <a:solidFill>
            <a:srgbClr val="FFFFFF"/>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7" name="Rounded Rectangle 26"/>
          <p:cNvSpPr/>
          <p:nvPr/>
        </p:nvSpPr>
        <p:spPr>
          <a:xfrm>
            <a:off x="3355848" y="2926080"/>
            <a:ext cx="2560320" cy="50292"/>
          </a:xfrm>
          <a:prstGeom prst="roundRect">
            <a:avLst>
              <a:gd name="adj" fmla="val 0"/>
            </a:avLst>
          </a:prstGeom>
          <a:solidFill>
            <a:srgbClr val="FFB4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8" name="TextBox 27"/>
          <p:cNvSpPr txBox="1"/>
          <p:nvPr/>
        </p:nvSpPr>
        <p:spPr>
          <a:xfrm>
            <a:off x="3538728" y="3090672"/>
            <a:ext cx="2194560" cy="274320"/>
          </a:xfrm>
          <a:prstGeom prst="rect">
            <a:avLst/>
          </a:prstGeom>
          <a:noFill/>
        </p:spPr>
        <p:txBody>
          <a:bodyPr wrap="square" lIns="0" rIns="0" tIns="0" bIns="0" anchor="t">
            <a:spAutoFit/>
          </a:bodyPr>
          <a:lstStyle/>
          <a:p>
            <a:pPr algn="l">
              <a:lnSpc>
                <a:spcPct val="112000"/>
              </a:lnSpc>
              <a:spcAft>
                <a:spcPts val="0"/>
              </a:spcAft>
            </a:pPr>
            <a:r>
              <a:rPr sz="1200" b="1" i="0">
                <a:solidFill>
                  <a:srgbClr val="1F2937"/>
                </a:solidFill>
                <a:latin typeface="Arial"/>
              </a:rPr>
              <a:t>Zod 4 + RHF</a:t>
            </a:r>
          </a:p>
        </p:txBody>
      </p:sp>
      <p:sp>
        <p:nvSpPr>
          <p:cNvPr id="29" name="TextBox 28"/>
          <p:cNvSpPr txBox="1"/>
          <p:nvPr/>
        </p:nvSpPr>
        <p:spPr>
          <a:xfrm>
            <a:off x="3538728" y="3401568"/>
            <a:ext cx="2212848" cy="457200"/>
          </a:xfrm>
          <a:prstGeom prst="rect">
            <a:avLst/>
          </a:prstGeom>
          <a:noFill/>
        </p:spPr>
        <p:txBody>
          <a:bodyPr wrap="square" lIns="0" rIns="0" tIns="0" bIns="0" anchor="t">
            <a:spAutoFit/>
          </a:bodyPr>
          <a:lstStyle/>
          <a:p>
            <a:pPr algn="l">
              <a:lnSpc>
                <a:spcPct val="120000"/>
              </a:lnSpc>
              <a:spcAft>
                <a:spcPts val="0"/>
              </a:spcAft>
            </a:pPr>
            <a:r>
              <a:rPr sz="900" b="0" i="0">
                <a:solidFill>
                  <a:srgbClr val="6B7280"/>
                </a:solidFill>
                <a:latin typeface="Arial"/>
              </a:rPr>
              <a:t>Validasi request dan form</a:t>
            </a:r>
          </a:p>
        </p:txBody>
      </p:sp>
      <p:sp>
        <p:nvSpPr>
          <p:cNvPr id="30" name="Rounded Rectangle 29"/>
          <p:cNvSpPr/>
          <p:nvPr/>
        </p:nvSpPr>
        <p:spPr>
          <a:xfrm>
            <a:off x="6071616" y="2926080"/>
            <a:ext cx="2560320" cy="969264"/>
          </a:xfrm>
          <a:prstGeom prst="roundRect">
            <a:avLst>
              <a:gd name="adj" fmla="val 8000"/>
            </a:avLst>
          </a:prstGeom>
          <a:solidFill>
            <a:srgbClr val="FFFFFF"/>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1" name="Rounded Rectangle 30"/>
          <p:cNvSpPr/>
          <p:nvPr/>
        </p:nvSpPr>
        <p:spPr>
          <a:xfrm>
            <a:off x="6071616" y="2926080"/>
            <a:ext cx="2560320" cy="50292"/>
          </a:xfrm>
          <a:prstGeom prst="roundRect">
            <a:avLst>
              <a:gd name="adj" fmla="val 0"/>
            </a:avLst>
          </a:prstGeom>
          <a:solidFill>
            <a:srgbClr val="333D4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2" name="TextBox 31"/>
          <p:cNvSpPr txBox="1"/>
          <p:nvPr/>
        </p:nvSpPr>
        <p:spPr>
          <a:xfrm>
            <a:off x="6254496" y="3090672"/>
            <a:ext cx="2194560" cy="274320"/>
          </a:xfrm>
          <a:prstGeom prst="rect">
            <a:avLst/>
          </a:prstGeom>
          <a:noFill/>
        </p:spPr>
        <p:txBody>
          <a:bodyPr wrap="square" lIns="0" rIns="0" tIns="0" bIns="0" anchor="t">
            <a:spAutoFit/>
          </a:bodyPr>
          <a:lstStyle/>
          <a:p>
            <a:pPr algn="l">
              <a:lnSpc>
                <a:spcPct val="112000"/>
              </a:lnSpc>
              <a:spcAft>
                <a:spcPts val="0"/>
              </a:spcAft>
            </a:pPr>
            <a:r>
              <a:rPr sz="1200" b="1" i="0">
                <a:solidFill>
                  <a:srgbClr val="1F2937"/>
                </a:solidFill>
                <a:latin typeface="Arial"/>
              </a:rPr>
              <a:t>Drizzle ORM 1.0 RC</a:t>
            </a:r>
          </a:p>
        </p:txBody>
      </p:sp>
      <p:sp>
        <p:nvSpPr>
          <p:cNvPr id="33" name="TextBox 32"/>
          <p:cNvSpPr txBox="1"/>
          <p:nvPr/>
        </p:nvSpPr>
        <p:spPr>
          <a:xfrm>
            <a:off x="6254496" y="3401568"/>
            <a:ext cx="2212848" cy="457200"/>
          </a:xfrm>
          <a:prstGeom prst="rect">
            <a:avLst/>
          </a:prstGeom>
          <a:noFill/>
        </p:spPr>
        <p:txBody>
          <a:bodyPr wrap="square" lIns="0" rIns="0" tIns="0" bIns="0" anchor="t">
            <a:spAutoFit/>
          </a:bodyPr>
          <a:lstStyle/>
          <a:p>
            <a:pPr algn="l">
              <a:lnSpc>
                <a:spcPct val="120000"/>
              </a:lnSpc>
              <a:spcAft>
                <a:spcPts val="0"/>
              </a:spcAft>
            </a:pPr>
            <a:r>
              <a:rPr sz="900" b="0" i="0">
                <a:solidFill>
                  <a:srgbClr val="6B7280"/>
                </a:solidFill>
                <a:latin typeface="Arial"/>
              </a:rPr>
              <a:t>PostgreSQL, drizzle-kit, relasi eksplisit</a:t>
            </a:r>
          </a:p>
        </p:txBody>
      </p:sp>
      <p:sp>
        <p:nvSpPr>
          <p:cNvPr id="34" name="Rounded Rectangle 33"/>
          <p:cNvSpPr/>
          <p:nvPr/>
        </p:nvSpPr>
        <p:spPr>
          <a:xfrm>
            <a:off x="8787384" y="2926080"/>
            <a:ext cx="2560320" cy="969264"/>
          </a:xfrm>
          <a:prstGeom prst="roundRect">
            <a:avLst>
              <a:gd name="adj" fmla="val 8000"/>
            </a:avLst>
          </a:prstGeom>
          <a:solidFill>
            <a:srgbClr val="FFFFFF"/>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5" name="Rounded Rectangle 34"/>
          <p:cNvSpPr/>
          <p:nvPr/>
        </p:nvSpPr>
        <p:spPr>
          <a:xfrm>
            <a:off x="8787384" y="2926080"/>
            <a:ext cx="2560320" cy="50292"/>
          </a:xfrm>
          <a:prstGeom prst="roundRect">
            <a:avLst>
              <a:gd name="adj" fmla="val 0"/>
            </a:avLst>
          </a:prstGeom>
          <a:solidFill>
            <a:srgbClr val="333D4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6" name="TextBox 35"/>
          <p:cNvSpPr txBox="1"/>
          <p:nvPr/>
        </p:nvSpPr>
        <p:spPr>
          <a:xfrm>
            <a:off x="8970263" y="3090672"/>
            <a:ext cx="2194560" cy="274320"/>
          </a:xfrm>
          <a:prstGeom prst="rect">
            <a:avLst/>
          </a:prstGeom>
          <a:noFill/>
        </p:spPr>
        <p:txBody>
          <a:bodyPr wrap="square" lIns="0" rIns="0" tIns="0" bIns="0" anchor="t">
            <a:spAutoFit/>
          </a:bodyPr>
          <a:lstStyle/>
          <a:p>
            <a:pPr algn="l">
              <a:lnSpc>
                <a:spcPct val="112000"/>
              </a:lnSpc>
              <a:spcAft>
                <a:spcPts val="0"/>
              </a:spcAft>
            </a:pPr>
            <a:r>
              <a:rPr sz="1200" b="1" i="0">
                <a:solidFill>
                  <a:srgbClr val="1F2937"/>
                </a:solidFill>
                <a:latin typeface="Arial"/>
              </a:rPr>
              <a:t>Lucide + sonner</a:t>
            </a:r>
          </a:p>
        </p:txBody>
      </p:sp>
      <p:sp>
        <p:nvSpPr>
          <p:cNvPr id="37" name="TextBox 36"/>
          <p:cNvSpPr txBox="1"/>
          <p:nvPr/>
        </p:nvSpPr>
        <p:spPr>
          <a:xfrm>
            <a:off x="8970263" y="3401568"/>
            <a:ext cx="2212848" cy="457200"/>
          </a:xfrm>
          <a:prstGeom prst="rect">
            <a:avLst/>
          </a:prstGeom>
          <a:noFill/>
        </p:spPr>
        <p:txBody>
          <a:bodyPr wrap="square" lIns="0" rIns="0" tIns="0" bIns="0" anchor="t">
            <a:spAutoFit/>
          </a:bodyPr>
          <a:lstStyle/>
          <a:p>
            <a:pPr algn="l">
              <a:lnSpc>
                <a:spcPct val="120000"/>
              </a:lnSpc>
              <a:spcAft>
                <a:spcPts val="0"/>
              </a:spcAft>
            </a:pPr>
            <a:r>
              <a:rPr sz="900" b="0" i="0">
                <a:solidFill>
                  <a:srgbClr val="6B7280"/>
                </a:solidFill>
                <a:latin typeface="Arial"/>
              </a:rPr>
              <a:t>Ikon konsisten dan toast notification</a:t>
            </a:r>
          </a:p>
        </p:txBody>
      </p:sp>
      <p:sp>
        <p:nvSpPr>
          <p:cNvPr id="38" name="Rounded Rectangle 37"/>
          <p:cNvSpPr/>
          <p:nvPr/>
        </p:nvSpPr>
        <p:spPr>
          <a:xfrm>
            <a:off x="640080" y="4315968"/>
            <a:ext cx="5321808" cy="1298448"/>
          </a:xfrm>
          <a:prstGeom prst="roundRect">
            <a:avLst>
              <a:gd name="adj" fmla="val 8000"/>
            </a:avLst>
          </a:prstGeom>
          <a:solidFill>
            <a:srgbClr val="FFECE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9" name="Rounded Rectangle 38"/>
          <p:cNvSpPr/>
          <p:nvPr/>
        </p:nvSpPr>
        <p:spPr>
          <a:xfrm>
            <a:off x="640080" y="4315968"/>
            <a:ext cx="50292" cy="1298448"/>
          </a:xfrm>
          <a:prstGeom prst="roundRect">
            <a:avLst>
              <a:gd name="adj" fmla="val 0"/>
            </a:avLst>
          </a:prstGeom>
          <a:solidFill>
            <a:srgbClr val="FF5A5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0" name="TextBox 39"/>
          <p:cNvSpPr txBox="1"/>
          <p:nvPr/>
        </p:nvSpPr>
        <p:spPr>
          <a:xfrm>
            <a:off x="859536" y="4453128"/>
            <a:ext cx="4956048" cy="237744"/>
          </a:xfrm>
          <a:prstGeom prst="rect">
            <a:avLst/>
          </a:prstGeom>
          <a:noFill/>
        </p:spPr>
        <p:txBody>
          <a:bodyPr wrap="square" lIns="0" rIns="0" tIns="0" bIns="0" anchor="t">
            <a:spAutoFit/>
          </a:bodyPr>
          <a:lstStyle/>
          <a:p>
            <a:pPr algn="l">
              <a:lnSpc>
                <a:spcPct val="112000"/>
              </a:lnSpc>
              <a:spcAft>
                <a:spcPts val="0"/>
              </a:spcAft>
            </a:pPr>
            <a:r>
              <a:rPr sz="1100" b="1" i="0">
                <a:solidFill>
                  <a:srgbClr val="1F2937"/>
                </a:solidFill>
                <a:latin typeface="Arial"/>
              </a:rPr>
              <a:t>Peringatan Next.js 16</a:t>
            </a:r>
          </a:p>
        </p:txBody>
      </p:sp>
      <p:sp>
        <p:nvSpPr>
          <p:cNvPr id="41" name="TextBox 40"/>
          <p:cNvSpPr txBox="1"/>
          <p:nvPr/>
        </p:nvSpPr>
        <p:spPr>
          <a:xfrm>
            <a:off x="859536" y="4727448"/>
            <a:ext cx="4937760" cy="795527"/>
          </a:xfrm>
          <a:prstGeom prst="rect">
            <a:avLst/>
          </a:prstGeom>
          <a:noFill/>
        </p:spPr>
        <p:txBody>
          <a:bodyPr wrap="square" lIns="0" rIns="0" tIns="0" bIns="0" anchor="t">
            <a:spAutoFit/>
          </a:bodyPr>
          <a:lstStyle/>
          <a:p>
            <a:pPr algn="l">
              <a:lnSpc>
                <a:spcPct val="125000"/>
              </a:lnSpc>
              <a:spcAft>
                <a:spcPts val="0"/>
              </a:spcAft>
            </a:pPr>
            <a:r>
              <a:rPr sz="1050" b="0" i="0">
                <a:solidFill>
                  <a:srgbClr val="333D4A"/>
                </a:solidFill>
                <a:latin typeface="Arial"/>
              </a:rPr>
              <a:t>AGENTS.md menegaskan versi ini punya breaking changes. Baca docs lokal di node_modules/next/dist/docs/ sebelum menambah API baru.</a:t>
            </a:r>
          </a:p>
        </p:txBody>
      </p:sp>
      <p:sp>
        <p:nvSpPr>
          <p:cNvPr id="42" name="Rounded Rectangle 41"/>
          <p:cNvSpPr/>
          <p:nvPr/>
        </p:nvSpPr>
        <p:spPr>
          <a:xfrm>
            <a:off x="6236208" y="4315968"/>
            <a:ext cx="5312664" cy="1298448"/>
          </a:xfrm>
          <a:prstGeom prst="roundRect">
            <a:avLst>
              <a:gd name="adj" fmla="val 8000"/>
            </a:avLst>
          </a:prstGeom>
          <a:solidFill>
            <a:srgbClr val="FFF5D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3" name="Rounded Rectangle 42"/>
          <p:cNvSpPr/>
          <p:nvPr/>
        </p:nvSpPr>
        <p:spPr>
          <a:xfrm>
            <a:off x="6236208" y="4315968"/>
            <a:ext cx="50292" cy="1298448"/>
          </a:xfrm>
          <a:prstGeom prst="roundRect">
            <a:avLst>
              <a:gd name="adj" fmla="val 0"/>
            </a:avLst>
          </a:prstGeom>
          <a:solidFill>
            <a:srgbClr val="FFB4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4" name="TextBox 43"/>
          <p:cNvSpPr txBox="1"/>
          <p:nvPr/>
        </p:nvSpPr>
        <p:spPr>
          <a:xfrm>
            <a:off x="6455664" y="4453128"/>
            <a:ext cx="4946903" cy="237744"/>
          </a:xfrm>
          <a:prstGeom prst="rect">
            <a:avLst/>
          </a:prstGeom>
          <a:noFill/>
        </p:spPr>
        <p:txBody>
          <a:bodyPr wrap="square" lIns="0" rIns="0" tIns="0" bIns="0" anchor="t">
            <a:spAutoFit/>
          </a:bodyPr>
          <a:lstStyle/>
          <a:p>
            <a:pPr algn="l">
              <a:lnSpc>
                <a:spcPct val="112000"/>
              </a:lnSpc>
              <a:spcAft>
                <a:spcPts val="0"/>
              </a:spcAft>
            </a:pPr>
            <a:r>
              <a:rPr sz="1100" b="1" i="0">
                <a:solidFill>
                  <a:srgbClr val="1F2937"/>
                </a:solidFill>
                <a:latin typeface="Arial"/>
              </a:rPr>
              <a:t>Catatan Drizzle 1.0 RC</a:t>
            </a:r>
          </a:p>
        </p:txBody>
      </p:sp>
      <p:sp>
        <p:nvSpPr>
          <p:cNvPr id="45" name="TextBox 44"/>
          <p:cNvSpPr txBox="1"/>
          <p:nvPr/>
        </p:nvSpPr>
        <p:spPr>
          <a:xfrm>
            <a:off x="6455664" y="4727448"/>
            <a:ext cx="4928616" cy="795527"/>
          </a:xfrm>
          <a:prstGeom prst="rect">
            <a:avLst/>
          </a:prstGeom>
          <a:noFill/>
        </p:spPr>
        <p:txBody>
          <a:bodyPr wrap="square" lIns="0" rIns="0" tIns="0" bIns="0" anchor="t">
            <a:spAutoFit/>
          </a:bodyPr>
          <a:lstStyle/>
          <a:p>
            <a:pPr algn="l">
              <a:lnSpc>
                <a:spcPct val="125000"/>
              </a:lnSpc>
              <a:spcAft>
                <a:spcPts val="0"/>
              </a:spcAft>
            </a:pPr>
            <a:r>
              <a:rPr sz="1050" b="0" i="0">
                <a:solidFill>
                  <a:srgbClr val="333D4A"/>
                </a:solidFill>
                <a:latin typeface="Arial"/>
              </a:rPr>
              <a:t>API driver berubah: `drizzle({ client: pool })`, bukan `drizzle(pool)`. Seed baru sudah memakai bentuk yang benar.</a:t>
            </a:r>
          </a:p>
        </p:txBody>
      </p:sp>
      <p:sp>
        <p:nvSpPr>
          <p:cNvPr id="46" name="TextBox 45"/>
          <p:cNvSpPr txBox="1"/>
          <p:nvPr/>
        </p:nvSpPr>
        <p:spPr>
          <a:xfrm>
            <a:off x="640080" y="5760720"/>
            <a:ext cx="10881360" cy="274320"/>
          </a:xfrm>
          <a:prstGeom prst="rect">
            <a:avLst/>
          </a:prstGeom>
          <a:noFill/>
        </p:spPr>
        <p:txBody>
          <a:bodyPr wrap="square" lIns="0" rIns="0" tIns="0" bIns="0" anchor="t">
            <a:spAutoFit/>
          </a:bodyPr>
          <a:lstStyle/>
          <a:p>
            <a:pPr algn="l">
              <a:lnSpc>
                <a:spcPct val="112000"/>
              </a:lnSpc>
              <a:spcAft>
                <a:spcPts val="0"/>
              </a:spcAft>
            </a:pPr>
            <a:r>
              <a:rPr sz="950" b="0" i="0">
                <a:solidFill>
                  <a:srgbClr val="6B7280"/>
                </a:solidFill>
                <a:latin typeface="Arial"/>
              </a:rPr>
              <a:t>Versi mengikuti package.json: next ^16.4.2, react 19.2.4, drizzle-orm 1.0.0-rc.5, zod ^4.4.3, zustand ^5.0.14.</a:t>
            </a:r>
          </a:p>
        </p:txBody>
      </p:sp>
      <p:sp>
        <p:nvSpPr>
          <p:cNvPr id="47" name="Rounded Rectangle 46"/>
          <p:cNvSpPr/>
          <p:nvPr/>
        </p:nvSpPr>
        <p:spPr>
          <a:xfrm>
            <a:off x="640080" y="6419088"/>
            <a:ext cx="10908792" cy="7315"/>
          </a:xfrm>
          <a:prstGeom prst="roundRect">
            <a:avLst>
              <a:gd name="adj" fmla="val 0"/>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8" name="Rounded Rectangle 47"/>
          <p:cNvSpPr/>
          <p:nvPr/>
        </p:nvSpPr>
        <p:spPr>
          <a:xfrm>
            <a:off x="640080" y="6537960"/>
            <a:ext cx="224942" cy="224942"/>
          </a:xfrm>
          <a:prstGeom prst="roundRect">
            <a:avLst>
              <a:gd name="adj" fmla="val 22000"/>
            </a:avLst>
          </a:prstGeom>
          <a:solidFill>
            <a:srgbClr val="FF5A5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9" name="TextBox 48"/>
          <p:cNvSpPr txBox="1"/>
          <p:nvPr/>
        </p:nvSpPr>
        <p:spPr>
          <a:xfrm>
            <a:off x="640080" y="6526987"/>
            <a:ext cx="224942" cy="224942"/>
          </a:xfrm>
          <a:prstGeom prst="rect">
            <a:avLst/>
          </a:prstGeom>
          <a:noFill/>
        </p:spPr>
        <p:txBody>
          <a:bodyPr wrap="square" lIns="0" rIns="0" tIns="0" bIns="0" anchor="ctr">
            <a:spAutoFit/>
          </a:bodyPr>
          <a:lstStyle/>
          <a:p>
            <a:pPr algn="ctr">
              <a:lnSpc>
                <a:spcPct val="112000"/>
              </a:lnSpc>
              <a:spcAft>
                <a:spcPts val="0"/>
              </a:spcAft>
            </a:pPr>
            <a:r>
              <a:rPr sz="1066" b="1" i="0">
                <a:solidFill>
                  <a:srgbClr val="FFFFFF"/>
                </a:solidFill>
                <a:latin typeface="Arial"/>
              </a:rPr>
              <a:t>n</a:t>
            </a:r>
          </a:p>
        </p:txBody>
      </p:sp>
      <p:sp>
        <p:nvSpPr>
          <p:cNvPr id="50" name="TextBox 49"/>
          <p:cNvSpPr txBox="1"/>
          <p:nvPr/>
        </p:nvSpPr>
        <p:spPr>
          <a:xfrm>
            <a:off x="932505" y="6510528"/>
            <a:ext cx="899769" cy="224942"/>
          </a:xfrm>
          <a:prstGeom prst="rect">
            <a:avLst/>
          </a:prstGeom>
          <a:noFill/>
        </p:spPr>
        <p:txBody>
          <a:bodyPr wrap="square" lIns="0" rIns="0" tIns="0" bIns="0" anchor="t">
            <a:spAutoFit/>
          </a:bodyPr>
          <a:lstStyle/>
          <a:p>
            <a:pPr algn="l">
              <a:lnSpc>
                <a:spcPct val="112000"/>
              </a:lnSpc>
              <a:spcAft>
                <a:spcPts val="0"/>
              </a:spcAft>
            </a:pPr>
            <a:r>
              <a:rPr sz="1066" b="1" i="0">
                <a:solidFill>
                  <a:srgbClr val="1F2937"/>
                </a:solidFill>
                <a:latin typeface="Arial"/>
              </a:rPr>
              <a:t>NgeTag</a:t>
            </a:r>
          </a:p>
        </p:txBody>
      </p:sp>
      <p:sp>
        <p:nvSpPr>
          <p:cNvPr id="51" name="TextBox 50"/>
          <p:cNvSpPr txBox="1"/>
          <p:nvPr/>
        </p:nvSpPr>
        <p:spPr>
          <a:xfrm>
            <a:off x="1600200" y="6556248"/>
            <a:ext cx="5486400" cy="201168"/>
          </a:xfrm>
          <a:prstGeom prst="rect">
            <a:avLst/>
          </a:prstGeom>
          <a:noFill/>
        </p:spPr>
        <p:txBody>
          <a:bodyPr wrap="square" lIns="0" rIns="0" tIns="0" bIns="0" anchor="t">
            <a:spAutoFit/>
          </a:bodyPr>
          <a:lstStyle/>
          <a:p>
            <a:pPr algn="l">
              <a:lnSpc>
                <a:spcPct val="112000"/>
              </a:lnSpc>
              <a:spcAft>
                <a:spcPts val="0"/>
              </a:spcAft>
            </a:pPr>
            <a:r>
              <a:rPr sz="850" b="0" i="0">
                <a:solidFill>
                  <a:srgbClr val="6B7280"/>
                </a:solidFill>
                <a:latin typeface="Arial"/>
              </a:rPr>
              <a:t>NgeTag · Review Repository &amp; Seed Data User</a:t>
            </a:r>
          </a:p>
        </p:txBody>
      </p:sp>
      <p:sp>
        <p:nvSpPr>
          <p:cNvPr id="52" name="TextBox 51"/>
          <p:cNvSpPr txBox="1"/>
          <p:nvPr/>
        </p:nvSpPr>
        <p:spPr>
          <a:xfrm>
            <a:off x="10607040" y="6556248"/>
            <a:ext cx="941832" cy="201168"/>
          </a:xfrm>
          <a:prstGeom prst="rect">
            <a:avLst/>
          </a:prstGeom>
          <a:noFill/>
        </p:spPr>
        <p:txBody>
          <a:bodyPr wrap="square" lIns="0" rIns="0" tIns="0" bIns="0" anchor="t">
            <a:spAutoFit/>
          </a:bodyPr>
          <a:lstStyle/>
          <a:p>
            <a:pPr algn="r">
              <a:lnSpc>
                <a:spcPct val="112000"/>
              </a:lnSpc>
              <a:spcAft>
                <a:spcPts val="0"/>
              </a:spcAft>
            </a:pPr>
            <a:r>
              <a:rPr sz="850" b="0" i="0">
                <a:solidFill>
                  <a:srgbClr val="6B7280"/>
                </a:solidFill>
                <a:latin typeface="Arial"/>
              </a:rPr>
              <a:t>09 / 22</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AFAFB"/>
        </a:solidFill>
        <a:effectLst/>
      </p:bgPr>
    </p:bg>
    <p:spTree>
      <p:nvGrpSpPr>
        <p:cNvPr id="1" name=""/>
        <p:cNvGrpSpPr/>
        <p:nvPr/>
      </p:nvGrpSpPr>
      <p:grpSpPr/>
      <p:sp>
        <p:nvSpPr>
          <p:cNvPr id="2" name="TextBox 1"/>
          <p:cNvSpPr txBox="1"/>
          <p:nvPr/>
        </p:nvSpPr>
        <p:spPr>
          <a:xfrm>
            <a:off x="640080" y="384048"/>
            <a:ext cx="9601200" cy="228600"/>
          </a:xfrm>
          <a:prstGeom prst="rect">
            <a:avLst/>
          </a:prstGeom>
          <a:noFill/>
        </p:spPr>
        <p:txBody>
          <a:bodyPr wrap="square" lIns="0" rIns="0" tIns="0" bIns="0" anchor="t">
            <a:spAutoFit/>
          </a:bodyPr>
          <a:lstStyle/>
          <a:p>
            <a:pPr algn="l">
              <a:lnSpc>
                <a:spcPct val="112000"/>
              </a:lnSpc>
              <a:spcAft>
                <a:spcPts val="0"/>
              </a:spcAft>
            </a:pPr>
            <a:r>
              <a:rPr sz="1000" b="1" i="0" spc="140">
                <a:solidFill>
                  <a:srgbClr val="FF5A5F"/>
                </a:solidFill>
                <a:latin typeface="Arial"/>
              </a:rPr>
              <a:t>02 · ARSITEKTUR &amp; DATA</a:t>
            </a:r>
          </a:p>
        </p:txBody>
      </p:sp>
      <p:sp>
        <p:nvSpPr>
          <p:cNvPr id="3" name="TextBox 2"/>
          <p:cNvSpPr txBox="1"/>
          <p:nvPr/>
        </p:nvSpPr>
        <p:spPr>
          <a:xfrm>
            <a:off x="640080" y="621792"/>
            <a:ext cx="10881360" cy="566928"/>
          </a:xfrm>
          <a:prstGeom prst="rect">
            <a:avLst/>
          </a:prstGeom>
          <a:noFill/>
        </p:spPr>
        <p:txBody>
          <a:bodyPr wrap="square" lIns="0" rIns="0" tIns="0" bIns="0" anchor="t">
            <a:spAutoFit/>
          </a:bodyPr>
          <a:lstStyle/>
          <a:p>
            <a:pPr algn="l">
              <a:lnSpc>
                <a:spcPct val="112000"/>
              </a:lnSpc>
              <a:spcAft>
                <a:spcPts val="0"/>
              </a:spcAft>
            </a:pPr>
            <a:r>
              <a:rPr sz="2600" b="1" i="0">
                <a:solidFill>
                  <a:srgbClr val="1F2937"/>
                </a:solidFill>
                <a:latin typeface="Arial"/>
              </a:rPr>
              <a:t>Lima lapis, satu arah ketergantungan</a:t>
            </a:r>
          </a:p>
        </p:txBody>
      </p:sp>
      <p:sp>
        <p:nvSpPr>
          <p:cNvPr id="4" name="TextBox 3"/>
          <p:cNvSpPr txBox="1"/>
          <p:nvPr/>
        </p:nvSpPr>
        <p:spPr>
          <a:xfrm>
            <a:off x="640080" y="1225296"/>
            <a:ext cx="10424160" cy="365760"/>
          </a:xfrm>
          <a:prstGeom prst="rect">
            <a:avLst/>
          </a:prstGeom>
          <a:noFill/>
        </p:spPr>
        <p:txBody>
          <a:bodyPr wrap="square" lIns="0" rIns="0" tIns="0" bIns="0" anchor="t">
            <a:spAutoFit/>
          </a:bodyPr>
          <a:lstStyle/>
          <a:p>
            <a:pPr algn="l">
              <a:lnSpc>
                <a:spcPct val="112000"/>
              </a:lnSpc>
              <a:spcAft>
                <a:spcPts val="0"/>
              </a:spcAft>
            </a:pPr>
            <a:r>
              <a:rPr sz="1250" b="0" i="0">
                <a:solidFill>
                  <a:srgbClr val="6B7280"/>
                </a:solidFill>
                <a:latin typeface="Arial"/>
              </a:rPr>
              <a:t>Komponen tidak pernah menyentuh fixture langsung; semua akses data lewat repository.</a:t>
            </a:r>
          </a:p>
        </p:txBody>
      </p:sp>
      <p:sp>
        <p:nvSpPr>
          <p:cNvPr id="5" name="Rounded Rectangle 4"/>
          <p:cNvSpPr/>
          <p:nvPr/>
        </p:nvSpPr>
        <p:spPr>
          <a:xfrm>
            <a:off x="640080" y="1170432"/>
            <a:ext cx="502920" cy="32004"/>
          </a:xfrm>
          <a:prstGeom prst="roundRect">
            <a:avLst>
              <a:gd name="adj" fmla="val 0"/>
            </a:avLst>
          </a:prstGeom>
          <a:solidFill>
            <a:srgbClr val="FF5A5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 name="Rounded Rectangle 5"/>
          <p:cNvSpPr/>
          <p:nvPr/>
        </p:nvSpPr>
        <p:spPr>
          <a:xfrm>
            <a:off x="640080" y="1783080"/>
            <a:ext cx="7360920" cy="658368"/>
          </a:xfrm>
          <a:prstGeom prst="roundRect">
            <a:avLst>
              <a:gd name="adj" fmla="val 10000"/>
            </a:avLst>
          </a:prstGeom>
          <a:solidFill>
            <a:srgbClr val="333D4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 name="Oval 6"/>
          <p:cNvSpPr/>
          <p:nvPr/>
        </p:nvSpPr>
        <p:spPr>
          <a:xfrm>
            <a:off x="822960" y="1929384"/>
            <a:ext cx="365760" cy="365760"/>
          </a:xfrm>
          <a:prstGeom prst="ellipse">
            <a:avLst/>
          </a:prstGeom>
          <a:solidFill>
            <a:srgbClr val="FF5A5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Arial"/>
              </a:rPr>
              <a:t>1</a:t>
            </a:r>
          </a:p>
        </p:txBody>
      </p:sp>
      <p:sp>
        <p:nvSpPr>
          <p:cNvPr id="8" name="TextBox 7"/>
          <p:cNvSpPr txBox="1"/>
          <p:nvPr/>
        </p:nvSpPr>
        <p:spPr>
          <a:xfrm>
            <a:off x="1353312" y="1938528"/>
            <a:ext cx="2743200" cy="274320"/>
          </a:xfrm>
          <a:prstGeom prst="rect">
            <a:avLst/>
          </a:prstGeom>
          <a:noFill/>
        </p:spPr>
        <p:txBody>
          <a:bodyPr wrap="square" lIns="0" rIns="0" tIns="0" bIns="0" anchor="t">
            <a:spAutoFit/>
          </a:bodyPr>
          <a:lstStyle/>
          <a:p>
            <a:pPr algn="l">
              <a:lnSpc>
                <a:spcPct val="112000"/>
              </a:lnSpc>
              <a:spcAft>
                <a:spcPts val="0"/>
              </a:spcAft>
            </a:pPr>
            <a:r>
              <a:rPr sz="1250" b="1" i="0">
                <a:solidFill>
                  <a:srgbClr val="FFFFFF"/>
                </a:solidFill>
                <a:latin typeface="Consolas"/>
              </a:rPr>
              <a:t>app/</a:t>
            </a:r>
          </a:p>
        </p:txBody>
      </p:sp>
      <p:sp>
        <p:nvSpPr>
          <p:cNvPr id="9" name="TextBox 8"/>
          <p:cNvSpPr txBox="1"/>
          <p:nvPr/>
        </p:nvSpPr>
        <p:spPr>
          <a:xfrm>
            <a:off x="3931920" y="1965960"/>
            <a:ext cx="3886200" cy="292608"/>
          </a:xfrm>
          <a:prstGeom prst="rect">
            <a:avLst/>
          </a:prstGeom>
          <a:noFill/>
        </p:spPr>
        <p:txBody>
          <a:bodyPr wrap="square" lIns="0" rIns="0" tIns="0" bIns="0" anchor="t">
            <a:spAutoFit/>
          </a:bodyPr>
          <a:lstStyle/>
          <a:p>
            <a:pPr algn="l">
              <a:lnSpc>
                <a:spcPct val="112000"/>
              </a:lnSpc>
              <a:spcAft>
                <a:spcPts val="0"/>
              </a:spcAft>
            </a:pPr>
            <a:r>
              <a:rPr sz="950" b="0" i="0">
                <a:solidFill>
                  <a:srgbClr val="D3D8E0"/>
                </a:solidFill>
                <a:latin typeface="Arial"/>
              </a:rPr>
              <a:t>20 halaman · route &amp; page saja</a:t>
            </a:r>
          </a:p>
        </p:txBody>
      </p:sp>
      <p:sp>
        <p:nvSpPr>
          <p:cNvPr id="10" name="Rounded Rectangle 9"/>
          <p:cNvSpPr/>
          <p:nvPr/>
        </p:nvSpPr>
        <p:spPr>
          <a:xfrm>
            <a:off x="640080" y="2606040"/>
            <a:ext cx="7360920" cy="658368"/>
          </a:xfrm>
          <a:prstGeom prst="roundRect">
            <a:avLst>
              <a:gd name="adj" fmla="val 10000"/>
            </a:avLst>
          </a:prstGeom>
          <a:solidFill>
            <a:srgbClr val="2C364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Oval 10"/>
          <p:cNvSpPr/>
          <p:nvPr/>
        </p:nvSpPr>
        <p:spPr>
          <a:xfrm>
            <a:off x="822960" y="2752344"/>
            <a:ext cx="365760" cy="365760"/>
          </a:xfrm>
          <a:prstGeom prst="ellipse">
            <a:avLst/>
          </a:prstGeom>
          <a:solidFill>
            <a:srgbClr val="FF5A5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Arial"/>
              </a:rPr>
              <a:t>2</a:t>
            </a:r>
          </a:p>
        </p:txBody>
      </p:sp>
      <p:sp>
        <p:nvSpPr>
          <p:cNvPr id="12" name="TextBox 11"/>
          <p:cNvSpPr txBox="1"/>
          <p:nvPr/>
        </p:nvSpPr>
        <p:spPr>
          <a:xfrm>
            <a:off x="1353312" y="2761488"/>
            <a:ext cx="2743200" cy="274320"/>
          </a:xfrm>
          <a:prstGeom prst="rect">
            <a:avLst/>
          </a:prstGeom>
          <a:noFill/>
        </p:spPr>
        <p:txBody>
          <a:bodyPr wrap="square" lIns="0" rIns="0" tIns="0" bIns="0" anchor="t">
            <a:spAutoFit/>
          </a:bodyPr>
          <a:lstStyle/>
          <a:p>
            <a:pPr algn="l">
              <a:lnSpc>
                <a:spcPct val="112000"/>
              </a:lnSpc>
              <a:spcAft>
                <a:spcPts val="0"/>
              </a:spcAft>
            </a:pPr>
            <a:r>
              <a:rPr sz="1250" b="1" i="0">
                <a:solidFill>
                  <a:srgbClr val="FFFFFF"/>
                </a:solidFill>
                <a:latin typeface="Consolas"/>
              </a:rPr>
              <a:t>src/features/</a:t>
            </a:r>
          </a:p>
        </p:txBody>
      </p:sp>
      <p:sp>
        <p:nvSpPr>
          <p:cNvPr id="13" name="TextBox 12"/>
          <p:cNvSpPr txBox="1"/>
          <p:nvPr/>
        </p:nvSpPr>
        <p:spPr>
          <a:xfrm>
            <a:off x="3931920" y="2788920"/>
            <a:ext cx="3886200" cy="292608"/>
          </a:xfrm>
          <a:prstGeom prst="rect">
            <a:avLst/>
          </a:prstGeom>
          <a:noFill/>
        </p:spPr>
        <p:txBody>
          <a:bodyPr wrap="square" lIns="0" rIns="0" tIns="0" bIns="0" anchor="t">
            <a:spAutoFit/>
          </a:bodyPr>
          <a:lstStyle/>
          <a:p>
            <a:pPr algn="l">
              <a:lnSpc>
                <a:spcPct val="112000"/>
              </a:lnSpc>
              <a:spcAft>
                <a:spcPts val="0"/>
              </a:spcAft>
            </a:pPr>
            <a:r>
              <a:rPr sz="950" b="0" i="0">
                <a:solidFill>
                  <a:srgbClr val="D3D8E0"/>
                </a:solidFill>
                <a:latin typeface="Arial"/>
              </a:rPr>
              <a:t>17 modul UI per domain — spot, event, review, ...</a:t>
            </a:r>
          </a:p>
        </p:txBody>
      </p:sp>
      <p:sp>
        <p:nvSpPr>
          <p:cNvPr id="14" name="Rounded Rectangle 13"/>
          <p:cNvSpPr/>
          <p:nvPr/>
        </p:nvSpPr>
        <p:spPr>
          <a:xfrm>
            <a:off x="640080" y="3429000"/>
            <a:ext cx="7360920" cy="658368"/>
          </a:xfrm>
          <a:prstGeom prst="roundRect">
            <a:avLst>
              <a:gd name="adj" fmla="val 10000"/>
            </a:avLst>
          </a:prstGeom>
          <a:solidFill>
            <a:srgbClr val="333D4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Oval 14"/>
          <p:cNvSpPr/>
          <p:nvPr/>
        </p:nvSpPr>
        <p:spPr>
          <a:xfrm>
            <a:off x="822960" y="3575304"/>
            <a:ext cx="365760" cy="365760"/>
          </a:xfrm>
          <a:prstGeom prst="ellipse">
            <a:avLst/>
          </a:prstGeom>
          <a:solidFill>
            <a:srgbClr val="FF5A5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Arial"/>
              </a:rPr>
              <a:t>3</a:t>
            </a:r>
          </a:p>
        </p:txBody>
      </p:sp>
      <p:sp>
        <p:nvSpPr>
          <p:cNvPr id="16" name="TextBox 15"/>
          <p:cNvSpPr txBox="1"/>
          <p:nvPr/>
        </p:nvSpPr>
        <p:spPr>
          <a:xfrm>
            <a:off x="1353312" y="3584448"/>
            <a:ext cx="2743200" cy="274320"/>
          </a:xfrm>
          <a:prstGeom prst="rect">
            <a:avLst/>
          </a:prstGeom>
          <a:noFill/>
        </p:spPr>
        <p:txBody>
          <a:bodyPr wrap="square" lIns="0" rIns="0" tIns="0" bIns="0" anchor="t">
            <a:spAutoFit/>
          </a:bodyPr>
          <a:lstStyle/>
          <a:p>
            <a:pPr algn="l">
              <a:lnSpc>
                <a:spcPct val="112000"/>
              </a:lnSpc>
              <a:spcAft>
                <a:spcPts val="0"/>
              </a:spcAft>
            </a:pPr>
            <a:r>
              <a:rPr sz="1250" b="1" i="0">
                <a:solidFill>
                  <a:srgbClr val="FFFFFF"/>
                </a:solidFill>
                <a:latin typeface="Consolas"/>
              </a:rPr>
              <a:t>src/data/repositories/</a:t>
            </a:r>
          </a:p>
        </p:txBody>
      </p:sp>
      <p:sp>
        <p:nvSpPr>
          <p:cNvPr id="17" name="TextBox 16"/>
          <p:cNvSpPr txBox="1"/>
          <p:nvPr/>
        </p:nvSpPr>
        <p:spPr>
          <a:xfrm>
            <a:off x="3931920" y="3611880"/>
            <a:ext cx="3886200" cy="292608"/>
          </a:xfrm>
          <a:prstGeom prst="rect">
            <a:avLst/>
          </a:prstGeom>
          <a:noFill/>
        </p:spPr>
        <p:txBody>
          <a:bodyPr wrap="square" lIns="0" rIns="0" tIns="0" bIns="0" anchor="t">
            <a:spAutoFit/>
          </a:bodyPr>
          <a:lstStyle/>
          <a:p>
            <a:pPr algn="l">
              <a:lnSpc>
                <a:spcPct val="112000"/>
              </a:lnSpc>
              <a:spcAft>
                <a:spcPts val="0"/>
              </a:spcAft>
            </a:pPr>
            <a:r>
              <a:rPr sz="950" b="0" i="0">
                <a:solidFill>
                  <a:srgbClr val="D3D8E0"/>
                </a:solidFill>
                <a:latin typeface="Arial"/>
              </a:rPr>
              <a:t>fungsi berbentuk API + simulasi latency 200 ms</a:t>
            </a:r>
          </a:p>
        </p:txBody>
      </p:sp>
      <p:sp>
        <p:nvSpPr>
          <p:cNvPr id="18" name="Rounded Rectangle 17"/>
          <p:cNvSpPr/>
          <p:nvPr/>
        </p:nvSpPr>
        <p:spPr>
          <a:xfrm>
            <a:off x="640080" y="4251960"/>
            <a:ext cx="7360920" cy="658368"/>
          </a:xfrm>
          <a:prstGeom prst="roundRect">
            <a:avLst>
              <a:gd name="adj" fmla="val 10000"/>
            </a:avLst>
          </a:prstGeom>
          <a:solidFill>
            <a:srgbClr val="2C364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9" name="Oval 18"/>
          <p:cNvSpPr/>
          <p:nvPr/>
        </p:nvSpPr>
        <p:spPr>
          <a:xfrm>
            <a:off x="822960" y="4398264"/>
            <a:ext cx="365760" cy="365760"/>
          </a:xfrm>
          <a:prstGeom prst="ellipse">
            <a:avLst/>
          </a:prstGeom>
          <a:solidFill>
            <a:srgbClr val="FF5A5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Arial"/>
              </a:rPr>
              <a:t>4</a:t>
            </a:r>
          </a:p>
        </p:txBody>
      </p:sp>
      <p:sp>
        <p:nvSpPr>
          <p:cNvPr id="20" name="TextBox 19"/>
          <p:cNvSpPr txBox="1"/>
          <p:nvPr/>
        </p:nvSpPr>
        <p:spPr>
          <a:xfrm>
            <a:off x="1353312" y="4407408"/>
            <a:ext cx="2743200" cy="274320"/>
          </a:xfrm>
          <a:prstGeom prst="rect">
            <a:avLst/>
          </a:prstGeom>
          <a:noFill/>
        </p:spPr>
        <p:txBody>
          <a:bodyPr wrap="square" lIns="0" rIns="0" tIns="0" bIns="0" anchor="t">
            <a:spAutoFit/>
          </a:bodyPr>
          <a:lstStyle/>
          <a:p>
            <a:pPr algn="l">
              <a:lnSpc>
                <a:spcPct val="112000"/>
              </a:lnSpc>
              <a:spcAft>
                <a:spcPts val="0"/>
              </a:spcAft>
            </a:pPr>
            <a:r>
              <a:rPr sz="1250" b="1" i="0">
                <a:solidFill>
                  <a:srgbClr val="FFFFFF"/>
                </a:solidFill>
                <a:latin typeface="Consolas"/>
              </a:rPr>
              <a:t>app/api/</a:t>
            </a:r>
          </a:p>
        </p:txBody>
      </p:sp>
      <p:sp>
        <p:nvSpPr>
          <p:cNvPr id="21" name="TextBox 20"/>
          <p:cNvSpPr txBox="1"/>
          <p:nvPr/>
        </p:nvSpPr>
        <p:spPr>
          <a:xfrm>
            <a:off x="3931920" y="4434840"/>
            <a:ext cx="3886200" cy="292608"/>
          </a:xfrm>
          <a:prstGeom prst="rect">
            <a:avLst/>
          </a:prstGeom>
          <a:noFill/>
        </p:spPr>
        <p:txBody>
          <a:bodyPr wrap="square" lIns="0" rIns="0" tIns="0" bIns="0" anchor="t">
            <a:spAutoFit/>
          </a:bodyPr>
          <a:lstStyle/>
          <a:p>
            <a:pPr algn="l">
              <a:lnSpc>
                <a:spcPct val="112000"/>
              </a:lnSpc>
              <a:spcAft>
                <a:spcPts val="0"/>
              </a:spcAft>
            </a:pPr>
            <a:r>
              <a:rPr sz="950" b="0" i="0">
                <a:solidFill>
                  <a:srgbClr val="D3D8E0"/>
                </a:solidFill>
                <a:latin typeface="Arial"/>
              </a:rPr>
              <a:t>47 route handler · validasi Zod · server store</a:t>
            </a:r>
          </a:p>
        </p:txBody>
      </p:sp>
      <p:sp>
        <p:nvSpPr>
          <p:cNvPr id="22" name="Rounded Rectangle 21"/>
          <p:cNvSpPr/>
          <p:nvPr/>
        </p:nvSpPr>
        <p:spPr>
          <a:xfrm>
            <a:off x="640080" y="5074920"/>
            <a:ext cx="7360920" cy="658368"/>
          </a:xfrm>
          <a:prstGeom prst="roundRect">
            <a:avLst>
              <a:gd name="adj" fmla="val 10000"/>
            </a:avLst>
          </a:prstGeom>
          <a:solidFill>
            <a:srgbClr val="333D4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Oval 22"/>
          <p:cNvSpPr/>
          <p:nvPr/>
        </p:nvSpPr>
        <p:spPr>
          <a:xfrm>
            <a:off x="822960" y="5221224"/>
            <a:ext cx="365760" cy="365760"/>
          </a:xfrm>
          <a:prstGeom prst="ellipse">
            <a:avLst/>
          </a:prstGeom>
          <a:solidFill>
            <a:srgbClr val="FF5A5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Arial"/>
              </a:rPr>
              <a:t>5</a:t>
            </a:r>
          </a:p>
        </p:txBody>
      </p:sp>
      <p:sp>
        <p:nvSpPr>
          <p:cNvPr id="24" name="TextBox 23"/>
          <p:cNvSpPr txBox="1"/>
          <p:nvPr/>
        </p:nvSpPr>
        <p:spPr>
          <a:xfrm>
            <a:off x="1353312" y="5230368"/>
            <a:ext cx="2743200" cy="274320"/>
          </a:xfrm>
          <a:prstGeom prst="rect">
            <a:avLst/>
          </a:prstGeom>
          <a:noFill/>
        </p:spPr>
        <p:txBody>
          <a:bodyPr wrap="square" lIns="0" rIns="0" tIns="0" bIns="0" anchor="t">
            <a:spAutoFit/>
          </a:bodyPr>
          <a:lstStyle/>
          <a:p>
            <a:pPr algn="l">
              <a:lnSpc>
                <a:spcPct val="112000"/>
              </a:lnSpc>
              <a:spcAft>
                <a:spcPts val="0"/>
              </a:spcAft>
            </a:pPr>
            <a:r>
              <a:rPr sz="1250" b="1" i="0">
                <a:solidFill>
                  <a:srgbClr val="FFFFFF"/>
                </a:solidFill>
                <a:latin typeface="Consolas"/>
              </a:rPr>
              <a:t>src/db/</a:t>
            </a:r>
          </a:p>
        </p:txBody>
      </p:sp>
      <p:sp>
        <p:nvSpPr>
          <p:cNvPr id="25" name="TextBox 24"/>
          <p:cNvSpPr txBox="1"/>
          <p:nvPr/>
        </p:nvSpPr>
        <p:spPr>
          <a:xfrm>
            <a:off x="3931920" y="5257800"/>
            <a:ext cx="3886200" cy="292608"/>
          </a:xfrm>
          <a:prstGeom prst="rect">
            <a:avLst/>
          </a:prstGeom>
          <a:noFill/>
        </p:spPr>
        <p:txBody>
          <a:bodyPr wrap="square" lIns="0" rIns="0" tIns="0" bIns="0" anchor="t">
            <a:spAutoFit/>
          </a:bodyPr>
          <a:lstStyle/>
          <a:p>
            <a:pPr algn="l">
              <a:lnSpc>
                <a:spcPct val="112000"/>
              </a:lnSpc>
              <a:spcAft>
                <a:spcPts val="0"/>
              </a:spcAft>
            </a:pPr>
            <a:r>
              <a:rPr sz="950" b="0" i="0">
                <a:solidFill>
                  <a:srgbClr val="D3D8E0"/>
                </a:solidFill>
                <a:latin typeface="Arial"/>
              </a:rPr>
              <a:t>Drizzle: 32 tabel, 17 enum, relasi eksplisit</a:t>
            </a:r>
          </a:p>
        </p:txBody>
      </p:sp>
      <p:sp>
        <p:nvSpPr>
          <p:cNvPr id="26" name="Rounded Rectangle 25"/>
          <p:cNvSpPr/>
          <p:nvPr/>
        </p:nvSpPr>
        <p:spPr>
          <a:xfrm>
            <a:off x="8321040" y="1783080"/>
            <a:ext cx="3227832" cy="1078992"/>
          </a:xfrm>
          <a:prstGeom prst="roundRect">
            <a:avLst>
              <a:gd name="adj" fmla="val 8000"/>
            </a:avLst>
          </a:prstGeom>
          <a:solidFill>
            <a:srgbClr val="FFFFFF"/>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7" name="TextBox 26"/>
          <p:cNvSpPr txBox="1"/>
          <p:nvPr/>
        </p:nvSpPr>
        <p:spPr>
          <a:xfrm>
            <a:off x="8522208" y="1929384"/>
            <a:ext cx="2834640" cy="237744"/>
          </a:xfrm>
          <a:prstGeom prst="rect">
            <a:avLst/>
          </a:prstGeom>
          <a:noFill/>
        </p:spPr>
        <p:txBody>
          <a:bodyPr wrap="square" lIns="0" rIns="0" tIns="0" bIns="0" anchor="t">
            <a:spAutoFit/>
          </a:bodyPr>
          <a:lstStyle/>
          <a:p>
            <a:pPr algn="l">
              <a:lnSpc>
                <a:spcPct val="112000"/>
              </a:lnSpc>
              <a:spcAft>
                <a:spcPts val="0"/>
              </a:spcAft>
            </a:pPr>
            <a:r>
              <a:rPr sz="1050" b="1" i="0">
                <a:solidFill>
                  <a:srgbClr val="D93F45"/>
                </a:solidFill>
                <a:latin typeface="Arial"/>
              </a:rPr>
              <a:t>Repository = seam</a:t>
            </a:r>
          </a:p>
        </p:txBody>
      </p:sp>
      <p:sp>
        <p:nvSpPr>
          <p:cNvPr id="28" name="TextBox 27"/>
          <p:cNvSpPr txBox="1"/>
          <p:nvPr/>
        </p:nvSpPr>
        <p:spPr>
          <a:xfrm>
            <a:off x="8522208" y="2203704"/>
            <a:ext cx="2788920" cy="594360"/>
          </a:xfrm>
          <a:prstGeom prst="rect">
            <a:avLst/>
          </a:prstGeom>
          <a:noFill/>
        </p:spPr>
        <p:txBody>
          <a:bodyPr wrap="square" lIns="0" rIns="0" tIns="0" bIns="0" anchor="t">
            <a:spAutoFit/>
          </a:bodyPr>
          <a:lstStyle/>
          <a:p>
            <a:pPr algn="l">
              <a:lnSpc>
                <a:spcPct val="120000"/>
              </a:lnSpc>
              <a:spcAft>
                <a:spcPts val="0"/>
              </a:spcAft>
            </a:pPr>
            <a:r>
              <a:rPr sz="900" b="0" i="0">
                <a:solidFill>
                  <a:srgbClr val="333D4A"/>
                </a:solidFill>
                <a:latin typeface="Arial"/>
              </a:rPr>
              <a:t>apiFetch mencoba REST, lalu fallback ke server store in-memory saat gagal.</a:t>
            </a:r>
          </a:p>
        </p:txBody>
      </p:sp>
      <p:sp>
        <p:nvSpPr>
          <p:cNvPr id="29" name="Rounded Rectangle 28"/>
          <p:cNvSpPr/>
          <p:nvPr/>
        </p:nvSpPr>
        <p:spPr>
          <a:xfrm>
            <a:off x="8321040" y="2971800"/>
            <a:ext cx="3227832" cy="1078992"/>
          </a:xfrm>
          <a:prstGeom prst="roundRect">
            <a:avLst>
              <a:gd name="adj" fmla="val 8000"/>
            </a:avLst>
          </a:prstGeom>
          <a:solidFill>
            <a:srgbClr val="FFFFFF"/>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0" name="TextBox 29"/>
          <p:cNvSpPr txBox="1"/>
          <p:nvPr/>
        </p:nvSpPr>
        <p:spPr>
          <a:xfrm>
            <a:off x="8522208" y="3118104"/>
            <a:ext cx="2834640" cy="237744"/>
          </a:xfrm>
          <a:prstGeom prst="rect">
            <a:avLst/>
          </a:prstGeom>
          <a:noFill/>
        </p:spPr>
        <p:txBody>
          <a:bodyPr wrap="square" lIns="0" rIns="0" tIns="0" bIns="0" anchor="t">
            <a:spAutoFit/>
          </a:bodyPr>
          <a:lstStyle/>
          <a:p>
            <a:pPr algn="l">
              <a:lnSpc>
                <a:spcPct val="112000"/>
              </a:lnSpc>
              <a:spcAft>
                <a:spcPts val="0"/>
              </a:spcAft>
            </a:pPr>
            <a:r>
              <a:rPr sz="1050" b="1" i="0">
                <a:solidFill>
                  <a:srgbClr val="D93F45"/>
                </a:solidFill>
                <a:latin typeface="Arial"/>
              </a:rPr>
              <a:t>Kontrak bersama</a:t>
            </a:r>
          </a:p>
        </p:txBody>
      </p:sp>
      <p:sp>
        <p:nvSpPr>
          <p:cNvPr id="31" name="TextBox 30"/>
          <p:cNvSpPr txBox="1"/>
          <p:nvPr/>
        </p:nvSpPr>
        <p:spPr>
          <a:xfrm>
            <a:off x="8522208" y="3392424"/>
            <a:ext cx="2788920" cy="594360"/>
          </a:xfrm>
          <a:prstGeom prst="rect">
            <a:avLst/>
          </a:prstGeom>
          <a:noFill/>
        </p:spPr>
        <p:txBody>
          <a:bodyPr wrap="square" lIns="0" rIns="0" tIns="0" bIns="0" anchor="t">
            <a:spAutoFit/>
          </a:bodyPr>
          <a:lstStyle/>
          <a:p>
            <a:pPr algn="l">
              <a:lnSpc>
                <a:spcPct val="120000"/>
              </a:lnSpc>
              <a:spcAft>
                <a:spcPts val="0"/>
              </a:spcAft>
            </a:pPr>
            <a:r>
              <a:rPr sz="900" b="0" i="0">
                <a:solidFill>
                  <a:srgbClr val="333D4A"/>
                </a:solidFill>
                <a:latin typeface="Arial"/>
              </a:rPr>
              <a:t>15 file di src/shared/contracts dipakai B2C dan disiapkan untuk B2B.</a:t>
            </a:r>
          </a:p>
        </p:txBody>
      </p:sp>
      <p:sp>
        <p:nvSpPr>
          <p:cNvPr id="32" name="Rounded Rectangle 31"/>
          <p:cNvSpPr/>
          <p:nvPr/>
        </p:nvSpPr>
        <p:spPr>
          <a:xfrm>
            <a:off x="8321040" y="4160520"/>
            <a:ext cx="3227832" cy="1078992"/>
          </a:xfrm>
          <a:prstGeom prst="roundRect">
            <a:avLst>
              <a:gd name="adj" fmla="val 8000"/>
            </a:avLst>
          </a:prstGeom>
          <a:solidFill>
            <a:srgbClr val="FFFFFF"/>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3" name="TextBox 32"/>
          <p:cNvSpPr txBox="1"/>
          <p:nvPr/>
        </p:nvSpPr>
        <p:spPr>
          <a:xfrm>
            <a:off x="8522208" y="4306824"/>
            <a:ext cx="2834640" cy="237744"/>
          </a:xfrm>
          <a:prstGeom prst="rect">
            <a:avLst/>
          </a:prstGeom>
          <a:noFill/>
        </p:spPr>
        <p:txBody>
          <a:bodyPr wrap="square" lIns="0" rIns="0" tIns="0" bIns="0" anchor="t">
            <a:spAutoFit/>
          </a:bodyPr>
          <a:lstStyle/>
          <a:p>
            <a:pPr algn="l">
              <a:lnSpc>
                <a:spcPct val="112000"/>
              </a:lnSpc>
              <a:spcAft>
                <a:spcPts val="0"/>
              </a:spcAft>
            </a:pPr>
            <a:r>
              <a:rPr sz="1050" b="1" i="0">
                <a:solidFill>
                  <a:srgbClr val="D93F45"/>
                </a:solidFill>
                <a:latin typeface="Arial"/>
              </a:rPr>
              <a:t>Validasi di tepi</a:t>
            </a:r>
          </a:p>
        </p:txBody>
      </p:sp>
      <p:sp>
        <p:nvSpPr>
          <p:cNvPr id="34" name="TextBox 33"/>
          <p:cNvSpPr txBox="1"/>
          <p:nvPr/>
        </p:nvSpPr>
        <p:spPr>
          <a:xfrm>
            <a:off x="8522208" y="4581144"/>
            <a:ext cx="2788920" cy="594360"/>
          </a:xfrm>
          <a:prstGeom prst="rect">
            <a:avLst/>
          </a:prstGeom>
          <a:noFill/>
        </p:spPr>
        <p:txBody>
          <a:bodyPr wrap="square" lIns="0" rIns="0" tIns="0" bIns="0" anchor="t">
            <a:spAutoFit/>
          </a:bodyPr>
          <a:lstStyle/>
          <a:p>
            <a:pPr algn="l">
              <a:lnSpc>
                <a:spcPct val="120000"/>
              </a:lnSpc>
              <a:spcAft>
                <a:spcPts val="0"/>
              </a:spcAft>
            </a:pPr>
            <a:r>
              <a:rPr sz="900" b="0" i="0">
                <a:solidFill>
                  <a:srgbClr val="333D4A"/>
                </a:solidFill>
                <a:latin typeface="Arial"/>
              </a:rPr>
              <a:t>Zod mem-parse body dan query sebelum menyentuh store atau database.</a:t>
            </a:r>
          </a:p>
        </p:txBody>
      </p:sp>
      <p:sp>
        <p:nvSpPr>
          <p:cNvPr id="35" name="Rounded Rectangle 34"/>
          <p:cNvSpPr/>
          <p:nvPr/>
        </p:nvSpPr>
        <p:spPr>
          <a:xfrm>
            <a:off x="8321040" y="5349240"/>
            <a:ext cx="3227832" cy="1078992"/>
          </a:xfrm>
          <a:prstGeom prst="roundRect">
            <a:avLst>
              <a:gd name="adj" fmla="val 8000"/>
            </a:avLst>
          </a:prstGeom>
          <a:solidFill>
            <a:srgbClr val="FFFFFF"/>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6" name="TextBox 35"/>
          <p:cNvSpPr txBox="1"/>
          <p:nvPr/>
        </p:nvSpPr>
        <p:spPr>
          <a:xfrm>
            <a:off x="8522208" y="5495544"/>
            <a:ext cx="2834640" cy="237744"/>
          </a:xfrm>
          <a:prstGeom prst="rect">
            <a:avLst/>
          </a:prstGeom>
          <a:noFill/>
        </p:spPr>
        <p:txBody>
          <a:bodyPr wrap="square" lIns="0" rIns="0" tIns="0" bIns="0" anchor="t">
            <a:spAutoFit/>
          </a:bodyPr>
          <a:lstStyle/>
          <a:p>
            <a:pPr algn="l">
              <a:lnSpc>
                <a:spcPct val="112000"/>
              </a:lnSpc>
              <a:spcAft>
                <a:spcPts val="0"/>
              </a:spcAft>
            </a:pPr>
            <a:r>
              <a:rPr sz="1050" b="1" i="0">
                <a:solidFill>
                  <a:srgbClr val="D93F45"/>
                </a:solidFill>
                <a:latin typeface="Arial"/>
              </a:rPr>
              <a:t>Fallback lokal</a:t>
            </a:r>
          </a:p>
        </p:txBody>
      </p:sp>
      <p:sp>
        <p:nvSpPr>
          <p:cNvPr id="37" name="TextBox 36"/>
          <p:cNvSpPr txBox="1"/>
          <p:nvPr/>
        </p:nvSpPr>
        <p:spPr>
          <a:xfrm>
            <a:off x="8522208" y="5769864"/>
            <a:ext cx="2788920" cy="594360"/>
          </a:xfrm>
          <a:prstGeom prst="rect">
            <a:avLst/>
          </a:prstGeom>
          <a:noFill/>
        </p:spPr>
        <p:txBody>
          <a:bodyPr wrap="square" lIns="0" rIns="0" tIns="0" bIns="0" anchor="t">
            <a:spAutoFit/>
          </a:bodyPr>
          <a:lstStyle/>
          <a:p>
            <a:pPr algn="l">
              <a:lnSpc>
                <a:spcPct val="120000"/>
              </a:lnSpc>
              <a:spcAft>
                <a:spcPts val="0"/>
              </a:spcAft>
            </a:pPr>
            <a:r>
              <a:rPr sz="900" b="0" i="0">
                <a:solidFill>
                  <a:srgbClr val="333D4A"/>
                </a:solidFill>
                <a:latin typeface="Arial"/>
              </a:rPr>
              <a:t>Bila REST belum ada, store in-memory menjaga demo tetap bisa dijalankan.</a:t>
            </a:r>
          </a:p>
        </p:txBody>
      </p:sp>
      <p:sp>
        <p:nvSpPr>
          <p:cNvPr id="38" name="TextBox 37"/>
          <p:cNvSpPr txBox="1"/>
          <p:nvPr/>
        </p:nvSpPr>
        <p:spPr>
          <a:xfrm>
            <a:off x="640080" y="5989320"/>
            <a:ext cx="10881360" cy="274320"/>
          </a:xfrm>
          <a:prstGeom prst="rect">
            <a:avLst/>
          </a:prstGeom>
          <a:noFill/>
        </p:spPr>
        <p:txBody>
          <a:bodyPr wrap="square" lIns="0" rIns="0" tIns="0" bIns="0" anchor="t">
            <a:spAutoFit/>
          </a:bodyPr>
          <a:lstStyle/>
          <a:p>
            <a:pPr algn="l">
              <a:lnSpc>
                <a:spcPct val="112000"/>
              </a:lnSpc>
              <a:spcAft>
                <a:spcPts val="0"/>
              </a:spcAft>
            </a:pPr>
            <a:r>
              <a:rPr sz="1000" b="0" i="0">
                <a:solidFill>
                  <a:srgbClr val="6B7280"/>
                </a:solidFill>
                <a:latin typeface="Arial"/>
              </a:rPr>
              <a:t>Aturan keras: komponen tidak boleh import fixtures. Semua lookup lewat src/data/repositories/*.ts.</a:t>
            </a:r>
          </a:p>
        </p:txBody>
      </p:sp>
      <p:sp>
        <p:nvSpPr>
          <p:cNvPr id="39" name="Rounded Rectangle 38"/>
          <p:cNvSpPr/>
          <p:nvPr/>
        </p:nvSpPr>
        <p:spPr>
          <a:xfrm>
            <a:off x="640080" y="6419088"/>
            <a:ext cx="10908792" cy="7315"/>
          </a:xfrm>
          <a:prstGeom prst="roundRect">
            <a:avLst>
              <a:gd name="adj" fmla="val 0"/>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0" name="Rounded Rectangle 39"/>
          <p:cNvSpPr/>
          <p:nvPr/>
        </p:nvSpPr>
        <p:spPr>
          <a:xfrm>
            <a:off x="640080" y="6537960"/>
            <a:ext cx="224942" cy="224942"/>
          </a:xfrm>
          <a:prstGeom prst="roundRect">
            <a:avLst>
              <a:gd name="adj" fmla="val 22000"/>
            </a:avLst>
          </a:prstGeom>
          <a:solidFill>
            <a:srgbClr val="FF5A5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1" name="TextBox 40"/>
          <p:cNvSpPr txBox="1"/>
          <p:nvPr/>
        </p:nvSpPr>
        <p:spPr>
          <a:xfrm>
            <a:off x="640080" y="6526987"/>
            <a:ext cx="224942" cy="224942"/>
          </a:xfrm>
          <a:prstGeom prst="rect">
            <a:avLst/>
          </a:prstGeom>
          <a:noFill/>
        </p:spPr>
        <p:txBody>
          <a:bodyPr wrap="square" lIns="0" rIns="0" tIns="0" bIns="0" anchor="ctr">
            <a:spAutoFit/>
          </a:bodyPr>
          <a:lstStyle/>
          <a:p>
            <a:pPr algn="ctr">
              <a:lnSpc>
                <a:spcPct val="112000"/>
              </a:lnSpc>
              <a:spcAft>
                <a:spcPts val="0"/>
              </a:spcAft>
            </a:pPr>
            <a:r>
              <a:rPr sz="1066" b="1" i="0">
                <a:solidFill>
                  <a:srgbClr val="FFFFFF"/>
                </a:solidFill>
                <a:latin typeface="Arial"/>
              </a:rPr>
              <a:t>n</a:t>
            </a:r>
          </a:p>
        </p:txBody>
      </p:sp>
      <p:sp>
        <p:nvSpPr>
          <p:cNvPr id="42" name="TextBox 41"/>
          <p:cNvSpPr txBox="1"/>
          <p:nvPr/>
        </p:nvSpPr>
        <p:spPr>
          <a:xfrm>
            <a:off x="932505" y="6510528"/>
            <a:ext cx="899769" cy="224942"/>
          </a:xfrm>
          <a:prstGeom prst="rect">
            <a:avLst/>
          </a:prstGeom>
          <a:noFill/>
        </p:spPr>
        <p:txBody>
          <a:bodyPr wrap="square" lIns="0" rIns="0" tIns="0" bIns="0" anchor="t">
            <a:spAutoFit/>
          </a:bodyPr>
          <a:lstStyle/>
          <a:p>
            <a:pPr algn="l">
              <a:lnSpc>
                <a:spcPct val="112000"/>
              </a:lnSpc>
              <a:spcAft>
                <a:spcPts val="0"/>
              </a:spcAft>
            </a:pPr>
            <a:r>
              <a:rPr sz="1066" b="1" i="0">
                <a:solidFill>
                  <a:srgbClr val="1F2937"/>
                </a:solidFill>
                <a:latin typeface="Arial"/>
              </a:rPr>
              <a:t>NgeTag</a:t>
            </a:r>
          </a:p>
        </p:txBody>
      </p:sp>
      <p:sp>
        <p:nvSpPr>
          <p:cNvPr id="43" name="TextBox 42"/>
          <p:cNvSpPr txBox="1"/>
          <p:nvPr/>
        </p:nvSpPr>
        <p:spPr>
          <a:xfrm>
            <a:off x="1600200" y="6556248"/>
            <a:ext cx="5486400" cy="201168"/>
          </a:xfrm>
          <a:prstGeom prst="rect">
            <a:avLst/>
          </a:prstGeom>
          <a:noFill/>
        </p:spPr>
        <p:txBody>
          <a:bodyPr wrap="square" lIns="0" rIns="0" tIns="0" bIns="0" anchor="t">
            <a:spAutoFit/>
          </a:bodyPr>
          <a:lstStyle/>
          <a:p>
            <a:pPr algn="l">
              <a:lnSpc>
                <a:spcPct val="112000"/>
              </a:lnSpc>
              <a:spcAft>
                <a:spcPts val="0"/>
              </a:spcAft>
            </a:pPr>
            <a:r>
              <a:rPr sz="850" b="0" i="0">
                <a:solidFill>
                  <a:srgbClr val="6B7280"/>
                </a:solidFill>
                <a:latin typeface="Arial"/>
              </a:rPr>
              <a:t>NgeTag · Review Repository &amp; Seed Data User</a:t>
            </a:r>
          </a:p>
        </p:txBody>
      </p:sp>
      <p:sp>
        <p:nvSpPr>
          <p:cNvPr id="44" name="TextBox 43"/>
          <p:cNvSpPr txBox="1"/>
          <p:nvPr/>
        </p:nvSpPr>
        <p:spPr>
          <a:xfrm>
            <a:off x="10607040" y="6556248"/>
            <a:ext cx="941832" cy="201168"/>
          </a:xfrm>
          <a:prstGeom prst="rect">
            <a:avLst/>
          </a:prstGeom>
          <a:noFill/>
        </p:spPr>
        <p:txBody>
          <a:bodyPr wrap="square" lIns="0" rIns="0" tIns="0" bIns="0" anchor="t">
            <a:spAutoFit/>
          </a:bodyPr>
          <a:lstStyle/>
          <a:p>
            <a:pPr algn="r">
              <a:lnSpc>
                <a:spcPct val="112000"/>
              </a:lnSpc>
              <a:spcAft>
                <a:spcPts val="0"/>
              </a:spcAft>
            </a:pPr>
            <a:r>
              <a:rPr sz="850" b="0" i="0">
                <a:solidFill>
                  <a:srgbClr val="6B7280"/>
                </a:solidFill>
                <a:latin typeface="Arial"/>
              </a:rPr>
              <a:t>10 / 22</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AFAFB"/>
        </a:solidFill>
        <a:effectLst/>
      </p:bgPr>
    </p:bg>
    <p:spTree>
      <p:nvGrpSpPr>
        <p:cNvPr id="1" name=""/>
        <p:cNvGrpSpPr/>
        <p:nvPr/>
      </p:nvGrpSpPr>
      <p:grpSpPr/>
      <p:sp>
        <p:nvSpPr>
          <p:cNvPr id="2" name="TextBox 1"/>
          <p:cNvSpPr txBox="1"/>
          <p:nvPr/>
        </p:nvSpPr>
        <p:spPr>
          <a:xfrm>
            <a:off x="640080" y="384048"/>
            <a:ext cx="9601200" cy="228600"/>
          </a:xfrm>
          <a:prstGeom prst="rect">
            <a:avLst/>
          </a:prstGeom>
          <a:noFill/>
        </p:spPr>
        <p:txBody>
          <a:bodyPr wrap="square" lIns="0" rIns="0" tIns="0" bIns="0" anchor="t">
            <a:spAutoFit/>
          </a:bodyPr>
          <a:lstStyle/>
          <a:p>
            <a:pPr algn="l">
              <a:lnSpc>
                <a:spcPct val="112000"/>
              </a:lnSpc>
              <a:spcAft>
                <a:spcPts val="0"/>
              </a:spcAft>
            </a:pPr>
            <a:r>
              <a:rPr sz="1000" b="1" i="0" spc="140">
                <a:solidFill>
                  <a:srgbClr val="FF5A5F"/>
                </a:solidFill>
                <a:latin typeface="Arial"/>
              </a:rPr>
              <a:t>02 · ARSITEKTUR &amp; DATA</a:t>
            </a:r>
          </a:p>
        </p:txBody>
      </p:sp>
      <p:sp>
        <p:nvSpPr>
          <p:cNvPr id="3" name="TextBox 2"/>
          <p:cNvSpPr txBox="1"/>
          <p:nvPr/>
        </p:nvSpPr>
        <p:spPr>
          <a:xfrm>
            <a:off x="640080" y="621792"/>
            <a:ext cx="10881360" cy="566928"/>
          </a:xfrm>
          <a:prstGeom prst="rect">
            <a:avLst/>
          </a:prstGeom>
          <a:noFill/>
        </p:spPr>
        <p:txBody>
          <a:bodyPr wrap="square" lIns="0" rIns="0" tIns="0" bIns="0" anchor="t">
            <a:spAutoFit/>
          </a:bodyPr>
          <a:lstStyle/>
          <a:p>
            <a:pPr algn="l">
              <a:lnSpc>
                <a:spcPct val="112000"/>
              </a:lnSpc>
              <a:spcAft>
                <a:spcPts val="0"/>
              </a:spcAft>
            </a:pPr>
            <a:r>
              <a:rPr sz="2600" b="1" i="0">
                <a:solidFill>
                  <a:srgbClr val="1F2937"/>
                </a:solidFill>
                <a:latin typeface="Arial"/>
              </a:rPr>
              <a:t>Struktur folder mengikuti domain, bukan tipe file</a:t>
            </a:r>
          </a:p>
        </p:txBody>
      </p:sp>
      <p:sp>
        <p:nvSpPr>
          <p:cNvPr id="4" name="TextBox 3"/>
          <p:cNvSpPr txBox="1"/>
          <p:nvPr/>
        </p:nvSpPr>
        <p:spPr>
          <a:xfrm>
            <a:off x="640080" y="1225296"/>
            <a:ext cx="10424160" cy="365760"/>
          </a:xfrm>
          <a:prstGeom prst="rect">
            <a:avLst/>
          </a:prstGeom>
          <a:noFill/>
        </p:spPr>
        <p:txBody>
          <a:bodyPr wrap="square" lIns="0" rIns="0" tIns="0" bIns="0" anchor="t">
            <a:spAutoFit/>
          </a:bodyPr>
          <a:lstStyle/>
          <a:p>
            <a:pPr algn="l">
              <a:lnSpc>
                <a:spcPct val="112000"/>
              </a:lnSpc>
              <a:spcAft>
                <a:spcPts val="0"/>
              </a:spcAft>
            </a:pPr>
            <a:r>
              <a:rPr sz="1250" b="0" i="0">
                <a:solidFill>
                  <a:srgbClr val="6B7280"/>
                </a:solidFill>
                <a:latin typeface="Arial"/>
              </a:rPr>
              <a:t>Feature-driven modules membuat boundary aman diekstrak ke monorepo nanti.</a:t>
            </a:r>
          </a:p>
        </p:txBody>
      </p:sp>
      <p:sp>
        <p:nvSpPr>
          <p:cNvPr id="5" name="Rounded Rectangle 4"/>
          <p:cNvSpPr/>
          <p:nvPr/>
        </p:nvSpPr>
        <p:spPr>
          <a:xfrm>
            <a:off x="640080" y="1170432"/>
            <a:ext cx="502920" cy="32004"/>
          </a:xfrm>
          <a:prstGeom prst="roundRect">
            <a:avLst>
              <a:gd name="adj" fmla="val 0"/>
            </a:avLst>
          </a:prstGeom>
          <a:solidFill>
            <a:srgbClr val="FF5A5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 name="Rounded Rectangle 5"/>
          <p:cNvSpPr/>
          <p:nvPr/>
        </p:nvSpPr>
        <p:spPr>
          <a:xfrm>
            <a:off x="640080" y="1792224"/>
            <a:ext cx="5440680" cy="3913632"/>
          </a:xfrm>
          <a:prstGeom prst="roundRect">
            <a:avLst>
              <a:gd name="adj" fmla="val 7000"/>
            </a:avLst>
          </a:prstGeom>
          <a:solidFill>
            <a:srgbClr val="15161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 name="TextBox 6"/>
          <p:cNvSpPr txBox="1"/>
          <p:nvPr/>
        </p:nvSpPr>
        <p:spPr>
          <a:xfrm>
            <a:off x="868680" y="1956816"/>
            <a:ext cx="2331720" cy="256032"/>
          </a:xfrm>
          <a:prstGeom prst="rect">
            <a:avLst/>
          </a:prstGeom>
          <a:noFill/>
        </p:spPr>
        <p:txBody>
          <a:bodyPr wrap="square" lIns="0" rIns="0" tIns="0" bIns="0" anchor="t">
            <a:spAutoFit/>
          </a:bodyPr>
          <a:lstStyle/>
          <a:p>
            <a:pPr algn="l">
              <a:lnSpc>
                <a:spcPct val="112000"/>
              </a:lnSpc>
              <a:spcAft>
                <a:spcPts val="0"/>
              </a:spcAft>
            </a:pPr>
            <a:r>
              <a:rPr sz="950" b="0" i="0">
                <a:solidFill>
                  <a:srgbClr val="8FD6C6"/>
                </a:solidFill>
                <a:latin typeface="Consolas"/>
              </a:rPr>
              <a:t>app/</a:t>
            </a:r>
          </a:p>
        </p:txBody>
      </p:sp>
      <p:sp>
        <p:nvSpPr>
          <p:cNvPr id="8" name="TextBox 7"/>
          <p:cNvSpPr txBox="1"/>
          <p:nvPr/>
        </p:nvSpPr>
        <p:spPr>
          <a:xfrm>
            <a:off x="3246120" y="1956816"/>
            <a:ext cx="2697480" cy="256032"/>
          </a:xfrm>
          <a:prstGeom prst="rect">
            <a:avLst/>
          </a:prstGeom>
          <a:noFill/>
        </p:spPr>
        <p:txBody>
          <a:bodyPr wrap="square" lIns="0" rIns="0" tIns="0" bIns="0" anchor="t">
            <a:spAutoFit/>
          </a:bodyPr>
          <a:lstStyle/>
          <a:p>
            <a:pPr algn="l">
              <a:lnSpc>
                <a:spcPct val="112000"/>
              </a:lnSpc>
              <a:spcAft>
                <a:spcPts val="0"/>
              </a:spcAft>
            </a:pPr>
            <a:r>
              <a:rPr sz="900" b="0" i="0">
                <a:solidFill>
                  <a:srgbClr val="A9B1BD"/>
                </a:solidFill>
                <a:latin typeface="Arial"/>
              </a:rPr>
              <a:t>route + page</a:t>
            </a:r>
          </a:p>
        </p:txBody>
      </p:sp>
      <p:sp>
        <p:nvSpPr>
          <p:cNvPr id="9" name="TextBox 8"/>
          <p:cNvSpPr txBox="1"/>
          <p:nvPr/>
        </p:nvSpPr>
        <p:spPr>
          <a:xfrm>
            <a:off x="868680" y="2286000"/>
            <a:ext cx="2331720" cy="256032"/>
          </a:xfrm>
          <a:prstGeom prst="rect">
            <a:avLst/>
          </a:prstGeom>
          <a:noFill/>
        </p:spPr>
        <p:txBody>
          <a:bodyPr wrap="square" lIns="0" rIns="0" tIns="0" bIns="0" anchor="t">
            <a:spAutoFit/>
          </a:bodyPr>
          <a:lstStyle/>
          <a:p>
            <a:pPr algn="l">
              <a:lnSpc>
                <a:spcPct val="112000"/>
              </a:lnSpc>
              <a:spcAft>
                <a:spcPts val="0"/>
              </a:spcAft>
            </a:pPr>
            <a:r>
              <a:rPr sz="950" b="0" i="0">
                <a:solidFill>
                  <a:srgbClr val="8FD6C6"/>
                </a:solidFill>
                <a:latin typeface="Consolas"/>
              </a:rPr>
              <a:t>src/components/</a:t>
            </a:r>
          </a:p>
        </p:txBody>
      </p:sp>
      <p:sp>
        <p:nvSpPr>
          <p:cNvPr id="10" name="TextBox 9"/>
          <p:cNvSpPr txBox="1"/>
          <p:nvPr/>
        </p:nvSpPr>
        <p:spPr>
          <a:xfrm>
            <a:off x="3246120" y="2286000"/>
            <a:ext cx="2697480" cy="256032"/>
          </a:xfrm>
          <a:prstGeom prst="rect">
            <a:avLst/>
          </a:prstGeom>
          <a:noFill/>
        </p:spPr>
        <p:txBody>
          <a:bodyPr wrap="square" lIns="0" rIns="0" tIns="0" bIns="0" anchor="t">
            <a:spAutoFit/>
          </a:bodyPr>
          <a:lstStyle/>
          <a:p>
            <a:pPr algn="l">
              <a:lnSpc>
                <a:spcPct val="112000"/>
              </a:lnSpc>
              <a:spcAft>
                <a:spcPts val="0"/>
              </a:spcAft>
            </a:pPr>
            <a:r>
              <a:rPr sz="900" b="0" i="0">
                <a:solidFill>
                  <a:srgbClr val="A9B1BD"/>
                </a:solidFill>
                <a:latin typeface="Arial"/>
              </a:rPr>
              <a:t>ui · common · layout</a:t>
            </a:r>
          </a:p>
        </p:txBody>
      </p:sp>
      <p:sp>
        <p:nvSpPr>
          <p:cNvPr id="11" name="TextBox 10"/>
          <p:cNvSpPr txBox="1"/>
          <p:nvPr/>
        </p:nvSpPr>
        <p:spPr>
          <a:xfrm>
            <a:off x="868680" y="2615184"/>
            <a:ext cx="2331720" cy="256032"/>
          </a:xfrm>
          <a:prstGeom prst="rect">
            <a:avLst/>
          </a:prstGeom>
          <a:noFill/>
        </p:spPr>
        <p:txBody>
          <a:bodyPr wrap="square" lIns="0" rIns="0" tIns="0" bIns="0" anchor="t">
            <a:spAutoFit/>
          </a:bodyPr>
          <a:lstStyle/>
          <a:p>
            <a:pPr algn="l">
              <a:lnSpc>
                <a:spcPct val="112000"/>
              </a:lnSpc>
              <a:spcAft>
                <a:spcPts val="0"/>
              </a:spcAft>
            </a:pPr>
            <a:r>
              <a:rPr sz="950" b="0" i="0">
                <a:solidFill>
                  <a:srgbClr val="8FD6C6"/>
                </a:solidFill>
                <a:latin typeface="Consolas"/>
              </a:rPr>
              <a:t>src/features/</a:t>
            </a:r>
          </a:p>
        </p:txBody>
      </p:sp>
      <p:sp>
        <p:nvSpPr>
          <p:cNvPr id="12" name="TextBox 11"/>
          <p:cNvSpPr txBox="1"/>
          <p:nvPr/>
        </p:nvSpPr>
        <p:spPr>
          <a:xfrm>
            <a:off x="3246120" y="2615184"/>
            <a:ext cx="2697480" cy="256032"/>
          </a:xfrm>
          <a:prstGeom prst="rect">
            <a:avLst/>
          </a:prstGeom>
          <a:noFill/>
        </p:spPr>
        <p:txBody>
          <a:bodyPr wrap="square" lIns="0" rIns="0" tIns="0" bIns="0" anchor="t">
            <a:spAutoFit/>
          </a:bodyPr>
          <a:lstStyle/>
          <a:p>
            <a:pPr algn="l">
              <a:lnSpc>
                <a:spcPct val="112000"/>
              </a:lnSpc>
              <a:spcAft>
                <a:spcPts val="0"/>
              </a:spcAft>
            </a:pPr>
            <a:r>
              <a:rPr sz="900" b="0" i="0">
                <a:solidFill>
                  <a:srgbClr val="A9B1BD"/>
                </a:solidFill>
                <a:latin typeface="Arial"/>
              </a:rPr>
              <a:t>17 modul domain</a:t>
            </a:r>
          </a:p>
        </p:txBody>
      </p:sp>
      <p:sp>
        <p:nvSpPr>
          <p:cNvPr id="13" name="TextBox 12"/>
          <p:cNvSpPr txBox="1"/>
          <p:nvPr/>
        </p:nvSpPr>
        <p:spPr>
          <a:xfrm>
            <a:off x="868680" y="2944368"/>
            <a:ext cx="2331720" cy="256032"/>
          </a:xfrm>
          <a:prstGeom prst="rect">
            <a:avLst/>
          </a:prstGeom>
          <a:noFill/>
        </p:spPr>
        <p:txBody>
          <a:bodyPr wrap="square" lIns="0" rIns="0" tIns="0" bIns="0" anchor="t">
            <a:spAutoFit/>
          </a:bodyPr>
          <a:lstStyle/>
          <a:p>
            <a:pPr algn="l">
              <a:lnSpc>
                <a:spcPct val="112000"/>
              </a:lnSpc>
              <a:spcAft>
                <a:spcPts val="0"/>
              </a:spcAft>
            </a:pPr>
            <a:r>
              <a:rPr sz="950" b="0" i="0">
                <a:solidFill>
                  <a:srgbClr val="8FD6C6"/>
                </a:solidFill>
                <a:latin typeface="Consolas"/>
              </a:rPr>
              <a:t>src/data/</a:t>
            </a:r>
          </a:p>
        </p:txBody>
      </p:sp>
      <p:sp>
        <p:nvSpPr>
          <p:cNvPr id="14" name="TextBox 13"/>
          <p:cNvSpPr txBox="1"/>
          <p:nvPr/>
        </p:nvSpPr>
        <p:spPr>
          <a:xfrm>
            <a:off x="3246120" y="2944368"/>
            <a:ext cx="2697480" cy="256032"/>
          </a:xfrm>
          <a:prstGeom prst="rect">
            <a:avLst/>
          </a:prstGeom>
          <a:noFill/>
        </p:spPr>
        <p:txBody>
          <a:bodyPr wrap="square" lIns="0" rIns="0" tIns="0" bIns="0" anchor="t">
            <a:spAutoFit/>
          </a:bodyPr>
          <a:lstStyle/>
          <a:p>
            <a:pPr algn="l">
              <a:lnSpc>
                <a:spcPct val="112000"/>
              </a:lnSpc>
              <a:spcAft>
                <a:spcPts val="0"/>
              </a:spcAft>
            </a:pPr>
            <a:r>
              <a:rPr sz="900" b="0" i="0">
                <a:solidFill>
                  <a:srgbClr val="A9B1BD"/>
                </a:solidFill>
                <a:latin typeface="Arial"/>
              </a:rPr>
              <a:t>fixtures · repositories</a:t>
            </a:r>
          </a:p>
        </p:txBody>
      </p:sp>
      <p:sp>
        <p:nvSpPr>
          <p:cNvPr id="15" name="TextBox 14"/>
          <p:cNvSpPr txBox="1"/>
          <p:nvPr/>
        </p:nvSpPr>
        <p:spPr>
          <a:xfrm>
            <a:off x="868680" y="3273551"/>
            <a:ext cx="2331720" cy="256032"/>
          </a:xfrm>
          <a:prstGeom prst="rect">
            <a:avLst/>
          </a:prstGeom>
          <a:noFill/>
        </p:spPr>
        <p:txBody>
          <a:bodyPr wrap="square" lIns="0" rIns="0" tIns="0" bIns="0" anchor="t">
            <a:spAutoFit/>
          </a:bodyPr>
          <a:lstStyle/>
          <a:p>
            <a:pPr algn="l">
              <a:lnSpc>
                <a:spcPct val="112000"/>
              </a:lnSpc>
              <a:spcAft>
                <a:spcPts val="0"/>
              </a:spcAft>
            </a:pPr>
            <a:r>
              <a:rPr sz="950" b="0" i="0">
                <a:solidFill>
                  <a:srgbClr val="8FD6C6"/>
                </a:solidFill>
                <a:latin typeface="Consolas"/>
              </a:rPr>
              <a:t>src/db/</a:t>
            </a:r>
          </a:p>
        </p:txBody>
      </p:sp>
      <p:sp>
        <p:nvSpPr>
          <p:cNvPr id="16" name="TextBox 15"/>
          <p:cNvSpPr txBox="1"/>
          <p:nvPr/>
        </p:nvSpPr>
        <p:spPr>
          <a:xfrm>
            <a:off x="3246120" y="3273551"/>
            <a:ext cx="2697480" cy="256032"/>
          </a:xfrm>
          <a:prstGeom prst="rect">
            <a:avLst/>
          </a:prstGeom>
          <a:noFill/>
        </p:spPr>
        <p:txBody>
          <a:bodyPr wrap="square" lIns="0" rIns="0" tIns="0" bIns="0" anchor="t">
            <a:spAutoFit/>
          </a:bodyPr>
          <a:lstStyle/>
          <a:p>
            <a:pPr algn="l">
              <a:lnSpc>
                <a:spcPct val="112000"/>
              </a:lnSpc>
              <a:spcAft>
                <a:spcPts val="0"/>
              </a:spcAft>
            </a:pPr>
            <a:r>
              <a:rPr sz="900" b="0" i="0">
                <a:solidFill>
                  <a:srgbClr val="A9B1BD"/>
                </a:solidFill>
                <a:latin typeface="Arial"/>
              </a:rPr>
              <a:t>schema · relations · seed</a:t>
            </a:r>
          </a:p>
        </p:txBody>
      </p:sp>
      <p:sp>
        <p:nvSpPr>
          <p:cNvPr id="17" name="TextBox 16"/>
          <p:cNvSpPr txBox="1"/>
          <p:nvPr/>
        </p:nvSpPr>
        <p:spPr>
          <a:xfrm>
            <a:off x="868680" y="3602735"/>
            <a:ext cx="2331720" cy="256032"/>
          </a:xfrm>
          <a:prstGeom prst="rect">
            <a:avLst/>
          </a:prstGeom>
          <a:noFill/>
        </p:spPr>
        <p:txBody>
          <a:bodyPr wrap="square" lIns="0" rIns="0" tIns="0" bIns="0" anchor="t">
            <a:spAutoFit/>
          </a:bodyPr>
          <a:lstStyle/>
          <a:p>
            <a:pPr algn="l">
              <a:lnSpc>
                <a:spcPct val="112000"/>
              </a:lnSpc>
              <a:spcAft>
                <a:spcPts val="0"/>
              </a:spcAft>
            </a:pPr>
            <a:r>
              <a:rPr sz="950" b="0" i="0">
                <a:solidFill>
                  <a:srgbClr val="8FD6C6"/>
                </a:solidFill>
                <a:latin typeface="Consolas"/>
              </a:rPr>
              <a:t>src/schemas/</a:t>
            </a:r>
          </a:p>
        </p:txBody>
      </p:sp>
      <p:sp>
        <p:nvSpPr>
          <p:cNvPr id="18" name="TextBox 17"/>
          <p:cNvSpPr txBox="1"/>
          <p:nvPr/>
        </p:nvSpPr>
        <p:spPr>
          <a:xfrm>
            <a:off x="3246120" y="3602735"/>
            <a:ext cx="2697480" cy="256032"/>
          </a:xfrm>
          <a:prstGeom prst="rect">
            <a:avLst/>
          </a:prstGeom>
          <a:noFill/>
        </p:spPr>
        <p:txBody>
          <a:bodyPr wrap="square" lIns="0" rIns="0" tIns="0" bIns="0" anchor="t">
            <a:spAutoFit/>
          </a:bodyPr>
          <a:lstStyle/>
          <a:p>
            <a:pPr algn="l">
              <a:lnSpc>
                <a:spcPct val="112000"/>
              </a:lnSpc>
              <a:spcAft>
                <a:spcPts val="0"/>
              </a:spcAft>
            </a:pPr>
            <a:r>
              <a:rPr sz="900" b="0" i="0">
                <a:solidFill>
                  <a:srgbClr val="A9B1BD"/>
                </a:solidFill>
                <a:latin typeface="Arial"/>
              </a:rPr>
              <a:t>Zod per domain</a:t>
            </a:r>
          </a:p>
        </p:txBody>
      </p:sp>
      <p:sp>
        <p:nvSpPr>
          <p:cNvPr id="19" name="TextBox 18"/>
          <p:cNvSpPr txBox="1"/>
          <p:nvPr/>
        </p:nvSpPr>
        <p:spPr>
          <a:xfrm>
            <a:off x="868680" y="3931920"/>
            <a:ext cx="2331720" cy="256032"/>
          </a:xfrm>
          <a:prstGeom prst="rect">
            <a:avLst/>
          </a:prstGeom>
          <a:noFill/>
        </p:spPr>
        <p:txBody>
          <a:bodyPr wrap="square" lIns="0" rIns="0" tIns="0" bIns="0" anchor="t">
            <a:spAutoFit/>
          </a:bodyPr>
          <a:lstStyle/>
          <a:p>
            <a:pPr algn="l">
              <a:lnSpc>
                <a:spcPct val="112000"/>
              </a:lnSpc>
              <a:spcAft>
                <a:spcPts val="0"/>
              </a:spcAft>
            </a:pPr>
            <a:r>
              <a:rPr sz="950" b="0" i="0">
                <a:solidFill>
                  <a:srgbClr val="8FD6C6"/>
                </a:solidFill>
                <a:latin typeface="Consolas"/>
              </a:rPr>
              <a:t>src/shared/</a:t>
            </a:r>
          </a:p>
        </p:txBody>
      </p:sp>
      <p:sp>
        <p:nvSpPr>
          <p:cNvPr id="20" name="TextBox 19"/>
          <p:cNvSpPr txBox="1"/>
          <p:nvPr/>
        </p:nvSpPr>
        <p:spPr>
          <a:xfrm>
            <a:off x="3246120" y="3931920"/>
            <a:ext cx="2697480" cy="256032"/>
          </a:xfrm>
          <a:prstGeom prst="rect">
            <a:avLst/>
          </a:prstGeom>
          <a:noFill/>
        </p:spPr>
        <p:txBody>
          <a:bodyPr wrap="square" lIns="0" rIns="0" tIns="0" bIns="0" anchor="t">
            <a:spAutoFit/>
          </a:bodyPr>
          <a:lstStyle/>
          <a:p>
            <a:pPr algn="l">
              <a:lnSpc>
                <a:spcPct val="112000"/>
              </a:lnSpc>
              <a:spcAft>
                <a:spcPts val="0"/>
              </a:spcAft>
            </a:pPr>
            <a:r>
              <a:rPr sz="900" b="0" i="0">
                <a:solidFill>
                  <a:srgbClr val="A9B1BD"/>
                </a:solidFill>
                <a:latin typeface="Arial"/>
              </a:rPr>
              <a:t>contracts · mocks (B2B)</a:t>
            </a:r>
          </a:p>
        </p:txBody>
      </p:sp>
      <p:sp>
        <p:nvSpPr>
          <p:cNvPr id="21" name="TextBox 20"/>
          <p:cNvSpPr txBox="1"/>
          <p:nvPr/>
        </p:nvSpPr>
        <p:spPr>
          <a:xfrm>
            <a:off x="868680" y="4261104"/>
            <a:ext cx="2331720" cy="256032"/>
          </a:xfrm>
          <a:prstGeom prst="rect">
            <a:avLst/>
          </a:prstGeom>
          <a:noFill/>
        </p:spPr>
        <p:txBody>
          <a:bodyPr wrap="square" lIns="0" rIns="0" tIns="0" bIns="0" anchor="t">
            <a:spAutoFit/>
          </a:bodyPr>
          <a:lstStyle/>
          <a:p>
            <a:pPr algn="l">
              <a:lnSpc>
                <a:spcPct val="112000"/>
              </a:lnSpc>
              <a:spcAft>
                <a:spcPts val="0"/>
              </a:spcAft>
            </a:pPr>
            <a:r>
              <a:rPr sz="950" b="0" i="0">
                <a:solidFill>
                  <a:srgbClr val="8FD6C6"/>
                </a:solidFill>
                <a:latin typeface="Consolas"/>
              </a:rPr>
              <a:t>src/stores/</a:t>
            </a:r>
          </a:p>
        </p:txBody>
      </p:sp>
      <p:sp>
        <p:nvSpPr>
          <p:cNvPr id="22" name="TextBox 21"/>
          <p:cNvSpPr txBox="1"/>
          <p:nvPr/>
        </p:nvSpPr>
        <p:spPr>
          <a:xfrm>
            <a:off x="3246120" y="4261104"/>
            <a:ext cx="2697480" cy="256032"/>
          </a:xfrm>
          <a:prstGeom prst="rect">
            <a:avLst/>
          </a:prstGeom>
          <a:noFill/>
        </p:spPr>
        <p:txBody>
          <a:bodyPr wrap="square" lIns="0" rIns="0" tIns="0" bIns="0" anchor="t">
            <a:spAutoFit/>
          </a:bodyPr>
          <a:lstStyle/>
          <a:p>
            <a:pPr algn="l">
              <a:lnSpc>
                <a:spcPct val="112000"/>
              </a:lnSpc>
              <a:spcAft>
                <a:spcPts val="0"/>
              </a:spcAft>
            </a:pPr>
            <a:r>
              <a:rPr sz="900" b="0" i="0">
                <a:solidFill>
                  <a:srgbClr val="A9B1BD"/>
                </a:solidFill>
                <a:latin typeface="Arial"/>
              </a:rPr>
              <a:t>8 Zustand store</a:t>
            </a:r>
          </a:p>
        </p:txBody>
      </p:sp>
      <p:sp>
        <p:nvSpPr>
          <p:cNvPr id="23" name="TextBox 22"/>
          <p:cNvSpPr txBox="1"/>
          <p:nvPr/>
        </p:nvSpPr>
        <p:spPr>
          <a:xfrm>
            <a:off x="868680" y="4590288"/>
            <a:ext cx="2331720" cy="256032"/>
          </a:xfrm>
          <a:prstGeom prst="rect">
            <a:avLst/>
          </a:prstGeom>
          <a:noFill/>
        </p:spPr>
        <p:txBody>
          <a:bodyPr wrap="square" lIns="0" rIns="0" tIns="0" bIns="0" anchor="t">
            <a:spAutoFit/>
          </a:bodyPr>
          <a:lstStyle/>
          <a:p>
            <a:pPr algn="l">
              <a:lnSpc>
                <a:spcPct val="112000"/>
              </a:lnSpc>
              <a:spcAft>
                <a:spcPts val="0"/>
              </a:spcAft>
            </a:pPr>
            <a:r>
              <a:rPr sz="950" b="0" i="0">
                <a:solidFill>
                  <a:srgbClr val="8FD6C6"/>
                </a:solidFill>
                <a:latin typeface="Consolas"/>
              </a:rPr>
              <a:t>src/lib/</a:t>
            </a:r>
          </a:p>
        </p:txBody>
      </p:sp>
      <p:sp>
        <p:nvSpPr>
          <p:cNvPr id="24" name="TextBox 23"/>
          <p:cNvSpPr txBox="1"/>
          <p:nvPr/>
        </p:nvSpPr>
        <p:spPr>
          <a:xfrm>
            <a:off x="3246120" y="4590288"/>
            <a:ext cx="2697480" cy="256032"/>
          </a:xfrm>
          <a:prstGeom prst="rect">
            <a:avLst/>
          </a:prstGeom>
          <a:noFill/>
        </p:spPr>
        <p:txBody>
          <a:bodyPr wrap="square" lIns="0" rIns="0" tIns="0" bIns="0" anchor="t">
            <a:spAutoFit/>
          </a:bodyPr>
          <a:lstStyle/>
          <a:p>
            <a:pPr algn="l">
              <a:lnSpc>
                <a:spcPct val="112000"/>
              </a:lnSpc>
              <a:spcAft>
                <a:spcPts val="0"/>
              </a:spcAft>
            </a:pPr>
            <a:r>
              <a:rPr sz="900" b="0" i="0">
                <a:solidFill>
                  <a:srgbClr val="A9B1BD"/>
                </a:solidFill>
                <a:latin typeface="Arial"/>
              </a:rPr>
              <a:t>format · location · url</a:t>
            </a:r>
          </a:p>
        </p:txBody>
      </p:sp>
      <p:sp>
        <p:nvSpPr>
          <p:cNvPr id="25" name="TextBox 24"/>
          <p:cNvSpPr txBox="1"/>
          <p:nvPr/>
        </p:nvSpPr>
        <p:spPr>
          <a:xfrm>
            <a:off x="868680" y="4919472"/>
            <a:ext cx="2331720" cy="256032"/>
          </a:xfrm>
          <a:prstGeom prst="rect">
            <a:avLst/>
          </a:prstGeom>
          <a:noFill/>
        </p:spPr>
        <p:txBody>
          <a:bodyPr wrap="square" lIns="0" rIns="0" tIns="0" bIns="0" anchor="t">
            <a:spAutoFit/>
          </a:bodyPr>
          <a:lstStyle/>
          <a:p>
            <a:pPr algn="l">
              <a:lnSpc>
                <a:spcPct val="112000"/>
              </a:lnSpc>
              <a:spcAft>
                <a:spcPts val="0"/>
              </a:spcAft>
            </a:pPr>
            <a:r>
              <a:rPr sz="950" b="0" i="0">
                <a:solidFill>
                  <a:srgbClr val="8FD6C6"/>
                </a:solidFill>
                <a:latin typeface="Consolas"/>
              </a:rPr>
              <a:t>src/types/</a:t>
            </a:r>
          </a:p>
        </p:txBody>
      </p:sp>
      <p:sp>
        <p:nvSpPr>
          <p:cNvPr id="26" name="TextBox 25"/>
          <p:cNvSpPr txBox="1"/>
          <p:nvPr/>
        </p:nvSpPr>
        <p:spPr>
          <a:xfrm>
            <a:off x="3246120" y="4919472"/>
            <a:ext cx="2697480" cy="256032"/>
          </a:xfrm>
          <a:prstGeom prst="rect">
            <a:avLst/>
          </a:prstGeom>
          <a:noFill/>
        </p:spPr>
        <p:txBody>
          <a:bodyPr wrap="square" lIns="0" rIns="0" tIns="0" bIns="0" anchor="t">
            <a:spAutoFit/>
          </a:bodyPr>
          <a:lstStyle/>
          <a:p>
            <a:pPr algn="l">
              <a:lnSpc>
                <a:spcPct val="112000"/>
              </a:lnSpc>
              <a:spcAft>
                <a:spcPts val="0"/>
              </a:spcAft>
            </a:pPr>
            <a:r>
              <a:rPr sz="900" b="0" i="0">
                <a:solidFill>
                  <a:srgbClr val="A9B1BD"/>
                </a:solidFill>
                <a:latin typeface="Arial"/>
              </a:rPr>
              <a:t>DTO global</a:t>
            </a:r>
          </a:p>
        </p:txBody>
      </p:sp>
      <p:sp>
        <p:nvSpPr>
          <p:cNvPr id="27" name="TextBox 26"/>
          <p:cNvSpPr txBox="1"/>
          <p:nvPr/>
        </p:nvSpPr>
        <p:spPr>
          <a:xfrm>
            <a:off x="868680" y="5248656"/>
            <a:ext cx="2331720" cy="256032"/>
          </a:xfrm>
          <a:prstGeom prst="rect">
            <a:avLst/>
          </a:prstGeom>
          <a:noFill/>
        </p:spPr>
        <p:txBody>
          <a:bodyPr wrap="square" lIns="0" rIns="0" tIns="0" bIns="0" anchor="t">
            <a:spAutoFit/>
          </a:bodyPr>
          <a:lstStyle/>
          <a:p>
            <a:pPr algn="l">
              <a:lnSpc>
                <a:spcPct val="112000"/>
              </a:lnSpc>
              <a:spcAft>
                <a:spcPts val="0"/>
              </a:spcAft>
            </a:pPr>
            <a:r>
              <a:rPr sz="950" b="0" i="0">
                <a:solidFill>
                  <a:srgbClr val="8FD6C6"/>
                </a:solidFill>
                <a:latin typeface="Consolas"/>
              </a:rPr>
              <a:t>src/db/seed/</a:t>
            </a:r>
          </a:p>
        </p:txBody>
      </p:sp>
      <p:sp>
        <p:nvSpPr>
          <p:cNvPr id="28" name="TextBox 27"/>
          <p:cNvSpPr txBox="1"/>
          <p:nvPr/>
        </p:nvSpPr>
        <p:spPr>
          <a:xfrm>
            <a:off x="3246120" y="5248656"/>
            <a:ext cx="2697480" cy="256032"/>
          </a:xfrm>
          <a:prstGeom prst="rect">
            <a:avLst/>
          </a:prstGeom>
          <a:noFill/>
        </p:spPr>
        <p:txBody>
          <a:bodyPr wrap="square" lIns="0" rIns="0" tIns="0" bIns="0" anchor="t">
            <a:spAutoFit/>
          </a:bodyPr>
          <a:lstStyle/>
          <a:p>
            <a:pPr algn="l">
              <a:lnSpc>
                <a:spcPct val="112000"/>
              </a:lnSpc>
              <a:spcAft>
                <a:spcPts val="0"/>
              </a:spcAft>
            </a:pPr>
            <a:r>
              <a:rPr sz="900" b="0" i="0">
                <a:solidFill>
                  <a:srgbClr val="A9B1BD"/>
                </a:solidFill>
                <a:latin typeface="Arial"/>
              </a:rPr>
              <a:t>seed user · baru</a:t>
            </a:r>
          </a:p>
        </p:txBody>
      </p:sp>
      <p:sp>
        <p:nvSpPr>
          <p:cNvPr id="29" name="Rounded Rectangle 28"/>
          <p:cNvSpPr/>
          <p:nvPr/>
        </p:nvSpPr>
        <p:spPr>
          <a:xfrm>
            <a:off x="6355080" y="1792224"/>
            <a:ext cx="1645920" cy="1170432"/>
          </a:xfrm>
          <a:prstGeom prst="roundRect">
            <a:avLst>
              <a:gd name="adj" fmla="val 8000"/>
            </a:avLst>
          </a:prstGeom>
          <a:solidFill>
            <a:srgbClr val="FFFFFF"/>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0" name="TextBox 29"/>
          <p:cNvSpPr txBox="1"/>
          <p:nvPr/>
        </p:nvSpPr>
        <p:spPr>
          <a:xfrm>
            <a:off x="6355080" y="1975104"/>
            <a:ext cx="1645920" cy="384048"/>
          </a:xfrm>
          <a:prstGeom prst="rect">
            <a:avLst/>
          </a:prstGeom>
          <a:noFill/>
        </p:spPr>
        <p:txBody>
          <a:bodyPr wrap="square" lIns="0" rIns="0" tIns="0" bIns="0" anchor="t">
            <a:spAutoFit/>
          </a:bodyPr>
          <a:lstStyle/>
          <a:p>
            <a:pPr algn="ctr">
              <a:lnSpc>
                <a:spcPct val="112000"/>
              </a:lnSpc>
              <a:spcAft>
                <a:spcPts val="0"/>
              </a:spcAft>
            </a:pPr>
            <a:r>
              <a:rPr sz="1900" b="1" i="0">
                <a:solidFill>
                  <a:srgbClr val="1F2937"/>
                </a:solidFill>
                <a:latin typeface="Arial"/>
              </a:rPr>
              <a:t>255</a:t>
            </a:r>
          </a:p>
        </p:txBody>
      </p:sp>
      <p:sp>
        <p:nvSpPr>
          <p:cNvPr id="31" name="TextBox 30"/>
          <p:cNvSpPr txBox="1"/>
          <p:nvPr/>
        </p:nvSpPr>
        <p:spPr>
          <a:xfrm>
            <a:off x="6409944" y="2450591"/>
            <a:ext cx="1536192" cy="274320"/>
          </a:xfrm>
          <a:prstGeom prst="rect">
            <a:avLst/>
          </a:prstGeom>
          <a:noFill/>
        </p:spPr>
        <p:txBody>
          <a:bodyPr wrap="square" lIns="0" rIns="0" tIns="0" bIns="0" anchor="t">
            <a:spAutoFit/>
          </a:bodyPr>
          <a:lstStyle/>
          <a:p>
            <a:pPr algn="ctr">
              <a:lnSpc>
                <a:spcPct val="112000"/>
              </a:lnSpc>
              <a:spcAft>
                <a:spcPts val="0"/>
              </a:spcAft>
            </a:pPr>
            <a:r>
              <a:rPr sz="850" b="0" i="0">
                <a:solidFill>
                  <a:srgbClr val="6B7280"/>
                </a:solidFill>
                <a:latin typeface="Arial"/>
              </a:rPr>
              <a:t>file TS / TSX</a:t>
            </a:r>
          </a:p>
        </p:txBody>
      </p:sp>
      <p:sp>
        <p:nvSpPr>
          <p:cNvPr id="32" name="Rounded Rectangle 31"/>
          <p:cNvSpPr/>
          <p:nvPr/>
        </p:nvSpPr>
        <p:spPr>
          <a:xfrm>
            <a:off x="8119872" y="1792224"/>
            <a:ext cx="1645920" cy="1170432"/>
          </a:xfrm>
          <a:prstGeom prst="roundRect">
            <a:avLst>
              <a:gd name="adj" fmla="val 8000"/>
            </a:avLst>
          </a:prstGeom>
          <a:solidFill>
            <a:srgbClr val="FFFFFF"/>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3" name="TextBox 32"/>
          <p:cNvSpPr txBox="1"/>
          <p:nvPr/>
        </p:nvSpPr>
        <p:spPr>
          <a:xfrm>
            <a:off x="8119872" y="1975104"/>
            <a:ext cx="1645920" cy="384048"/>
          </a:xfrm>
          <a:prstGeom prst="rect">
            <a:avLst/>
          </a:prstGeom>
          <a:noFill/>
        </p:spPr>
        <p:txBody>
          <a:bodyPr wrap="square" lIns="0" rIns="0" tIns="0" bIns="0" anchor="t">
            <a:spAutoFit/>
          </a:bodyPr>
          <a:lstStyle/>
          <a:p>
            <a:pPr algn="ctr">
              <a:lnSpc>
                <a:spcPct val="112000"/>
              </a:lnSpc>
              <a:spcAft>
                <a:spcPts val="0"/>
              </a:spcAft>
            </a:pPr>
            <a:r>
              <a:rPr sz="1900" b="1" i="0">
                <a:solidFill>
                  <a:srgbClr val="1F2937"/>
                </a:solidFill>
                <a:latin typeface="Arial"/>
              </a:rPr>
              <a:t>22.099</a:t>
            </a:r>
          </a:p>
        </p:txBody>
      </p:sp>
      <p:sp>
        <p:nvSpPr>
          <p:cNvPr id="34" name="TextBox 33"/>
          <p:cNvSpPr txBox="1"/>
          <p:nvPr/>
        </p:nvSpPr>
        <p:spPr>
          <a:xfrm>
            <a:off x="8174736" y="2450591"/>
            <a:ext cx="1536192" cy="274320"/>
          </a:xfrm>
          <a:prstGeom prst="rect">
            <a:avLst/>
          </a:prstGeom>
          <a:noFill/>
        </p:spPr>
        <p:txBody>
          <a:bodyPr wrap="square" lIns="0" rIns="0" tIns="0" bIns="0" anchor="t">
            <a:spAutoFit/>
          </a:bodyPr>
          <a:lstStyle/>
          <a:p>
            <a:pPr algn="ctr">
              <a:lnSpc>
                <a:spcPct val="112000"/>
              </a:lnSpc>
              <a:spcAft>
                <a:spcPts val="0"/>
              </a:spcAft>
            </a:pPr>
            <a:r>
              <a:rPr sz="850" b="0" i="0">
                <a:solidFill>
                  <a:srgbClr val="6B7280"/>
                </a:solidFill>
                <a:latin typeface="Arial"/>
              </a:rPr>
              <a:t>baris kode</a:t>
            </a:r>
          </a:p>
        </p:txBody>
      </p:sp>
      <p:sp>
        <p:nvSpPr>
          <p:cNvPr id="35" name="Rounded Rectangle 34"/>
          <p:cNvSpPr/>
          <p:nvPr/>
        </p:nvSpPr>
        <p:spPr>
          <a:xfrm>
            <a:off x="9884664" y="1792224"/>
            <a:ext cx="1645920" cy="1170432"/>
          </a:xfrm>
          <a:prstGeom prst="roundRect">
            <a:avLst>
              <a:gd name="adj" fmla="val 8000"/>
            </a:avLst>
          </a:prstGeom>
          <a:solidFill>
            <a:srgbClr val="FFFFFF"/>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6" name="TextBox 35"/>
          <p:cNvSpPr txBox="1"/>
          <p:nvPr/>
        </p:nvSpPr>
        <p:spPr>
          <a:xfrm>
            <a:off x="9884664" y="1975104"/>
            <a:ext cx="1645920" cy="384048"/>
          </a:xfrm>
          <a:prstGeom prst="rect">
            <a:avLst/>
          </a:prstGeom>
          <a:noFill/>
        </p:spPr>
        <p:txBody>
          <a:bodyPr wrap="square" lIns="0" rIns="0" tIns="0" bIns="0" anchor="t">
            <a:spAutoFit/>
          </a:bodyPr>
          <a:lstStyle/>
          <a:p>
            <a:pPr algn="ctr">
              <a:lnSpc>
                <a:spcPct val="112000"/>
              </a:lnSpc>
              <a:spcAft>
                <a:spcPts val="0"/>
              </a:spcAft>
            </a:pPr>
            <a:r>
              <a:rPr sz="1900" b="1" i="0">
                <a:solidFill>
                  <a:srgbClr val="1F2937"/>
                </a:solidFill>
                <a:latin typeface="Arial"/>
              </a:rPr>
              <a:t>78</a:t>
            </a:r>
          </a:p>
        </p:txBody>
      </p:sp>
      <p:sp>
        <p:nvSpPr>
          <p:cNvPr id="37" name="TextBox 36"/>
          <p:cNvSpPr txBox="1"/>
          <p:nvPr/>
        </p:nvSpPr>
        <p:spPr>
          <a:xfrm>
            <a:off x="9939528" y="2450591"/>
            <a:ext cx="1536192" cy="274320"/>
          </a:xfrm>
          <a:prstGeom prst="rect">
            <a:avLst/>
          </a:prstGeom>
          <a:noFill/>
        </p:spPr>
        <p:txBody>
          <a:bodyPr wrap="square" lIns="0" rIns="0" tIns="0" bIns="0" anchor="t">
            <a:spAutoFit/>
          </a:bodyPr>
          <a:lstStyle/>
          <a:p>
            <a:pPr algn="ctr">
              <a:lnSpc>
                <a:spcPct val="112000"/>
              </a:lnSpc>
              <a:spcAft>
                <a:spcPts val="0"/>
              </a:spcAft>
            </a:pPr>
            <a:r>
              <a:rPr sz="850" b="0" i="0">
                <a:solidFill>
                  <a:srgbClr val="6B7280"/>
                </a:solidFill>
                <a:latin typeface="Arial"/>
              </a:rPr>
              <a:t>komponen .tsx</a:t>
            </a:r>
          </a:p>
        </p:txBody>
      </p:sp>
      <p:sp>
        <p:nvSpPr>
          <p:cNvPr id="38" name="Rounded Rectangle 37"/>
          <p:cNvSpPr/>
          <p:nvPr/>
        </p:nvSpPr>
        <p:spPr>
          <a:xfrm>
            <a:off x="6355080" y="3118104"/>
            <a:ext cx="1645920" cy="1170432"/>
          </a:xfrm>
          <a:prstGeom prst="roundRect">
            <a:avLst>
              <a:gd name="adj" fmla="val 8000"/>
            </a:avLst>
          </a:prstGeom>
          <a:solidFill>
            <a:srgbClr val="FFFFFF"/>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9" name="TextBox 38"/>
          <p:cNvSpPr txBox="1"/>
          <p:nvPr/>
        </p:nvSpPr>
        <p:spPr>
          <a:xfrm>
            <a:off x="6355080" y="3300984"/>
            <a:ext cx="1645920" cy="384048"/>
          </a:xfrm>
          <a:prstGeom prst="rect">
            <a:avLst/>
          </a:prstGeom>
          <a:noFill/>
        </p:spPr>
        <p:txBody>
          <a:bodyPr wrap="square" lIns="0" rIns="0" tIns="0" bIns="0" anchor="t">
            <a:spAutoFit/>
          </a:bodyPr>
          <a:lstStyle/>
          <a:p>
            <a:pPr algn="ctr">
              <a:lnSpc>
                <a:spcPct val="112000"/>
              </a:lnSpc>
              <a:spcAft>
                <a:spcPts val="0"/>
              </a:spcAft>
            </a:pPr>
            <a:r>
              <a:rPr sz="1900" b="1" i="0">
                <a:solidFill>
                  <a:srgbClr val="1F2937"/>
                </a:solidFill>
                <a:latin typeface="Arial"/>
              </a:rPr>
              <a:t>47</a:t>
            </a:r>
          </a:p>
        </p:txBody>
      </p:sp>
      <p:sp>
        <p:nvSpPr>
          <p:cNvPr id="40" name="TextBox 39"/>
          <p:cNvSpPr txBox="1"/>
          <p:nvPr/>
        </p:nvSpPr>
        <p:spPr>
          <a:xfrm>
            <a:off x="6409944" y="3776472"/>
            <a:ext cx="1536192" cy="274320"/>
          </a:xfrm>
          <a:prstGeom prst="rect">
            <a:avLst/>
          </a:prstGeom>
          <a:noFill/>
        </p:spPr>
        <p:txBody>
          <a:bodyPr wrap="square" lIns="0" rIns="0" tIns="0" bIns="0" anchor="t">
            <a:spAutoFit/>
          </a:bodyPr>
          <a:lstStyle/>
          <a:p>
            <a:pPr algn="ctr">
              <a:lnSpc>
                <a:spcPct val="112000"/>
              </a:lnSpc>
              <a:spcAft>
                <a:spcPts val="0"/>
              </a:spcAft>
            </a:pPr>
            <a:r>
              <a:rPr sz="850" b="0" i="0">
                <a:solidFill>
                  <a:srgbClr val="6B7280"/>
                </a:solidFill>
                <a:latin typeface="Arial"/>
              </a:rPr>
              <a:t>route handler</a:t>
            </a:r>
          </a:p>
        </p:txBody>
      </p:sp>
      <p:sp>
        <p:nvSpPr>
          <p:cNvPr id="41" name="Rounded Rectangle 40"/>
          <p:cNvSpPr/>
          <p:nvPr/>
        </p:nvSpPr>
        <p:spPr>
          <a:xfrm>
            <a:off x="8119872" y="3118104"/>
            <a:ext cx="1645920" cy="1170432"/>
          </a:xfrm>
          <a:prstGeom prst="roundRect">
            <a:avLst>
              <a:gd name="adj" fmla="val 8000"/>
            </a:avLst>
          </a:prstGeom>
          <a:solidFill>
            <a:srgbClr val="FFFFFF"/>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2" name="TextBox 41"/>
          <p:cNvSpPr txBox="1"/>
          <p:nvPr/>
        </p:nvSpPr>
        <p:spPr>
          <a:xfrm>
            <a:off x="8119872" y="3300984"/>
            <a:ext cx="1645920" cy="384048"/>
          </a:xfrm>
          <a:prstGeom prst="rect">
            <a:avLst/>
          </a:prstGeom>
          <a:noFill/>
        </p:spPr>
        <p:txBody>
          <a:bodyPr wrap="square" lIns="0" rIns="0" tIns="0" bIns="0" anchor="t">
            <a:spAutoFit/>
          </a:bodyPr>
          <a:lstStyle/>
          <a:p>
            <a:pPr algn="ctr">
              <a:lnSpc>
                <a:spcPct val="112000"/>
              </a:lnSpc>
              <a:spcAft>
                <a:spcPts val="0"/>
              </a:spcAft>
            </a:pPr>
            <a:r>
              <a:rPr sz="1900" b="1" i="0">
                <a:solidFill>
                  <a:srgbClr val="1F2937"/>
                </a:solidFill>
                <a:latin typeface="Arial"/>
              </a:rPr>
              <a:t>20</a:t>
            </a:r>
          </a:p>
        </p:txBody>
      </p:sp>
      <p:sp>
        <p:nvSpPr>
          <p:cNvPr id="43" name="TextBox 42"/>
          <p:cNvSpPr txBox="1"/>
          <p:nvPr/>
        </p:nvSpPr>
        <p:spPr>
          <a:xfrm>
            <a:off x="8174736" y="3776472"/>
            <a:ext cx="1536192" cy="274320"/>
          </a:xfrm>
          <a:prstGeom prst="rect">
            <a:avLst/>
          </a:prstGeom>
          <a:noFill/>
        </p:spPr>
        <p:txBody>
          <a:bodyPr wrap="square" lIns="0" rIns="0" tIns="0" bIns="0" anchor="t">
            <a:spAutoFit/>
          </a:bodyPr>
          <a:lstStyle/>
          <a:p>
            <a:pPr algn="ctr">
              <a:lnSpc>
                <a:spcPct val="112000"/>
              </a:lnSpc>
              <a:spcAft>
                <a:spcPts val="0"/>
              </a:spcAft>
            </a:pPr>
            <a:r>
              <a:rPr sz="850" b="0" i="0">
                <a:solidFill>
                  <a:srgbClr val="6B7280"/>
                </a:solidFill>
                <a:latin typeface="Arial"/>
              </a:rPr>
              <a:t>halaman</a:t>
            </a:r>
          </a:p>
        </p:txBody>
      </p:sp>
      <p:sp>
        <p:nvSpPr>
          <p:cNvPr id="44" name="Rounded Rectangle 43"/>
          <p:cNvSpPr/>
          <p:nvPr/>
        </p:nvSpPr>
        <p:spPr>
          <a:xfrm>
            <a:off x="9884664" y="3118104"/>
            <a:ext cx="1645920" cy="1170432"/>
          </a:xfrm>
          <a:prstGeom prst="roundRect">
            <a:avLst>
              <a:gd name="adj" fmla="val 8000"/>
            </a:avLst>
          </a:prstGeom>
          <a:solidFill>
            <a:srgbClr val="FFFFFF"/>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5" name="TextBox 44"/>
          <p:cNvSpPr txBox="1"/>
          <p:nvPr/>
        </p:nvSpPr>
        <p:spPr>
          <a:xfrm>
            <a:off x="9884664" y="3300984"/>
            <a:ext cx="1645920" cy="384048"/>
          </a:xfrm>
          <a:prstGeom prst="rect">
            <a:avLst/>
          </a:prstGeom>
          <a:noFill/>
        </p:spPr>
        <p:txBody>
          <a:bodyPr wrap="square" lIns="0" rIns="0" tIns="0" bIns="0" anchor="t">
            <a:spAutoFit/>
          </a:bodyPr>
          <a:lstStyle/>
          <a:p>
            <a:pPr algn="ctr">
              <a:lnSpc>
                <a:spcPct val="112000"/>
              </a:lnSpc>
              <a:spcAft>
                <a:spcPts val="0"/>
              </a:spcAft>
            </a:pPr>
            <a:r>
              <a:rPr sz="1900" b="1" i="0">
                <a:solidFill>
                  <a:srgbClr val="1F2937"/>
                </a:solidFill>
                <a:latin typeface="Arial"/>
              </a:rPr>
              <a:t>17</a:t>
            </a:r>
          </a:p>
        </p:txBody>
      </p:sp>
      <p:sp>
        <p:nvSpPr>
          <p:cNvPr id="46" name="TextBox 45"/>
          <p:cNvSpPr txBox="1"/>
          <p:nvPr/>
        </p:nvSpPr>
        <p:spPr>
          <a:xfrm>
            <a:off x="9939528" y="3776472"/>
            <a:ext cx="1536192" cy="274320"/>
          </a:xfrm>
          <a:prstGeom prst="rect">
            <a:avLst/>
          </a:prstGeom>
          <a:noFill/>
        </p:spPr>
        <p:txBody>
          <a:bodyPr wrap="square" lIns="0" rIns="0" tIns="0" bIns="0" anchor="t">
            <a:spAutoFit/>
          </a:bodyPr>
          <a:lstStyle/>
          <a:p>
            <a:pPr algn="ctr">
              <a:lnSpc>
                <a:spcPct val="112000"/>
              </a:lnSpc>
              <a:spcAft>
                <a:spcPts val="0"/>
              </a:spcAft>
            </a:pPr>
            <a:r>
              <a:rPr sz="850" b="0" i="0">
                <a:solidFill>
                  <a:srgbClr val="6B7280"/>
                </a:solidFill>
                <a:latin typeface="Arial"/>
              </a:rPr>
              <a:t>feature module</a:t>
            </a:r>
          </a:p>
        </p:txBody>
      </p:sp>
      <p:sp>
        <p:nvSpPr>
          <p:cNvPr id="47" name="Rounded Rectangle 46"/>
          <p:cNvSpPr/>
          <p:nvPr/>
        </p:nvSpPr>
        <p:spPr>
          <a:xfrm>
            <a:off x="6355080" y="4617720"/>
            <a:ext cx="5193792" cy="1097280"/>
          </a:xfrm>
          <a:prstGeom prst="roundRect">
            <a:avLst>
              <a:gd name="adj" fmla="val 8000"/>
            </a:avLst>
          </a:prstGeom>
          <a:solidFill>
            <a:srgbClr val="FFF5D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8" name="Rounded Rectangle 47"/>
          <p:cNvSpPr/>
          <p:nvPr/>
        </p:nvSpPr>
        <p:spPr>
          <a:xfrm>
            <a:off x="6355080" y="4617720"/>
            <a:ext cx="50292" cy="1097280"/>
          </a:xfrm>
          <a:prstGeom prst="roundRect">
            <a:avLst>
              <a:gd name="adj" fmla="val 0"/>
            </a:avLst>
          </a:prstGeom>
          <a:solidFill>
            <a:srgbClr val="FFB4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9" name="TextBox 48"/>
          <p:cNvSpPr txBox="1"/>
          <p:nvPr/>
        </p:nvSpPr>
        <p:spPr>
          <a:xfrm>
            <a:off x="6574536" y="4754880"/>
            <a:ext cx="4828031" cy="237744"/>
          </a:xfrm>
          <a:prstGeom prst="rect">
            <a:avLst/>
          </a:prstGeom>
          <a:noFill/>
        </p:spPr>
        <p:txBody>
          <a:bodyPr wrap="square" lIns="0" rIns="0" tIns="0" bIns="0" anchor="t">
            <a:spAutoFit/>
          </a:bodyPr>
          <a:lstStyle/>
          <a:p>
            <a:pPr algn="l">
              <a:lnSpc>
                <a:spcPct val="112000"/>
              </a:lnSpc>
              <a:spcAft>
                <a:spcPts val="0"/>
              </a:spcAft>
            </a:pPr>
            <a:r>
              <a:rPr sz="1100" b="1" i="0">
                <a:solidFill>
                  <a:srgbClr val="1F2937"/>
                </a:solidFill>
                <a:latin typeface="Arial"/>
              </a:rPr>
              <a:t>Beban review yang wajar</a:t>
            </a:r>
          </a:p>
        </p:txBody>
      </p:sp>
      <p:sp>
        <p:nvSpPr>
          <p:cNvPr id="50" name="TextBox 49"/>
          <p:cNvSpPr txBox="1"/>
          <p:nvPr/>
        </p:nvSpPr>
        <p:spPr>
          <a:xfrm>
            <a:off x="6574536" y="5029200"/>
            <a:ext cx="4809744" cy="594359"/>
          </a:xfrm>
          <a:prstGeom prst="rect">
            <a:avLst/>
          </a:prstGeom>
          <a:noFill/>
        </p:spPr>
        <p:txBody>
          <a:bodyPr wrap="square" lIns="0" rIns="0" tIns="0" bIns="0" anchor="t">
            <a:spAutoFit/>
          </a:bodyPr>
          <a:lstStyle/>
          <a:p>
            <a:pPr algn="l">
              <a:lnSpc>
                <a:spcPct val="125000"/>
              </a:lnSpc>
              <a:spcAft>
                <a:spcPts val="0"/>
              </a:spcAft>
            </a:pPr>
            <a:r>
              <a:rPr sz="1050" b="0" i="0">
                <a:solidFill>
                  <a:srgbClr val="333D4A"/>
                </a:solidFill>
                <a:latin typeface="Arial"/>
              </a:rPr>
              <a:t>Rata-rata ~1 komponen per 280 baris kode. Modul terbesar masih di bawah 600 baris, jadi mudah di-review per fitur.</a:t>
            </a:r>
          </a:p>
        </p:txBody>
      </p:sp>
      <p:sp>
        <p:nvSpPr>
          <p:cNvPr id="51" name="Rounded Rectangle 50"/>
          <p:cNvSpPr/>
          <p:nvPr/>
        </p:nvSpPr>
        <p:spPr>
          <a:xfrm>
            <a:off x="640080" y="6419088"/>
            <a:ext cx="10908792" cy="7315"/>
          </a:xfrm>
          <a:prstGeom prst="roundRect">
            <a:avLst>
              <a:gd name="adj" fmla="val 0"/>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2" name="Rounded Rectangle 51"/>
          <p:cNvSpPr/>
          <p:nvPr/>
        </p:nvSpPr>
        <p:spPr>
          <a:xfrm>
            <a:off x="640080" y="6537960"/>
            <a:ext cx="224942" cy="224942"/>
          </a:xfrm>
          <a:prstGeom prst="roundRect">
            <a:avLst>
              <a:gd name="adj" fmla="val 22000"/>
            </a:avLst>
          </a:prstGeom>
          <a:solidFill>
            <a:srgbClr val="FF5A5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3" name="TextBox 52"/>
          <p:cNvSpPr txBox="1"/>
          <p:nvPr/>
        </p:nvSpPr>
        <p:spPr>
          <a:xfrm>
            <a:off x="640080" y="6526987"/>
            <a:ext cx="224942" cy="224942"/>
          </a:xfrm>
          <a:prstGeom prst="rect">
            <a:avLst/>
          </a:prstGeom>
          <a:noFill/>
        </p:spPr>
        <p:txBody>
          <a:bodyPr wrap="square" lIns="0" rIns="0" tIns="0" bIns="0" anchor="ctr">
            <a:spAutoFit/>
          </a:bodyPr>
          <a:lstStyle/>
          <a:p>
            <a:pPr algn="ctr">
              <a:lnSpc>
                <a:spcPct val="112000"/>
              </a:lnSpc>
              <a:spcAft>
                <a:spcPts val="0"/>
              </a:spcAft>
            </a:pPr>
            <a:r>
              <a:rPr sz="1066" b="1" i="0">
                <a:solidFill>
                  <a:srgbClr val="FFFFFF"/>
                </a:solidFill>
                <a:latin typeface="Arial"/>
              </a:rPr>
              <a:t>n</a:t>
            </a:r>
          </a:p>
        </p:txBody>
      </p:sp>
      <p:sp>
        <p:nvSpPr>
          <p:cNvPr id="54" name="TextBox 53"/>
          <p:cNvSpPr txBox="1"/>
          <p:nvPr/>
        </p:nvSpPr>
        <p:spPr>
          <a:xfrm>
            <a:off x="932505" y="6510528"/>
            <a:ext cx="899769" cy="224942"/>
          </a:xfrm>
          <a:prstGeom prst="rect">
            <a:avLst/>
          </a:prstGeom>
          <a:noFill/>
        </p:spPr>
        <p:txBody>
          <a:bodyPr wrap="square" lIns="0" rIns="0" tIns="0" bIns="0" anchor="t">
            <a:spAutoFit/>
          </a:bodyPr>
          <a:lstStyle/>
          <a:p>
            <a:pPr algn="l">
              <a:lnSpc>
                <a:spcPct val="112000"/>
              </a:lnSpc>
              <a:spcAft>
                <a:spcPts val="0"/>
              </a:spcAft>
            </a:pPr>
            <a:r>
              <a:rPr sz="1066" b="1" i="0">
                <a:solidFill>
                  <a:srgbClr val="1F2937"/>
                </a:solidFill>
                <a:latin typeface="Arial"/>
              </a:rPr>
              <a:t>NgeTag</a:t>
            </a:r>
          </a:p>
        </p:txBody>
      </p:sp>
      <p:sp>
        <p:nvSpPr>
          <p:cNvPr id="55" name="TextBox 54"/>
          <p:cNvSpPr txBox="1"/>
          <p:nvPr/>
        </p:nvSpPr>
        <p:spPr>
          <a:xfrm>
            <a:off x="1600200" y="6556248"/>
            <a:ext cx="5486400" cy="201168"/>
          </a:xfrm>
          <a:prstGeom prst="rect">
            <a:avLst/>
          </a:prstGeom>
          <a:noFill/>
        </p:spPr>
        <p:txBody>
          <a:bodyPr wrap="square" lIns="0" rIns="0" tIns="0" bIns="0" anchor="t">
            <a:spAutoFit/>
          </a:bodyPr>
          <a:lstStyle/>
          <a:p>
            <a:pPr algn="l">
              <a:lnSpc>
                <a:spcPct val="112000"/>
              </a:lnSpc>
              <a:spcAft>
                <a:spcPts val="0"/>
              </a:spcAft>
            </a:pPr>
            <a:r>
              <a:rPr sz="850" b="0" i="0">
                <a:solidFill>
                  <a:srgbClr val="6B7280"/>
                </a:solidFill>
                <a:latin typeface="Arial"/>
              </a:rPr>
              <a:t>NgeTag · Review Repository &amp; Seed Data User</a:t>
            </a:r>
          </a:p>
        </p:txBody>
      </p:sp>
      <p:sp>
        <p:nvSpPr>
          <p:cNvPr id="56" name="TextBox 55"/>
          <p:cNvSpPr txBox="1"/>
          <p:nvPr/>
        </p:nvSpPr>
        <p:spPr>
          <a:xfrm>
            <a:off x="10607040" y="6556248"/>
            <a:ext cx="941832" cy="201168"/>
          </a:xfrm>
          <a:prstGeom prst="rect">
            <a:avLst/>
          </a:prstGeom>
          <a:noFill/>
        </p:spPr>
        <p:txBody>
          <a:bodyPr wrap="square" lIns="0" rIns="0" tIns="0" bIns="0" anchor="t">
            <a:spAutoFit/>
          </a:bodyPr>
          <a:lstStyle/>
          <a:p>
            <a:pPr algn="r">
              <a:lnSpc>
                <a:spcPct val="112000"/>
              </a:lnSpc>
              <a:spcAft>
                <a:spcPts val="0"/>
              </a:spcAft>
            </a:pPr>
            <a:r>
              <a:rPr sz="850" b="0" i="0">
                <a:solidFill>
                  <a:srgbClr val="6B7280"/>
                </a:solidFill>
                <a:latin typeface="Arial"/>
              </a:rPr>
              <a:t>11 / 22</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AFAFB"/>
        </a:solidFill>
        <a:effectLst/>
      </p:bgPr>
    </p:bg>
    <p:spTree>
      <p:nvGrpSpPr>
        <p:cNvPr id="1" name=""/>
        <p:cNvGrpSpPr/>
        <p:nvPr/>
      </p:nvGrpSpPr>
      <p:grpSpPr/>
      <p:sp>
        <p:nvSpPr>
          <p:cNvPr id="2" name="TextBox 1"/>
          <p:cNvSpPr txBox="1"/>
          <p:nvPr/>
        </p:nvSpPr>
        <p:spPr>
          <a:xfrm>
            <a:off x="640080" y="384048"/>
            <a:ext cx="9601200" cy="228600"/>
          </a:xfrm>
          <a:prstGeom prst="rect">
            <a:avLst/>
          </a:prstGeom>
          <a:noFill/>
        </p:spPr>
        <p:txBody>
          <a:bodyPr wrap="square" lIns="0" rIns="0" tIns="0" bIns="0" anchor="t">
            <a:spAutoFit/>
          </a:bodyPr>
          <a:lstStyle/>
          <a:p>
            <a:pPr algn="l">
              <a:lnSpc>
                <a:spcPct val="112000"/>
              </a:lnSpc>
              <a:spcAft>
                <a:spcPts val="0"/>
              </a:spcAft>
            </a:pPr>
            <a:r>
              <a:rPr sz="1000" b="1" i="0" spc="140">
                <a:solidFill>
                  <a:srgbClr val="FF5A5F"/>
                </a:solidFill>
                <a:latin typeface="Arial"/>
              </a:rPr>
              <a:t>02 · ARSITEKTUR &amp; DATA</a:t>
            </a:r>
          </a:p>
        </p:txBody>
      </p:sp>
      <p:sp>
        <p:nvSpPr>
          <p:cNvPr id="3" name="TextBox 2"/>
          <p:cNvSpPr txBox="1"/>
          <p:nvPr/>
        </p:nvSpPr>
        <p:spPr>
          <a:xfrm>
            <a:off x="640080" y="621792"/>
            <a:ext cx="10881360" cy="566928"/>
          </a:xfrm>
          <a:prstGeom prst="rect">
            <a:avLst/>
          </a:prstGeom>
          <a:noFill/>
        </p:spPr>
        <p:txBody>
          <a:bodyPr wrap="square" lIns="0" rIns="0" tIns="0" bIns="0" anchor="t">
            <a:spAutoFit/>
          </a:bodyPr>
          <a:lstStyle/>
          <a:p>
            <a:pPr algn="l">
              <a:lnSpc>
                <a:spcPct val="112000"/>
              </a:lnSpc>
              <a:spcAft>
                <a:spcPts val="0"/>
              </a:spcAft>
            </a:pPr>
            <a:r>
              <a:rPr sz="2600" b="1" i="0">
                <a:solidFill>
                  <a:srgbClr val="1F2937"/>
                </a:solidFill>
                <a:latin typeface="Arial"/>
              </a:rPr>
              <a:t>API-nya REST-shaped, walau datanya masih in-memory</a:t>
            </a:r>
          </a:p>
        </p:txBody>
      </p:sp>
      <p:sp>
        <p:nvSpPr>
          <p:cNvPr id="4" name="TextBox 3"/>
          <p:cNvSpPr txBox="1"/>
          <p:nvPr/>
        </p:nvSpPr>
        <p:spPr>
          <a:xfrm>
            <a:off x="640080" y="1225296"/>
            <a:ext cx="10424160" cy="365760"/>
          </a:xfrm>
          <a:prstGeom prst="rect">
            <a:avLst/>
          </a:prstGeom>
          <a:noFill/>
        </p:spPr>
        <p:txBody>
          <a:bodyPr wrap="square" lIns="0" rIns="0" tIns="0" bIns="0" anchor="t">
            <a:spAutoFit/>
          </a:bodyPr>
          <a:lstStyle/>
          <a:p>
            <a:pPr algn="l">
              <a:lnSpc>
                <a:spcPct val="112000"/>
              </a:lnSpc>
              <a:spcAft>
                <a:spcPts val="0"/>
              </a:spcAft>
            </a:pPr>
            <a:r>
              <a:rPr sz="1250" b="0" i="0">
                <a:solidFill>
                  <a:srgbClr val="6B7280"/>
                </a:solidFill>
                <a:latin typeface="Arial"/>
              </a:rPr>
              <a:t>47 route handler dengan pola seragam: parse Zod → store → respons JSON konsisten.</a:t>
            </a:r>
          </a:p>
        </p:txBody>
      </p:sp>
      <p:sp>
        <p:nvSpPr>
          <p:cNvPr id="5" name="Rounded Rectangle 4"/>
          <p:cNvSpPr/>
          <p:nvPr/>
        </p:nvSpPr>
        <p:spPr>
          <a:xfrm>
            <a:off x="640080" y="1170432"/>
            <a:ext cx="502920" cy="32004"/>
          </a:xfrm>
          <a:prstGeom prst="roundRect">
            <a:avLst>
              <a:gd name="adj" fmla="val 0"/>
            </a:avLst>
          </a:prstGeom>
          <a:solidFill>
            <a:srgbClr val="FF5A5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 name="TextBox 5"/>
          <p:cNvSpPr txBox="1"/>
          <p:nvPr/>
        </p:nvSpPr>
        <p:spPr>
          <a:xfrm>
            <a:off x="640080" y="1828800"/>
            <a:ext cx="5760720" cy="3108960"/>
          </a:xfrm>
          <a:prstGeom prst="rect">
            <a:avLst/>
          </a:prstGeom>
          <a:noFill/>
        </p:spPr>
        <p:txBody>
          <a:bodyPr wrap="square" lIns="0" rIns="0" tIns="0" bIns="0">
            <a:spAutoFit/>
          </a:bodyPr>
          <a:lstStyle/>
          <a:p>
            <a:pPr marL="201168" indent="-201168">
              <a:lnSpc>
                <a:spcPct val="112000"/>
              </a:lnSpc>
              <a:spcAft>
                <a:spcPts val="1100"/>
              </a:spcAft>
              <a:buClr>
                <a:srgbClr val="FF5A5F"/>
              </a:buClr>
              <a:buFont typeface="Arial"/>
              <a:buChar char="•"/>
            </a:pPr>
            <a:r>
              <a:rPr sz="1250" b="0">
                <a:solidFill>
                  <a:srgbClr val="333D4A"/>
                </a:solidFill>
                <a:latin typeface="Arial"/>
              </a:rPr>
              <a:t>47 route handler di app/api/*, plus /api/health dan /api/schema.</a:t>
            </a:r>
          </a:p>
          <a:p>
            <a:pPr marL="201168" indent="-201168">
              <a:lnSpc>
                <a:spcPct val="112000"/>
              </a:lnSpc>
              <a:spcAft>
                <a:spcPts val="1100"/>
              </a:spcAft>
              <a:buClr>
                <a:srgbClr val="FF5A5F"/>
              </a:buClr>
              <a:buFont typeface="Arial"/>
              <a:buChar char="•"/>
            </a:pPr>
            <a:r>
              <a:rPr sz="1250" b="0">
                <a:solidFill>
                  <a:srgbClr val="333D4A"/>
                </a:solidFill>
                <a:latin typeface="Arial"/>
              </a:rPr>
              <a:t>Setiap handler memakai skema Zod yang sama dengan form di UI.</a:t>
            </a:r>
          </a:p>
          <a:p>
            <a:pPr marL="201168" indent="-201168">
              <a:lnSpc>
                <a:spcPct val="112000"/>
              </a:lnSpc>
              <a:spcAft>
                <a:spcPts val="1100"/>
              </a:spcAft>
              <a:buClr>
                <a:srgbClr val="FF5A5F"/>
              </a:buClr>
              <a:buFont typeface="Arial"/>
              <a:buChar char="•"/>
            </a:pPr>
            <a:r>
              <a:rPr sz="1250" b="0">
                <a:solidFill>
                  <a:srgbClr val="333D4A"/>
                </a:solidFill>
                <a:latin typeface="Arial"/>
              </a:rPr>
              <a:t>Respons selalu lewat jsonOk / jsonError, jadi bentuk error konsisten.</a:t>
            </a:r>
          </a:p>
          <a:p>
            <a:pPr marL="201168" indent="-201168">
              <a:lnSpc>
                <a:spcPct val="112000"/>
              </a:lnSpc>
              <a:spcAft>
                <a:spcPts val="1100"/>
              </a:spcAft>
              <a:buClr>
                <a:srgbClr val="FF5A5F"/>
              </a:buClr>
              <a:buFont typeface="Arial"/>
              <a:buChar char="•"/>
            </a:pPr>
            <a:r>
              <a:rPr sz="1250" b="0">
                <a:solidFill>
                  <a:srgbClr val="333D4A"/>
                </a:solidFill>
                <a:latin typeface="Arial"/>
              </a:rPr>
              <a:t>apiFetch mencoba network lebih dulu, lalu fallback ke server store.</a:t>
            </a:r>
          </a:p>
          <a:p>
            <a:pPr marL="201168" indent="-201168">
              <a:lnSpc>
                <a:spcPct val="112000"/>
              </a:lnSpc>
              <a:spcAft>
                <a:spcPts val="1100"/>
              </a:spcAft>
              <a:buClr>
                <a:srgbClr val="FF5A5F"/>
              </a:buClr>
              <a:buFont typeface="Arial"/>
              <a:buChar char="•"/>
            </a:pPr>
            <a:r>
              <a:rPr sz="1250" b="0">
                <a:solidFill>
                  <a:srgbClr val="333D4A"/>
                </a:solidFill>
                <a:latin typeface="Arial"/>
              </a:rPr>
              <a:t>Kontrak DTO di src/shared/contracts dipakai B2C dan disiapkan untuk B2B.</a:t>
            </a:r>
          </a:p>
          <a:p>
            <a:pPr marL="201168" indent="-201168">
              <a:lnSpc>
                <a:spcPct val="112000"/>
              </a:lnSpc>
              <a:spcAft>
                <a:spcPts val="1100"/>
              </a:spcAft>
              <a:buClr>
                <a:srgbClr val="FF5A5F"/>
              </a:buClr>
              <a:buFont typeface="Arial"/>
              <a:buChar char="•"/>
            </a:pPr>
            <a:r>
              <a:rPr sz="1250" b="0">
                <a:solidFill>
                  <a:srgbClr val="333D4A"/>
                </a:solidFill>
                <a:latin typeface="Arial"/>
              </a:rPr>
              <a:t>Drizzle Kit: db:generate, db:push, db:studio — kini ditambah db:seed.</a:t>
            </a:r>
          </a:p>
        </p:txBody>
      </p:sp>
      <p:sp>
        <p:nvSpPr>
          <p:cNvPr id="7" name="Rounded Rectangle 6"/>
          <p:cNvSpPr/>
          <p:nvPr/>
        </p:nvSpPr>
        <p:spPr>
          <a:xfrm>
            <a:off x="6720840" y="1792224"/>
            <a:ext cx="4828032" cy="3200400"/>
          </a:xfrm>
          <a:prstGeom prst="roundRect">
            <a:avLst>
              <a:gd name="adj" fmla="val 8000"/>
            </a:avLst>
          </a:prstGeom>
          <a:solidFill>
            <a:srgbClr val="FFFFFF"/>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TextBox 7"/>
          <p:cNvSpPr txBox="1"/>
          <p:nvPr/>
        </p:nvSpPr>
        <p:spPr>
          <a:xfrm>
            <a:off x="6949440" y="1956816"/>
            <a:ext cx="4389120" cy="274320"/>
          </a:xfrm>
          <a:prstGeom prst="rect">
            <a:avLst/>
          </a:prstGeom>
          <a:noFill/>
        </p:spPr>
        <p:txBody>
          <a:bodyPr wrap="square" lIns="0" rIns="0" tIns="0" bIns="0" anchor="t">
            <a:spAutoFit/>
          </a:bodyPr>
          <a:lstStyle/>
          <a:p>
            <a:pPr algn="l">
              <a:lnSpc>
                <a:spcPct val="112000"/>
              </a:lnSpc>
              <a:spcAft>
                <a:spcPts val="0"/>
              </a:spcAft>
            </a:pPr>
            <a:r>
              <a:rPr sz="950" b="1" i="0" spc="120">
                <a:solidFill>
                  <a:srgbClr val="FF5A5F"/>
                </a:solidFill>
                <a:latin typeface="Arial"/>
              </a:rPr>
              <a:t>PERMUKAAN API UTAMA</a:t>
            </a:r>
          </a:p>
        </p:txBody>
      </p:sp>
      <p:sp>
        <p:nvSpPr>
          <p:cNvPr id="9" name="TextBox 8"/>
          <p:cNvSpPr txBox="1"/>
          <p:nvPr/>
        </p:nvSpPr>
        <p:spPr>
          <a:xfrm>
            <a:off x="6949440" y="2331720"/>
            <a:ext cx="4206240" cy="237744"/>
          </a:xfrm>
          <a:prstGeom prst="rect">
            <a:avLst/>
          </a:prstGeom>
          <a:noFill/>
        </p:spPr>
        <p:txBody>
          <a:bodyPr wrap="square" lIns="0" rIns="0" tIns="0" bIns="0" anchor="t">
            <a:spAutoFit/>
          </a:bodyPr>
          <a:lstStyle/>
          <a:p>
            <a:pPr algn="l">
              <a:lnSpc>
                <a:spcPct val="112000"/>
              </a:lnSpc>
              <a:spcAft>
                <a:spcPts val="0"/>
              </a:spcAft>
            </a:pPr>
            <a:r>
              <a:rPr sz="1050" b="1" i="0">
                <a:solidFill>
                  <a:srgbClr val="1F2937"/>
                </a:solidFill>
                <a:latin typeface="Arial"/>
              </a:rPr>
              <a:t>Discovery</a:t>
            </a:r>
          </a:p>
        </p:txBody>
      </p:sp>
      <p:sp>
        <p:nvSpPr>
          <p:cNvPr id="10" name="TextBox 9"/>
          <p:cNvSpPr txBox="1"/>
          <p:nvPr/>
        </p:nvSpPr>
        <p:spPr>
          <a:xfrm>
            <a:off x="6949440" y="2578608"/>
            <a:ext cx="4343400" cy="566928"/>
          </a:xfrm>
          <a:prstGeom prst="rect">
            <a:avLst/>
          </a:prstGeom>
          <a:noFill/>
        </p:spPr>
        <p:txBody>
          <a:bodyPr wrap="square" lIns="0" rIns="0" tIns="0" bIns="0" anchor="t">
            <a:spAutoFit/>
          </a:bodyPr>
          <a:lstStyle/>
          <a:p>
            <a:pPr algn="l">
              <a:lnSpc>
                <a:spcPct val="130000"/>
              </a:lnSpc>
              <a:spcAft>
                <a:spcPts val="0"/>
              </a:spcAft>
            </a:pPr>
            <a:r>
              <a:rPr sz="900" b="0" i="0">
                <a:solidFill>
                  <a:srgbClr val="6B7280"/>
                </a:solidFill>
                <a:latin typeface="Consolas"/>
              </a:rPr>
              <a:t>/api/spots · /api/events · /api/tags</a:t>
            </a:r>
          </a:p>
          <a:p>
            <a:pPr algn="l">
              <a:lnSpc>
                <a:spcPct val="130000"/>
              </a:lnSpc>
              <a:spcAft>
                <a:spcPts val="0"/>
              </a:spcAft>
            </a:pPr>
            <a:r>
              <a:rPr sz="900" b="0" i="0">
                <a:solidFill>
                  <a:srgbClr val="6B7280"/>
                </a:solidFill>
                <a:latin typeface="Consolas"/>
              </a:rPr>
              <a:t>/api/search · /api/recommendations</a:t>
            </a:r>
          </a:p>
        </p:txBody>
      </p:sp>
      <p:sp>
        <p:nvSpPr>
          <p:cNvPr id="11" name="TextBox 10"/>
          <p:cNvSpPr txBox="1"/>
          <p:nvPr/>
        </p:nvSpPr>
        <p:spPr>
          <a:xfrm>
            <a:off x="6949440" y="3200400"/>
            <a:ext cx="4206240" cy="237744"/>
          </a:xfrm>
          <a:prstGeom prst="rect">
            <a:avLst/>
          </a:prstGeom>
          <a:noFill/>
        </p:spPr>
        <p:txBody>
          <a:bodyPr wrap="square" lIns="0" rIns="0" tIns="0" bIns="0" anchor="t">
            <a:spAutoFit/>
          </a:bodyPr>
          <a:lstStyle/>
          <a:p>
            <a:pPr algn="l">
              <a:lnSpc>
                <a:spcPct val="112000"/>
              </a:lnSpc>
              <a:spcAft>
                <a:spcPts val="0"/>
              </a:spcAft>
            </a:pPr>
            <a:r>
              <a:rPr sz="1050" b="1" i="0">
                <a:solidFill>
                  <a:srgbClr val="1F2937"/>
                </a:solidFill>
                <a:latin typeface="Arial"/>
              </a:rPr>
              <a:t>Engagement</a:t>
            </a:r>
          </a:p>
        </p:txBody>
      </p:sp>
      <p:sp>
        <p:nvSpPr>
          <p:cNvPr id="12" name="TextBox 11"/>
          <p:cNvSpPr txBox="1"/>
          <p:nvPr/>
        </p:nvSpPr>
        <p:spPr>
          <a:xfrm>
            <a:off x="6949440" y="3447288"/>
            <a:ext cx="4343400" cy="566928"/>
          </a:xfrm>
          <a:prstGeom prst="rect">
            <a:avLst/>
          </a:prstGeom>
          <a:noFill/>
        </p:spPr>
        <p:txBody>
          <a:bodyPr wrap="square" lIns="0" rIns="0" tIns="0" bIns="0" anchor="t">
            <a:spAutoFit/>
          </a:bodyPr>
          <a:lstStyle/>
          <a:p>
            <a:pPr algn="l">
              <a:lnSpc>
                <a:spcPct val="130000"/>
              </a:lnSpc>
              <a:spcAft>
                <a:spcPts val="0"/>
              </a:spcAft>
            </a:pPr>
            <a:r>
              <a:rPr sz="900" b="0" i="0">
                <a:solidFill>
                  <a:srgbClr val="6B7280"/>
                </a:solidFill>
                <a:latin typeface="Consolas"/>
              </a:rPr>
              <a:t>/api/engagements/bookmarks</a:t>
            </a:r>
          </a:p>
          <a:p>
            <a:pPr algn="l">
              <a:lnSpc>
                <a:spcPct val="130000"/>
              </a:lnSpc>
              <a:spcAft>
                <a:spcPts val="0"/>
              </a:spcAft>
            </a:pPr>
            <a:r>
              <a:rPr sz="900" b="0" i="0">
                <a:solidFill>
                  <a:srgbClr val="6B7280"/>
                </a:solidFill>
                <a:latin typeface="Consolas"/>
              </a:rPr>
              <a:t>/attendances · /visits · /memberships</a:t>
            </a:r>
          </a:p>
        </p:txBody>
      </p:sp>
      <p:sp>
        <p:nvSpPr>
          <p:cNvPr id="13" name="TextBox 12"/>
          <p:cNvSpPr txBox="1"/>
          <p:nvPr/>
        </p:nvSpPr>
        <p:spPr>
          <a:xfrm>
            <a:off x="6949440" y="4069080"/>
            <a:ext cx="4206240" cy="237744"/>
          </a:xfrm>
          <a:prstGeom prst="rect">
            <a:avLst/>
          </a:prstGeom>
          <a:noFill/>
        </p:spPr>
        <p:txBody>
          <a:bodyPr wrap="square" lIns="0" rIns="0" tIns="0" bIns="0" anchor="t">
            <a:spAutoFit/>
          </a:bodyPr>
          <a:lstStyle/>
          <a:p>
            <a:pPr algn="l">
              <a:lnSpc>
                <a:spcPct val="112000"/>
              </a:lnSpc>
              <a:spcAft>
                <a:spcPts val="0"/>
              </a:spcAft>
            </a:pPr>
            <a:r>
              <a:rPr sz="1050" b="1" i="0">
                <a:solidFill>
                  <a:srgbClr val="1F2937"/>
                </a:solidFill>
                <a:latin typeface="Arial"/>
              </a:rPr>
              <a:t>B2B handoff</a:t>
            </a:r>
          </a:p>
        </p:txBody>
      </p:sp>
      <p:sp>
        <p:nvSpPr>
          <p:cNvPr id="14" name="TextBox 13"/>
          <p:cNvSpPr txBox="1"/>
          <p:nvPr/>
        </p:nvSpPr>
        <p:spPr>
          <a:xfrm>
            <a:off x="6949440" y="4315968"/>
            <a:ext cx="4343400" cy="566928"/>
          </a:xfrm>
          <a:prstGeom prst="rect">
            <a:avLst/>
          </a:prstGeom>
          <a:noFill/>
        </p:spPr>
        <p:txBody>
          <a:bodyPr wrap="square" lIns="0" rIns="0" tIns="0" bIns="0" anchor="t">
            <a:spAutoFit/>
          </a:bodyPr>
          <a:lstStyle/>
          <a:p>
            <a:pPr algn="l">
              <a:lnSpc>
                <a:spcPct val="130000"/>
              </a:lnSpc>
              <a:spcAft>
                <a:spcPts val="0"/>
              </a:spcAft>
            </a:pPr>
            <a:r>
              <a:rPr sz="900" b="0" i="0">
                <a:solidFill>
                  <a:srgbClr val="6B7280"/>
                </a:solidFill>
                <a:latin typeface="Consolas"/>
              </a:rPr>
              <a:t>/api/owners · /api/gallery · /api/qr-codes</a:t>
            </a:r>
          </a:p>
          <a:p>
            <a:pPr algn="l">
              <a:lnSpc>
                <a:spcPct val="130000"/>
              </a:lnSpc>
              <a:spcAft>
                <a:spcPts val="0"/>
              </a:spcAft>
            </a:pPr>
            <a:r>
              <a:rPr sz="900" b="0" i="0">
                <a:solidFill>
                  <a:srgbClr val="6B7280"/>
                </a:solidFill>
                <a:latin typeface="Consolas"/>
              </a:rPr>
              <a:t>/api/b2b/analytics · /api/b2b/handoff</a:t>
            </a:r>
          </a:p>
        </p:txBody>
      </p:sp>
      <p:sp>
        <p:nvSpPr>
          <p:cNvPr id="15" name="Rounded Rectangle 14"/>
          <p:cNvSpPr/>
          <p:nvPr/>
        </p:nvSpPr>
        <p:spPr>
          <a:xfrm>
            <a:off x="640080" y="5257800"/>
            <a:ext cx="10908792" cy="749808"/>
          </a:xfrm>
          <a:prstGeom prst="roundRect">
            <a:avLst>
              <a:gd name="adj" fmla="val 8000"/>
            </a:avLst>
          </a:prstGeom>
          <a:solidFill>
            <a:srgbClr val="E8F6E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6" name="Rounded Rectangle 15"/>
          <p:cNvSpPr/>
          <p:nvPr/>
        </p:nvSpPr>
        <p:spPr>
          <a:xfrm>
            <a:off x="640080" y="5257800"/>
            <a:ext cx="50292" cy="749808"/>
          </a:xfrm>
          <a:prstGeom prst="roundRect">
            <a:avLst>
              <a:gd name="adj" fmla="val 0"/>
            </a:avLst>
          </a:prstGeom>
          <a:solidFill>
            <a:srgbClr val="1F9D6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TextBox 16"/>
          <p:cNvSpPr txBox="1"/>
          <p:nvPr/>
        </p:nvSpPr>
        <p:spPr>
          <a:xfrm>
            <a:off x="859536" y="5394960"/>
            <a:ext cx="10543032" cy="237744"/>
          </a:xfrm>
          <a:prstGeom prst="rect">
            <a:avLst/>
          </a:prstGeom>
          <a:noFill/>
        </p:spPr>
        <p:txBody>
          <a:bodyPr wrap="square" lIns="0" rIns="0" tIns="0" bIns="0" anchor="t">
            <a:spAutoFit/>
          </a:bodyPr>
          <a:lstStyle/>
          <a:p>
            <a:pPr algn="l">
              <a:lnSpc>
                <a:spcPct val="112000"/>
              </a:lnSpc>
              <a:spcAft>
                <a:spcPts val="0"/>
              </a:spcAft>
            </a:pPr>
            <a:r>
              <a:rPr sz="1100" b="1" i="0">
                <a:solidFill>
                  <a:srgbClr val="1F2937"/>
                </a:solidFill>
                <a:latin typeface="Arial"/>
              </a:rPr>
              <a:t>Kenapa ini penting untuk seed</a:t>
            </a:r>
          </a:p>
        </p:txBody>
      </p:sp>
      <p:sp>
        <p:nvSpPr>
          <p:cNvPr id="18" name="TextBox 17"/>
          <p:cNvSpPr txBox="1"/>
          <p:nvPr/>
        </p:nvSpPr>
        <p:spPr>
          <a:xfrm>
            <a:off x="859536" y="5669280"/>
            <a:ext cx="10524744" cy="246887"/>
          </a:xfrm>
          <a:prstGeom prst="rect">
            <a:avLst/>
          </a:prstGeom>
          <a:noFill/>
        </p:spPr>
        <p:txBody>
          <a:bodyPr wrap="square" lIns="0" rIns="0" tIns="0" bIns="0" anchor="t">
            <a:spAutoFit/>
          </a:bodyPr>
          <a:lstStyle/>
          <a:p>
            <a:pPr algn="l">
              <a:lnSpc>
                <a:spcPct val="125000"/>
              </a:lnSpc>
              <a:spcAft>
                <a:spcPts val="0"/>
              </a:spcAft>
            </a:pPr>
            <a:r>
              <a:rPr sz="1050" b="0" i="0">
                <a:solidFill>
                  <a:srgbClr val="333D4A"/>
                </a:solidFill>
                <a:latin typeface="Arial"/>
              </a:rPr>
              <a:t>Route handler membaca dari server store, bukan fixture langsung. Artinya seed database bisa diuji lewat API yang sama tanpa mengubah satu baris pun di UI.</a:t>
            </a:r>
          </a:p>
        </p:txBody>
      </p:sp>
      <p:sp>
        <p:nvSpPr>
          <p:cNvPr id="19" name="Rounded Rectangle 18"/>
          <p:cNvSpPr/>
          <p:nvPr/>
        </p:nvSpPr>
        <p:spPr>
          <a:xfrm>
            <a:off x="640080" y="6419088"/>
            <a:ext cx="10908792" cy="7315"/>
          </a:xfrm>
          <a:prstGeom prst="roundRect">
            <a:avLst>
              <a:gd name="adj" fmla="val 0"/>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Rounded Rectangle 19"/>
          <p:cNvSpPr/>
          <p:nvPr/>
        </p:nvSpPr>
        <p:spPr>
          <a:xfrm>
            <a:off x="640080" y="6537960"/>
            <a:ext cx="224942" cy="224942"/>
          </a:xfrm>
          <a:prstGeom prst="roundRect">
            <a:avLst>
              <a:gd name="adj" fmla="val 22000"/>
            </a:avLst>
          </a:prstGeom>
          <a:solidFill>
            <a:srgbClr val="FF5A5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TextBox 20"/>
          <p:cNvSpPr txBox="1"/>
          <p:nvPr/>
        </p:nvSpPr>
        <p:spPr>
          <a:xfrm>
            <a:off x="640080" y="6526987"/>
            <a:ext cx="224942" cy="224942"/>
          </a:xfrm>
          <a:prstGeom prst="rect">
            <a:avLst/>
          </a:prstGeom>
          <a:noFill/>
        </p:spPr>
        <p:txBody>
          <a:bodyPr wrap="square" lIns="0" rIns="0" tIns="0" bIns="0" anchor="ctr">
            <a:spAutoFit/>
          </a:bodyPr>
          <a:lstStyle/>
          <a:p>
            <a:pPr algn="ctr">
              <a:lnSpc>
                <a:spcPct val="112000"/>
              </a:lnSpc>
              <a:spcAft>
                <a:spcPts val="0"/>
              </a:spcAft>
            </a:pPr>
            <a:r>
              <a:rPr sz="1066" b="1" i="0">
                <a:solidFill>
                  <a:srgbClr val="FFFFFF"/>
                </a:solidFill>
                <a:latin typeface="Arial"/>
              </a:rPr>
              <a:t>n</a:t>
            </a:r>
          </a:p>
        </p:txBody>
      </p:sp>
      <p:sp>
        <p:nvSpPr>
          <p:cNvPr id="22" name="TextBox 21"/>
          <p:cNvSpPr txBox="1"/>
          <p:nvPr/>
        </p:nvSpPr>
        <p:spPr>
          <a:xfrm>
            <a:off x="932505" y="6510528"/>
            <a:ext cx="899769" cy="224942"/>
          </a:xfrm>
          <a:prstGeom prst="rect">
            <a:avLst/>
          </a:prstGeom>
          <a:noFill/>
        </p:spPr>
        <p:txBody>
          <a:bodyPr wrap="square" lIns="0" rIns="0" tIns="0" bIns="0" anchor="t">
            <a:spAutoFit/>
          </a:bodyPr>
          <a:lstStyle/>
          <a:p>
            <a:pPr algn="l">
              <a:lnSpc>
                <a:spcPct val="112000"/>
              </a:lnSpc>
              <a:spcAft>
                <a:spcPts val="0"/>
              </a:spcAft>
            </a:pPr>
            <a:r>
              <a:rPr sz="1066" b="1" i="0">
                <a:solidFill>
                  <a:srgbClr val="1F2937"/>
                </a:solidFill>
                <a:latin typeface="Arial"/>
              </a:rPr>
              <a:t>NgeTag</a:t>
            </a:r>
          </a:p>
        </p:txBody>
      </p:sp>
      <p:sp>
        <p:nvSpPr>
          <p:cNvPr id="23" name="TextBox 22"/>
          <p:cNvSpPr txBox="1"/>
          <p:nvPr/>
        </p:nvSpPr>
        <p:spPr>
          <a:xfrm>
            <a:off x="1600200" y="6556248"/>
            <a:ext cx="5486400" cy="201168"/>
          </a:xfrm>
          <a:prstGeom prst="rect">
            <a:avLst/>
          </a:prstGeom>
          <a:noFill/>
        </p:spPr>
        <p:txBody>
          <a:bodyPr wrap="square" lIns="0" rIns="0" tIns="0" bIns="0" anchor="t">
            <a:spAutoFit/>
          </a:bodyPr>
          <a:lstStyle/>
          <a:p>
            <a:pPr algn="l">
              <a:lnSpc>
                <a:spcPct val="112000"/>
              </a:lnSpc>
              <a:spcAft>
                <a:spcPts val="0"/>
              </a:spcAft>
            </a:pPr>
            <a:r>
              <a:rPr sz="850" b="0" i="0">
                <a:solidFill>
                  <a:srgbClr val="6B7280"/>
                </a:solidFill>
                <a:latin typeface="Arial"/>
              </a:rPr>
              <a:t>NgeTag · Review Repository &amp; Seed Data User</a:t>
            </a:r>
          </a:p>
        </p:txBody>
      </p:sp>
      <p:sp>
        <p:nvSpPr>
          <p:cNvPr id="24" name="TextBox 23"/>
          <p:cNvSpPr txBox="1"/>
          <p:nvPr/>
        </p:nvSpPr>
        <p:spPr>
          <a:xfrm>
            <a:off x="10607040" y="6556248"/>
            <a:ext cx="941832" cy="201168"/>
          </a:xfrm>
          <a:prstGeom prst="rect">
            <a:avLst/>
          </a:prstGeom>
          <a:noFill/>
        </p:spPr>
        <p:txBody>
          <a:bodyPr wrap="square" lIns="0" rIns="0" tIns="0" bIns="0" anchor="t">
            <a:spAutoFit/>
          </a:bodyPr>
          <a:lstStyle/>
          <a:p>
            <a:pPr algn="r">
              <a:lnSpc>
                <a:spcPct val="112000"/>
              </a:lnSpc>
              <a:spcAft>
                <a:spcPts val="0"/>
              </a:spcAft>
            </a:pPr>
            <a:r>
              <a:rPr sz="850" b="0" i="0">
                <a:solidFill>
                  <a:srgbClr val="6B7280"/>
                </a:solidFill>
                <a:latin typeface="Arial"/>
              </a:rPr>
              <a:t>12 / 22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AFAFB"/>
        </a:solidFill>
        <a:effectLst/>
      </p:bgPr>
    </p:bg>
    <p:spTree>
      <p:nvGrpSpPr>
        <p:cNvPr id="1" name=""/>
        <p:cNvGrpSpPr/>
        <p:nvPr/>
      </p:nvGrpSpPr>
      <p:grpSpPr/>
      <p:sp>
        <p:nvSpPr>
          <p:cNvPr id="2" name="TextBox 1"/>
          <p:cNvSpPr txBox="1"/>
          <p:nvPr/>
        </p:nvSpPr>
        <p:spPr>
          <a:xfrm>
            <a:off x="640080" y="384048"/>
            <a:ext cx="9601200" cy="228600"/>
          </a:xfrm>
          <a:prstGeom prst="rect">
            <a:avLst/>
          </a:prstGeom>
          <a:noFill/>
        </p:spPr>
        <p:txBody>
          <a:bodyPr wrap="square" lIns="0" rIns="0" tIns="0" bIns="0" anchor="t">
            <a:spAutoFit/>
          </a:bodyPr>
          <a:lstStyle/>
          <a:p>
            <a:pPr algn="l">
              <a:lnSpc>
                <a:spcPct val="112000"/>
              </a:lnSpc>
              <a:spcAft>
                <a:spcPts val="0"/>
              </a:spcAft>
            </a:pPr>
            <a:r>
              <a:rPr sz="1000" b="1" i="0" spc="140">
                <a:solidFill>
                  <a:srgbClr val="FF5A5F"/>
                </a:solidFill>
                <a:latin typeface="Arial"/>
              </a:rPr>
              <a:t>02 · ARSITEKTUR &amp; DATA</a:t>
            </a:r>
          </a:p>
        </p:txBody>
      </p:sp>
      <p:sp>
        <p:nvSpPr>
          <p:cNvPr id="3" name="TextBox 2"/>
          <p:cNvSpPr txBox="1"/>
          <p:nvPr/>
        </p:nvSpPr>
        <p:spPr>
          <a:xfrm>
            <a:off x="640080" y="621792"/>
            <a:ext cx="10881360" cy="566928"/>
          </a:xfrm>
          <a:prstGeom prst="rect">
            <a:avLst/>
          </a:prstGeom>
          <a:noFill/>
        </p:spPr>
        <p:txBody>
          <a:bodyPr wrap="square" lIns="0" rIns="0" tIns="0" bIns="0" anchor="t">
            <a:spAutoFit/>
          </a:bodyPr>
          <a:lstStyle/>
          <a:p>
            <a:pPr algn="l">
              <a:lnSpc>
                <a:spcPct val="112000"/>
              </a:lnSpc>
              <a:spcAft>
                <a:spcPts val="0"/>
              </a:spcAft>
            </a:pPr>
            <a:r>
              <a:rPr sz="2600" b="1" i="0">
                <a:solidFill>
                  <a:srgbClr val="1F2937"/>
                </a:solidFill>
                <a:latin typeface="Arial"/>
              </a:rPr>
              <a:t>32 tabel, 17 enum, satu skema PostgreSQL</a:t>
            </a:r>
          </a:p>
        </p:txBody>
      </p:sp>
      <p:sp>
        <p:nvSpPr>
          <p:cNvPr id="4" name="TextBox 3"/>
          <p:cNvSpPr txBox="1"/>
          <p:nvPr/>
        </p:nvSpPr>
        <p:spPr>
          <a:xfrm>
            <a:off x="640080" y="1225296"/>
            <a:ext cx="10424160" cy="365760"/>
          </a:xfrm>
          <a:prstGeom prst="rect">
            <a:avLst/>
          </a:prstGeom>
          <a:noFill/>
        </p:spPr>
        <p:txBody>
          <a:bodyPr wrap="square" lIns="0" rIns="0" tIns="0" bIns="0" anchor="t">
            <a:spAutoFit/>
          </a:bodyPr>
          <a:lstStyle/>
          <a:p>
            <a:pPr algn="l">
              <a:lnSpc>
                <a:spcPct val="112000"/>
              </a:lnSpc>
              <a:spcAft>
                <a:spcPts val="0"/>
              </a:spcAft>
            </a:pPr>
            <a:r>
              <a:rPr sz="1250" b="0" i="0">
                <a:solidFill>
                  <a:srgbClr val="6B7280"/>
                </a:solidFill>
                <a:latin typeface="Arial"/>
              </a:rPr>
              <a:t>Domain di aplikasi tercermin di data: akun, taksonomi, tempat, konten, relasi, dan sinyal engagement.</a:t>
            </a:r>
          </a:p>
        </p:txBody>
      </p:sp>
      <p:sp>
        <p:nvSpPr>
          <p:cNvPr id="5" name="Rounded Rectangle 4"/>
          <p:cNvSpPr/>
          <p:nvPr/>
        </p:nvSpPr>
        <p:spPr>
          <a:xfrm>
            <a:off x="640080" y="1170432"/>
            <a:ext cx="502920" cy="32004"/>
          </a:xfrm>
          <a:prstGeom prst="roundRect">
            <a:avLst>
              <a:gd name="adj" fmla="val 0"/>
            </a:avLst>
          </a:prstGeom>
          <a:solidFill>
            <a:srgbClr val="FF5A5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graphicFrame>
        <p:nvGraphicFramePr>
          <p:cNvPr id="6" name="Table 5"/>
          <p:cNvGraphicFramePr>
            <a:graphicFrameLocks noGrp="1"/>
          </p:cNvGraphicFramePr>
          <p:nvPr/>
        </p:nvGraphicFramePr>
        <p:xfrm>
          <a:off x="640080" y="1755648"/>
          <a:ext cx="10908792" cy="4183380"/>
        </p:xfrm>
        <a:graphic>
          <a:graphicData uri="http://schemas.openxmlformats.org/drawingml/2006/table">
            <a:tbl>
              <a:tblPr firstRow="0" bandRow="0"/>
              <a:tblGrid>
                <a:gridCol w="1417320"/>
                <a:gridCol w="8485632"/>
                <a:gridCol w="1005840"/>
              </a:tblGrid>
              <a:tr h="310896">
                <a:tc>
                  <a:txBody>
                    <a:bodyPr wrap="square"/>
                    <a:lstStyle/>
                    <a:p>
                      <a:pPr algn="l"/>
                      <a:r>
                        <a:rPr sz="900" b="1">
                          <a:solidFill>
                            <a:srgbClr val="FFFFFF"/>
                          </a:solidFill>
                          <a:latin typeface="Arial"/>
                        </a:rPr>
                        <a:t>Domain</a:t>
                      </a:r>
                    </a:p>
                  </a:txBody>
                  <a:tcPr marL="91440" marR="73152" marT="27432" marB="27432" anchor="ctr">
                    <a:solidFill>
                      <a:srgbClr val="1F2937"/>
                    </a:solidFill>
                  </a:tcPr>
                </a:tc>
                <a:tc>
                  <a:txBody>
                    <a:bodyPr wrap="square"/>
                    <a:lstStyle/>
                    <a:p>
                      <a:pPr algn="l"/>
                      <a:r>
                        <a:rPr sz="900" b="1">
                          <a:solidFill>
                            <a:srgbClr val="FFFFFF"/>
                          </a:solidFill>
                          <a:latin typeface="Arial"/>
                        </a:rPr>
                        <a:t>Tabel</a:t>
                      </a:r>
                    </a:p>
                  </a:txBody>
                  <a:tcPr marL="91440" marR="73152" marT="27432" marB="27432" anchor="ctr">
                    <a:solidFill>
                      <a:srgbClr val="1F2937"/>
                    </a:solidFill>
                  </a:tcPr>
                </a:tc>
                <a:tc>
                  <a:txBody>
                    <a:bodyPr wrap="square"/>
                    <a:lstStyle/>
                    <a:p>
                      <a:pPr algn="l"/>
                      <a:r>
                        <a:rPr sz="900" b="1">
                          <a:solidFill>
                            <a:srgbClr val="FFFFFF"/>
                          </a:solidFill>
                          <a:latin typeface="Arial"/>
                        </a:rPr>
                        <a:t>Jml</a:t>
                      </a:r>
                    </a:p>
                  </a:txBody>
                  <a:tcPr marL="91440" marR="73152" marT="27432" marB="27432" anchor="ctr">
                    <a:solidFill>
                      <a:srgbClr val="1F2937"/>
                    </a:solidFill>
                  </a:tcPr>
                </a:tc>
              </a:tr>
              <a:tr h="352044">
                <a:tc>
                  <a:txBody>
                    <a:bodyPr wrap="square"/>
                    <a:lstStyle/>
                    <a:p>
                      <a:pPr algn="l"/>
                      <a:r>
                        <a:rPr sz="919" b="0">
                          <a:solidFill>
                            <a:srgbClr val="333D4A"/>
                          </a:solidFill>
                          <a:latin typeface="Arial"/>
                        </a:rPr>
                        <a:t>Accounts</a:t>
                      </a:r>
                    </a:p>
                  </a:txBody>
                  <a:tcPr marL="91440" marR="73152" marT="27432" marB="27432" anchor="ctr">
                    <a:solidFill>
                      <a:srgbClr val="FFFFFF"/>
                    </a:solidFill>
                  </a:tcPr>
                </a:tc>
                <a:tc>
                  <a:txBody>
                    <a:bodyPr wrap="square"/>
                    <a:lstStyle/>
                    <a:p>
                      <a:pPr algn="l"/>
                      <a:r>
                        <a:rPr sz="919" b="0">
                          <a:solidFill>
                            <a:srgbClr val="333D4A"/>
                          </a:solidFill>
                          <a:latin typeface="Arial"/>
                        </a:rPr>
                        <a:t>owners · customers</a:t>
                      </a:r>
                    </a:p>
                  </a:txBody>
                  <a:tcPr marL="91440" marR="73152" marT="27432" marB="27432" anchor="ctr">
                    <a:solidFill>
                      <a:srgbClr val="FFFFFF"/>
                    </a:solidFill>
                  </a:tcPr>
                </a:tc>
                <a:tc>
                  <a:txBody>
                    <a:bodyPr wrap="square"/>
                    <a:lstStyle/>
                    <a:p>
                      <a:pPr algn="l"/>
                      <a:r>
                        <a:rPr sz="919" b="0">
                          <a:solidFill>
                            <a:srgbClr val="333D4A"/>
                          </a:solidFill>
                          <a:latin typeface="Arial"/>
                        </a:rPr>
                        <a:t>2</a:t>
                      </a:r>
                    </a:p>
                  </a:txBody>
                  <a:tcPr marL="91440" marR="73152" marT="27432" marB="27432" anchor="ctr">
                    <a:solidFill>
                      <a:srgbClr val="FFFFFF"/>
                    </a:solidFill>
                  </a:tcPr>
                </a:tc>
              </a:tr>
              <a:tr h="352044">
                <a:tc>
                  <a:txBody>
                    <a:bodyPr wrap="square"/>
                    <a:lstStyle/>
                    <a:p>
                      <a:pPr algn="l"/>
                      <a:r>
                        <a:rPr sz="919" b="0">
                          <a:solidFill>
                            <a:srgbClr val="333D4A"/>
                          </a:solidFill>
                          <a:latin typeface="Arial"/>
                        </a:rPr>
                        <a:t>Taxonomy</a:t>
                      </a:r>
                    </a:p>
                  </a:txBody>
                  <a:tcPr marL="91440" marR="73152" marT="27432" marB="27432" anchor="ctr">
                    <a:solidFill>
                      <a:srgbClr val="F3F4F6"/>
                    </a:solidFill>
                  </a:tcPr>
                </a:tc>
                <a:tc>
                  <a:txBody>
                    <a:bodyPr wrap="square"/>
                    <a:lstStyle/>
                    <a:p>
                      <a:pPr algn="l"/>
                      <a:r>
                        <a:rPr sz="919" b="0">
                          <a:solidFill>
                            <a:srgbClr val="333D4A"/>
                          </a:solidFill>
                          <a:latin typeface="Arial"/>
                        </a:rPr>
                        <a:t>tags · interests</a:t>
                      </a:r>
                    </a:p>
                  </a:txBody>
                  <a:tcPr marL="91440" marR="73152" marT="27432" marB="27432" anchor="ctr">
                    <a:solidFill>
                      <a:srgbClr val="F3F4F6"/>
                    </a:solidFill>
                  </a:tcPr>
                </a:tc>
                <a:tc>
                  <a:txBody>
                    <a:bodyPr wrap="square"/>
                    <a:lstStyle/>
                    <a:p>
                      <a:pPr algn="l"/>
                      <a:r>
                        <a:rPr sz="919" b="0">
                          <a:solidFill>
                            <a:srgbClr val="333D4A"/>
                          </a:solidFill>
                          <a:latin typeface="Arial"/>
                        </a:rPr>
                        <a:t>2</a:t>
                      </a:r>
                    </a:p>
                  </a:txBody>
                  <a:tcPr marL="91440" marR="73152" marT="27432" marB="27432" anchor="ctr">
                    <a:solidFill>
                      <a:srgbClr val="F3F4F6"/>
                    </a:solidFill>
                  </a:tcPr>
                </a:tc>
              </a:tr>
              <a:tr h="352044">
                <a:tc>
                  <a:txBody>
                    <a:bodyPr wrap="square"/>
                    <a:lstStyle/>
                    <a:p>
                      <a:pPr algn="l"/>
                      <a:r>
                        <a:rPr sz="919" b="0">
                          <a:solidFill>
                            <a:srgbClr val="333D4A"/>
                          </a:solidFill>
                          <a:latin typeface="Arial"/>
                        </a:rPr>
                        <a:t>Spots</a:t>
                      </a:r>
                    </a:p>
                  </a:txBody>
                  <a:tcPr marL="91440" marR="73152" marT="27432" marB="27432" anchor="ctr">
                    <a:solidFill>
                      <a:srgbClr val="FFFFFF"/>
                    </a:solidFill>
                  </a:tcPr>
                </a:tc>
                <a:tc>
                  <a:txBody>
                    <a:bodyPr wrap="square"/>
                    <a:lstStyle/>
                    <a:p>
                      <a:pPr algn="l"/>
                      <a:r>
                        <a:rPr sz="919" b="0">
                          <a:solidFill>
                            <a:srgbClr val="333D4A"/>
                          </a:solidFill>
                          <a:latin typeface="Arial"/>
                        </a:rPr>
                        <a:t>spots · spot_opening_hours</a:t>
                      </a:r>
                    </a:p>
                  </a:txBody>
                  <a:tcPr marL="91440" marR="73152" marT="27432" marB="27432" anchor="ctr">
                    <a:solidFill>
                      <a:srgbClr val="FFFFFF"/>
                    </a:solidFill>
                  </a:tcPr>
                </a:tc>
                <a:tc>
                  <a:txBody>
                    <a:bodyPr wrap="square"/>
                    <a:lstStyle/>
                    <a:p>
                      <a:pPr algn="l"/>
                      <a:r>
                        <a:rPr sz="919" b="0">
                          <a:solidFill>
                            <a:srgbClr val="333D4A"/>
                          </a:solidFill>
                          <a:latin typeface="Arial"/>
                        </a:rPr>
                        <a:t>2</a:t>
                      </a:r>
                    </a:p>
                  </a:txBody>
                  <a:tcPr marL="91440" marR="73152" marT="27432" marB="27432" anchor="ctr">
                    <a:solidFill>
                      <a:srgbClr val="FFFFFF"/>
                    </a:solidFill>
                  </a:tcPr>
                </a:tc>
              </a:tr>
              <a:tr h="352044">
                <a:tc>
                  <a:txBody>
                    <a:bodyPr wrap="square"/>
                    <a:lstStyle/>
                    <a:p>
                      <a:pPr algn="l"/>
                      <a:r>
                        <a:rPr sz="919" b="0">
                          <a:solidFill>
                            <a:srgbClr val="333D4A"/>
                          </a:solidFill>
                          <a:latin typeface="Arial"/>
                        </a:rPr>
                        <a:t>Events</a:t>
                      </a:r>
                    </a:p>
                  </a:txBody>
                  <a:tcPr marL="91440" marR="73152" marT="27432" marB="27432" anchor="ctr">
                    <a:solidFill>
                      <a:srgbClr val="F3F4F6"/>
                    </a:solidFill>
                  </a:tcPr>
                </a:tc>
                <a:tc>
                  <a:txBody>
                    <a:bodyPr wrap="square"/>
                    <a:lstStyle/>
                    <a:p>
                      <a:pPr algn="l"/>
                      <a:r>
                        <a:rPr sz="919" b="0">
                          <a:solidFill>
                            <a:srgbClr val="333D4A"/>
                          </a:solidFill>
                          <a:latin typeface="Arial"/>
                        </a:rPr>
                        <a:t>events</a:t>
                      </a:r>
                    </a:p>
                  </a:txBody>
                  <a:tcPr marL="91440" marR="73152" marT="27432" marB="27432" anchor="ctr">
                    <a:solidFill>
                      <a:srgbClr val="F3F4F6"/>
                    </a:solidFill>
                  </a:tcPr>
                </a:tc>
                <a:tc>
                  <a:txBody>
                    <a:bodyPr wrap="square"/>
                    <a:lstStyle/>
                    <a:p>
                      <a:pPr algn="l"/>
                      <a:r>
                        <a:rPr sz="919" b="0">
                          <a:solidFill>
                            <a:srgbClr val="333D4A"/>
                          </a:solidFill>
                          <a:latin typeface="Arial"/>
                        </a:rPr>
                        <a:t>1</a:t>
                      </a:r>
                    </a:p>
                  </a:txBody>
                  <a:tcPr marL="91440" marR="73152" marT="27432" marB="27432" anchor="ctr">
                    <a:solidFill>
                      <a:srgbClr val="F3F4F6"/>
                    </a:solidFill>
                  </a:tcPr>
                </a:tc>
              </a:tr>
              <a:tr h="352044">
                <a:tc>
                  <a:txBody>
                    <a:bodyPr wrap="square"/>
                    <a:lstStyle/>
                    <a:p>
                      <a:pPr algn="l"/>
                      <a:r>
                        <a:rPr sz="919" b="0">
                          <a:solidFill>
                            <a:srgbClr val="333D4A"/>
                          </a:solidFill>
                          <a:latin typeface="Arial"/>
                        </a:rPr>
                        <a:t>Promos</a:t>
                      </a:r>
                    </a:p>
                  </a:txBody>
                  <a:tcPr marL="91440" marR="73152" marT="27432" marB="27432" anchor="ctr">
                    <a:solidFill>
                      <a:srgbClr val="FFFFFF"/>
                    </a:solidFill>
                  </a:tcPr>
                </a:tc>
                <a:tc>
                  <a:txBody>
                    <a:bodyPr wrap="square"/>
                    <a:lstStyle/>
                    <a:p>
                      <a:pPr algn="l"/>
                      <a:r>
                        <a:rPr sz="919" b="0">
                          <a:solidFill>
                            <a:srgbClr val="333D4A"/>
                          </a:solidFill>
                          <a:latin typeface="Arial"/>
                        </a:rPr>
                        <a:t>promos</a:t>
                      </a:r>
                    </a:p>
                  </a:txBody>
                  <a:tcPr marL="91440" marR="73152" marT="27432" marB="27432" anchor="ctr">
                    <a:solidFill>
                      <a:srgbClr val="FFFFFF"/>
                    </a:solidFill>
                  </a:tcPr>
                </a:tc>
                <a:tc>
                  <a:txBody>
                    <a:bodyPr wrap="square"/>
                    <a:lstStyle/>
                    <a:p>
                      <a:pPr algn="l"/>
                      <a:r>
                        <a:rPr sz="919" b="0">
                          <a:solidFill>
                            <a:srgbClr val="333D4A"/>
                          </a:solidFill>
                          <a:latin typeface="Arial"/>
                        </a:rPr>
                        <a:t>1</a:t>
                      </a:r>
                    </a:p>
                  </a:txBody>
                  <a:tcPr marL="91440" marR="73152" marT="27432" marB="27432" anchor="ctr">
                    <a:solidFill>
                      <a:srgbClr val="FFFFFF"/>
                    </a:solidFill>
                  </a:tcPr>
                </a:tc>
              </a:tr>
              <a:tr h="352044">
                <a:tc>
                  <a:txBody>
                    <a:bodyPr wrap="square"/>
                    <a:lstStyle/>
                    <a:p>
                      <a:pPr algn="l"/>
                      <a:r>
                        <a:rPr sz="919" b="0">
                          <a:solidFill>
                            <a:srgbClr val="333D4A"/>
                          </a:solidFill>
                          <a:latin typeface="Arial"/>
                        </a:rPr>
                        <a:t>Reviews</a:t>
                      </a:r>
                    </a:p>
                  </a:txBody>
                  <a:tcPr marL="91440" marR="73152" marT="27432" marB="27432" anchor="ctr">
                    <a:solidFill>
                      <a:srgbClr val="F3F4F6"/>
                    </a:solidFill>
                  </a:tcPr>
                </a:tc>
                <a:tc>
                  <a:txBody>
                    <a:bodyPr wrap="square"/>
                    <a:lstStyle/>
                    <a:p>
                      <a:pPr algn="l"/>
                      <a:r>
                        <a:rPr sz="919" b="0">
                          <a:solidFill>
                            <a:srgbClr val="333D4A"/>
                          </a:solidFill>
                          <a:latin typeface="Arial"/>
                        </a:rPr>
                        <a:t>reviews · review_tags</a:t>
                      </a:r>
                    </a:p>
                  </a:txBody>
                  <a:tcPr marL="91440" marR="73152" marT="27432" marB="27432" anchor="ctr">
                    <a:solidFill>
                      <a:srgbClr val="F3F4F6"/>
                    </a:solidFill>
                  </a:tcPr>
                </a:tc>
                <a:tc>
                  <a:txBody>
                    <a:bodyPr wrap="square"/>
                    <a:lstStyle/>
                    <a:p>
                      <a:pPr algn="l"/>
                      <a:r>
                        <a:rPr sz="919" b="0">
                          <a:solidFill>
                            <a:srgbClr val="333D4A"/>
                          </a:solidFill>
                          <a:latin typeface="Arial"/>
                        </a:rPr>
                        <a:t>2</a:t>
                      </a:r>
                    </a:p>
                  </a:txBody>
                  <a:tcPr marL="91440" marR="73152" marT="27432" marB="27432" anchor="ctr">
                    <a:solidFill>
                      <a:srgbClr val="F3F4F6"/>
                    </a:solidFill>
                  </a:tcPr>
                </a:tc>
              </a:tr>
              <a:tr h="352044">
                <a:tc>
                  <a:txBody>
                    <a:bodyPr wrap="square"/>
                    <a:lstStyle/>
                    <a:p>
                      <a:pPr algn="l"/>
                      <a:r>
                        <a:rPr sz="919" b="0">
                          <a:solidFill>
                            <a:srgbClr val="333D4A"/>
                          </a:solidFill>
                          <a:latin typeface="Arial"/>
                        </a:rPr>
                        <a:t>Communities</a:t>
                      </a:r>
                    </a:p>
                  </a:txBody>
                  <a:tcPr marL="91440" marR="73152" marT="27432" marB="27432" anchor="ctr">
                    <a:solidFill>
                      <a:srgbClr val="FFFFFF"/>
                    </a:solidFill>
                  </a:tcPr>
                </a:tc>
                <a:tc>
                  <a:txBody>
                    <a:bodyPr wrap="square"/>
                    <a:lstStyle/>
                    <a:p>
                      <a:pPr algn="l"/>
                      <a:r>
                        <a:rPr sz="919" b="0">
                          <a:solidFill>
                            <a:srgbClr val="333D4A"/>
                          </a:solidFill>
                          <a:latin typeface="Arial"/>
                        </a:rPr>
                        <a:t>community_categories · communities · community_updates · community_agendas</a:t>
                      </a:r>
                    </a:p>
                  </a:txBody>
                  <a:tcPr marL="91440" marR="73152" marT="27432" marB="27432" anchor="ctr">
                    <a:solidFill>
                      <a:srgbClr val="FFFFFF"/>
                    </a:solidFill>
                  </a:tcPr>
                </a:tc>
                <a:tc>
                  <a:txBody>
                    <a:bodyPr wrap="square"/>
                    <a:lstStyle/>
                    <a:p>
                      <a:pPr algn="l"/>
                      <a:r>
                        <a:rPr sz="919" b="0">
                          <a:solidFill>
                            <a:srgbClr val="333D4A"/>
                          </a:solidFill>
                          <a:latin typeface="Arial"/>
                        </a:rPr>
                        <a:t>4</a:t>
                      </a:r>
                    </a:p>
                  </a:txBody>
                  <a:tcPr marL="91440" marR="73152" marT="27432" marB="27432" anchor="ctr">
                    <a:solidFill>
                      <a:srgbClr val="FFFFFF"/>
                    </a:solidFill>
                  </a:tcPr>
                </a:tc>
              </a:tr>
              <a:tr h="352044">
                <a:tc>
                  <a:txBody>
                    <a:bodyPr wrap="square"/>
                    <a:lstStyle/>
                    <a:p>
                      <a:pPr algn="l"/>
                      <a:r>
                        <a:rPr sz="919" b="0">
                          <a:solidFill>
                            <a:srgbClr val="333D4A"/>
                          </a:solidFill>
                          <a:latin typeface="Arial"/>
                        </a:rPr>
                        <a:t>Media &amp; QR</a:t>
                      </a:r>
                    </a:p>
                  </a:txBody>
                  <a:tcPr marL="91440" marR="73152" marT="27432" marB="27432" anchor="ctr">
                    <a:solidFill>
                      <a:srgbClr val="F3F4F6"/>
                    </a:solidFill>
                  </a:tcPr>
                </a:tc>
                <a:tc>
                  <a:txBody>
                    <a:bodyPr wrap="square"/>
                    <a:lstStyle/>
                    <a:p>
                      <a:pPr algn="l"/>
                      <a:r>
                        <a:rPr sz="919" b="0">
                          <a:solidFill>
                            <a:srgbClr val="333D4A"/>
                          </a:solidFill>
                          <a:latin typeface="Arial"/>
                        </a:rPr>
                        <a:t>gallery_assets · qr_codes</a:t>
                      </a:r>
                    </a:p>
                  </a:txBody>
                  <a:tcPr marL="91440" marR="73152" marT="27432" marB="27432" anchor="ctr">
                    <a:solidFill>
                      <a:srgbClr val="F3F4F6"/>
                    </a:solidFill>
                  </a:tcPr>
                </a:tc>
                <a:tc>
                  <a:txBody>
                    <a:bodyPr wrap="square"/>
                    <a:lstStyle/>
                    <a:p>
                      <a:pPr algn="l"/>
                      <a:r>
                        <a:rPr sz="919" b="0">
                          <a:solidFill>
                            <a:srgbClr val="333D4A"/>
                          </a:solidFill>
                          <a:latin typeface="Arial"/>
                        </a:rPr>
                        <a:t>2</a:t>
                      </a:r>
                    </a:p>
                  </a:txBody>
                  <a:tcPr marL="91440" marR="73152" marT="27432" marB="27432" anchor="ctr">
                    <a:solidFill>
                      <a:srgbClr val="F3F4F6"/>
                    </a:solidFill>
                  </a:tcPr>
                </a:tc>
              </a:tr>
              <a:tr h="352044">
                <a:tc>
                  <a:txBody>
                    <a:bodyPr wrap="square"/>
                    <a:lstStyle/>
                    <a:p>
                      <a:pPr algn="l"/>
                      <a:r>
                        <a:rPr sz="919" b="0">
                          <a:solidFill>
                            <a:srgbClr val="333D4A"/>
                          </a:solidFill>
                          <a:latin typeface="Arial"/>
                        </a:rPr>
                        <a:t>Content</a:t>
                      </a:r>
                    </a:p>
                  </a:txBody>
                  <a:tcPr marL="91440" marR="73152" marT="27432" marB="27432" anchor="ctr">
                    <a:solidFill>
                      <a:srgbClr val="FFFFFF"/>
                    </a:solidFill>
                  </a:tcPr>
                </a:tc>
                <a:tc>
                  <a:txBody>
                    <a:bodyPr wrap="square"/>
                    <a:lstStyle/>
                    <a:p>
                      <a:pPr algn="l"/>
                      <a:r>
                        <a:rPr sz="919" b="0">
                          <a:solidFill>
                            <a:srgbClr val="333D4A"/>
                          </a:solidFill>
                          <a:latin typeface="Arial"/>
                        </a:rPr>
                        <a:t>blogs · hype_items</a:t>
                      </a:r>
                    </a:p>
                  </a:txBody>
                  <a:tcPr marL="91440" marR="73152" marT="27432" marB="27432" anchor="ctr">
                    <a:solidFill>
                      <a:srgbClr val="FFFFFF"/>
                    </a:solidFill>
                  </a:tcPr>
                </a:tc>
                <a:tc>
                  <a:txBody>
                    <a:bodyPr wrap="square"/>
                    <a:lstStyle/>
                    <a:p>
                      <a:pPr algn="l"/>
                      <a:r>
                        <a:rPr sz="919" b="0">
                          <a:solidFill>
                            <a:srgbClr val="333D4A"/>
                          </a:solidFill>
                          <a:latin typeface="Arial"/>
                        </a:rPr>
                        <a:t>2</a:t>
                      </a:r>
                    </a:p>
                  </a:txBody>
                  <a:tcPr marL="91440" marR="73152" marT="27432" marB="27432" anchor="ctr">
                    <a:solidFill>
                      <a:srgbClr val="FFFFFF"/>
                    </a:solidFill>
                  </a:tcPr>
                </a:tc>
              </a:tr>
              <a:tr h="352044">
                <a:tc>
                  <a:txBody>
                    <a:bodyPr wrap="square"/>
                    <a:lstStyle/>
                    <a:p>
                      <a:pPr algn="l"/>
                      <a:r>
                        <a:rPr sz="919" b="0">
                          <a:solidFill>
                            <a:srgbClr val="333D4A"/>
                          </a:solidFill>
                          <a:latin typeface="Arial"/>
                        </a:rPr>
                        <a:t>Join tables</a:t>
                      </a:r>
                    </a:p>
                  </a:txBody>
                  <a:tcPr marL="91440" marR="73152" marT="27432" marB="27432" anchor="ctr">
                    <a:solidFill>
                      <a:srgbClr val="F3F4F6"/>
                    </a:solidFill>
                  </a:tcPr>
                </a:tc>
                <a:tc>
                  <a:txBody>
                    <a:bodyPr wrap="square"/>
                    <a:lstStyle/>
                    <a:p>
                      <a:pPr algn="l"/>
                      <a:r>
                        <a:rPr sz="919" b="0">
                          <a:solidFill>
                            <a:srgbClr val="333D4A"/>
                          </a:solidFill>
                          <a:latin typeface="Arial"/>
                        </a:rPr>
                        <a:t>spot_tags · event_tags · event_interests · customer_interests · customer_favorite_tags · owner_spots · owner_events · owner_communities · review_selected_tags</a:t>
                      </a:r>
                    </a:p>
                  </a:txBody>
                  <a:tcPr marL="91440" marR="73152" marT="27432" marB="27432" anchor="ctr">
                    <a:solidFill>
                      <a:srgbClr val="F3F4F6"/>
                    </a:solidFill>
                  </a:tcPr>
                </a:tc>
                <a:tc>
                  <a:txBody>
                    <a:bodyPr wrap="square"/>
                    <a:lstStyle/>
                    <a:p>
                      <a:pPr algn="l"/>
                      <a:r>
                        <a:rPr sz="919" b="0">
                          <a:solidFill>
                            <a:srgbClr val="333D4A"/>
                          </a:solidFill>
                          <a:latin typeface="Arial"/>
                        </a:rPr>
                        <a:t>9</a:t>
                      </a:r>
                    </a:p>
                  </a:txBody>
                  <a:tcPr marL="91440" marR="73152" marT="27432" marB="27432" anchor="ctr">
                    <a:solidFill>
                      <a:srgbClr val="F3F4F6"/>
                    </a:solidFill>
                  </a:tcPr>
                </a:tc>
              </a:tr>
              <a:tr h="352044">
                <a:tc>
                  <a:txBody>
                    <a:bodyPr wrap="square"/>
                    <a:lstStyle/>
                    <a:p>
                      <a:pPr algn="l"/>
                      <a:r>
                        <a:rPr sz="919" b="0">
                          <a:solidFill>
                            <a:srgbClr val="333D4A"/>
                          </a:solidFill>
                          <a:latin typeface="Arial"/>
                        </a:rPr>
                        <a:t>Engagement</a:t>
                      </a:r>
                    </a:p>
                  </a:txBody>
                  <a:tcPr marL="91440" marR="73152" marT="27432" marB="27432" anchor="ctr">
                    <a:solidFill>
                      <a:srgbClr val="FFFFFF"/>
                    </a:solidFill>
                  </a:tcPr>
                </a:tc>
                <a:tc>
                  <a:txBody>
                    <a:bodyPr wrap="square"/>
                    <a:lstStyle/>
                    <a:p>
                      <a:pPr algn="l"/>
                      <a:r>
                        <a:rPr sz="919" b="0">
                          <a:solidFill>
                            <a:srgbClr val="333D4A"/>
                          </a:solidFill>
                          <a:latin typeface="Arial"/>
                        </a:rPr>
                        <a:t>bookmarks · event_attendances · spot_visits · community_memberships · notifications</a:t>
                      </a:r>
                    </a:p>
                  </a:txBody>
                  <a:tcPr marL="91440" marR="73152" marT="27432" marB="27432" anchor="ctr">
                    <a:solidFill>
                      <a:srgbClr val="FFFFFF"/>
                    </a:solidFill>
                  </a:tcPr>
                </a:tc>
                <a:tc>
                  <a:txBody>
                    <a:bodyPr wrap="square"/>
                    <a:lstStyle/>
                    <a:p>
                      <a:pPr algn="l"/>
                      <a:r>
                        <a:rPr sz="919" b="0">
                          <a:solidFill>
                            <a:srgbClr val="333D4A"/>
                          </a:solidFill>
                          <a:latin typeface="Arial"/>
                        </a:rPr>
                        <a:t>5</a:t>
                      </a:r>
                    </a:p>
                  </a:txBody>
                  <a:tcPr marL="91440" marR="73152" marT="27432" marB="27432" anchor="ctr">
                    <a:solidFill>
                      <a:srgbClr val="FFFFFF"/>
                    </a:solidFill>
                  </a:tcPr>
                </a:tc>
              </a:tr>
            </a:tbl>
          </a:graphicData>
        </a:graphic>
      </p:graphicFrame>
      <p:sp>
        <p:nvSpPr>
          <p:cNvPr id="7" name="TextBox 6"/>
          <p:cNvSpPr txBox="1"/>
          <p:nvPr/>
        </p:nvSpPr>
        <p:spPr>
          <a:xfrm>
            <a:off x="640080" y="5897880"/>
            <a:ext cx="10881360" cy="274320"/>
          </a:xfrm>
          <a:prstGeom prst="rect">
            <a:avLst/>
          </a:prstGeom>
          <a:noFill/>
        </p:spPr>
        <p:txBody>
          <a:bodyPr wrap="square" lIns="0" rIns="0" tIns="0" bIns="0" anchor="t">
            <a:spAutoFit/>
          </a:bodyPr>
          <a:lstStyle/>
          <a:p>
            <a:pPr algn="l">
              <a:lnSpc>
                <a:spcPct val="112000"/>
              </a:lnSpc>
              <a:spcAft>
                <a:spcPts val="0"/>
              </a:spcAft>
            </a:pPr>
            <a:r>
              <a:rPr sz="850" b="0" i="0">
                <a:solidFill>
                  <a:srgbClr val="6B7280"/>
                </a:solidFill>
                <a:latin typeface="Arial"/>
              </a:rPr>
              <a:t>17 enum: user_role, user_badge_category, owner_role, publish_status, tag_category, event_status, promo_status, community_type, notification_type, dan lainnya.</a:t>
            </a:r>
          </a:p>
        </p:txBody>
      </p:sp>
      <p:sp>
        <p:nvSpPr>
          <p:cNvPr id="8" name="Rounded Rectangle 7"/>
          <p:cNvSpPr/>
          <p:nvPr/>
        </p:nvSpPr>
        <p:spPr>
          <a:xfrm>
            <a:off x="640080" y="6419088"/>
            <a:ext cx="10908792" cy="7315"/>
          </a:xfrm>
          <a:prstGeom prst="roundRect">
            <a:avLst>
              <a:gd name="adj" fmla="val 0"/>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Rounded Rectangle 8"/>
          <p:cNvSpPr/>
          <p:nvPr/>
        </p:nvSpPr>
        <p:spPr>
          <a:xfrm>
            <a:off x="640080" y="6537960"/>
            <a:ext cx="224942" cy="224942"/>
          </a:xfrm>
          <a:prstGeom prst="roundRect">
            <a:avLst>
              <a:gd name="adj" fmla="val 22000"/>
            </a:avLst>
          </a:prstGeom>
          <a:solidFill>
            <a:srgbClr val="FF5A5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TextBox 9"/>
          <p:cNvSpPr txBox="1"/>
          <p:nvPr/>
        </p:nvSpPr>
        <p:spPr>
          <a:xfrm>
            <a:off x="640080" y="6526987"/>
            <a:ext cx="224942" cy="224942"/>
          </a:xfrm>
          <a:prstGeom prst="rect">
            <a:avLst/>
          </a:prstGeom>
          <a:noFill/>
        </p:spPr>
        <p:txBody>
          <a:bodyPr wrap="square" lIns="0" rIns="0" tIns="0" bIns="0" anchor="ctr">
            <a:spAutoFit/>
          </a:bodyPr>
          <a:lstStyle/>
          <a:p>
            <a:pPr algn="ctr">
              <a:lnSpc>
                <a:spcPct val="112000"/>
              </a:lnSpc>
              <a:spcAft>
                <a:spcPts val="0"/>
              </a:spcAft>
            </a:pPr>
            <a:r>
              <a:rPr sz="1066" b="1" i="0">
                <a:solidFill>
                  <a:srgbClr val="FFFFFF"/>
                </a:solidFill>
                <a:latin typeface="Arial"/>
              </a:rPr>
              <a:t>n</a:t>
            </a:r>
          </a:p>
        </p:txBody>
      </p:sp>
      <p:sp>
        <p:nvSpPr>
          <p:cNvPr id="11" name="TextBox 10"/>
          <p:cNvSpPr txBox="1"/>
          <p:nvPr/>
        </p:nvSpPr>
        <p:spPr>
          <a:xfrm>
            <a:off x="932505" y="6510528"/>
            <a:ext cx="899769" cy="224942"/>
          </a:xfrm>
          <a:prstGeom prst="rect">
            <a:avLst/>
          </a:prstGeom>
          <a:noFill/>
        </p:spPr>
        <p:txBody>
          <a:bodyPr wrap="square" lIns="0" rIns="0" tIns="0" bIns="0" anchor="t">
            <a:spAutoFit/>
          </a:bodyPr>
          <a:lstStyle/>
          <a:p>
            <a:pPr algn="l">
              <a:lnSpc>
                <a:spcPct val="112000"/>
              </a:lnSpc>
              <a:spcAft>
                <a:spcPts val="0"/>
              </a:spcAft>
            </a:pPr>
            <a:r>
              <a:rPr sz="1066" b="1" i="0">
                <a:solidFill>
                  <a:srgbClr val="1F2937"/>
                </a:solidFill>
                <a:latin typeface="Arial"/>
              </a:rPr>
              <a:t>NgeTag</a:t>
            </a:r>
          </a:p>
        </p:txBody>
      </p:sp>
      <p:sp>
        <p:nvSpPr>
          <p:cNvPr id="12" name="TextBox 11"/>
          <p:cNvSpPr txBox="1"/>
          <p:nvPr/>
        </p:nvSpPr>
        <p:spPr>
          <a:xfrm>
            <a:off x="1600200" y="6556248"/>
            <a:ext cx="5486400" cy="201168"/>
          </a:xfrm>
          <a:prstGeom prst="rect">
            <a:avLst/>
          </a:prstGeom>
          <a:noFill/>
        </p:spPr>
        <p:txBody>
          <a:bodyPr wrap="square" lIns="0" rIns="0" tIns="0" bIns="0" anchor="t">
            <a:spAutoFit/>
          </a:bodyPr>
          <a:lstStyle/>
          <a:p>
            <a:pPr algn="l">
              <a:lnSpc>
                <a:spcPct val="112000"/>
              </a:lnSpc>
              <a:spcAft>
                <a:spcPts val="0"/>
              </a:spcAft>
            </a:pPr>
            <a:r>
              <a:rPr sz="850" b="0" i="0">
                <a:solidFill>
                  <a:srgbClr val="6B7280"/>
                </a:solidFill>
                <a:latin typeface="Arial"/>
              </a:rPr>
              <a:t>NgeTag · Review Repository &amp; Seed Data User</a:t>
            </a:r>
          </a:p>
        </p:txBody>
      </p:sp>
      <p:sp>
        <p:nvSpPr>
          <p:cNvPr id="13" name="TextBox 12"/>
          <p:cNvSpPr txBox="1"/>
          <p:nvPr/>
        </p:nvSpPr>
        <p:spPr>
          <a:xfrm>
            <a:off x="10607040" y="6556248"/>
            <a:ext cx="941832" cy="201168"/>
          </a:xfrm>
          <a:prstGeom prst="rect">
            <a:avLst/>
          </a:prstGeom>
          <a:noFill/>
        </p:spPr>
        <p:txBody>
          <a:bodyPr wrap="square" lIns="0" rIns="0" tIns="0" bIns="0" anchor="t">
            <a:spAutoFit/>
          </a:bodyPr>
          <a:lstStyle/>
          <a:p>
            <a:pPr algn="r">
              <a:lnSpc>
                <a:spcPct val="112000"/>
              </a:lnSpc>
              <a:spcAft>
                <a:spcPts val="0"/>
              </a:spcAft>
            </a:pPr>
            <a:r>
              <a:rPr sz="850" b="0" i="0">
                <a:solidFill>
                  <a:srgbClr val="6B7280"/>
                </a:solidFill>
                <a:latin typeface="Arial"/>
              </a:rPr>
              <a:t>13 / 22</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AFAFB"/>
        </a:solidFill>
        <a:effectLst/>
      </p:bgPr>
    </p:bg>
    <p:spTree>
      <p:nvGrpSpPr>
        <p:cNvPr id="1" name=""/>
        <p:cNvGrpSpPr/>
        <p:nvPr/>
      </p:nvGrpSpPr>
      <p:grpSpPr/>
      <p:sp>
        <p:nvSpPr>
          <p:cNvPr id="2" name="TextBox 1"/>
          <p:cNvSpPr txBox="1"/>
          <p:nvPr/>
        </p:nvSpPr>
        <p:spPr>
          <a:xfrm>
            <a:off x="640080" y="384048"/>
            <a:ext cx="9601200" cy="228600"/>
          </a:xfrm>
          <a:prstGeom prst="rect">
            <a:avLst/>
          </a:prstGeom>
          <a:noFill/>
        </p:spPr>
        <p:txBody>
          <a:bodyPr wrap="square" lIns="0" rIns="0" tIns="0" bIns="0" anchor="t">
            <a:spAutoFit/>
          </a:bodyPr>
          <a:lstStyle/>
          <a:p>
            <a:pPr algn="l">
              <a:lnSpc>
                <a:spcPct val="112000"/>
              </a:lnSpc>
              <a:spcAft>
                <a:spcPts val="0"/>
              </a:spcAft>
            </a:pPr>
            <a:r>
              <a:rPr sz="1000" b="1" i="0" spc="140">
                <a:solidFill>
                  <a:srgbClr val="FF5A5F"/>
                </a:solidFill>
                <a:latin typeface="Arial"/>
              </a:rPr>
              <a:t>02 · ARSITEKTUR &amp; DATA</a:t>
            </a:r>
          </a:p>
        </p:txBody>
      </p:sp>
      <p:sp>
        <p:nvSpPr>
          <p:cNvPr id="3" name="TextBox 2"/>
          <p:cNvSpPr txBox="1"/>
          <p:nvPr/>
        </p:nvSpPr>
        <p:spPr>
          <a:xfrm>
            <a:off x="640080" y="621792"/>
            <a:ext cx="10881360" cy="566928"/>
          </a:xfrm>
          <a:prstGeom prst="rect">
            <a:avLst/>
          </a:prstGeom>
          <a:noFill/>
        </p:spPr>
        <p:txBody>
          <a:bodyPr wrap="square" lIns="0" rIns="0" tIns="0" bIns="0" anchor="t">
            <a:spAutoFit/>
          </a:bodyPr>
          <a:lstStyle/>
          <a:p>
            <a:pPr algn="l">
              <a:lnSpc>
                <a:spcPct val="112000"/>
              </a:lnSpc>
              <a:spcAft>
                <a:spcPts val="0"/>
              </a:spcAft>
            </a:pPr>
            <a:r>
              <a:rPr sz="2600" b="1" i="0">
                <a:solidFill>
                  <a:srgbClr val="1F2937"/>
                </a:solidFill>
                <a:latin typeface="Arial"/>
              </a:rPr>
              <a:t>Model user: satu tabel pusat, enam titik singgung</a:t>
            </a:r>
          </a:p>
        </p:txBody>
      </p:sp>
      <p:sp>
        <p:nvSpPr>
          <p:cNvPr id="4" name="TextBox 3"/>
          <p:cNvSpPr txBox="1"/>
          <p:nvPr/>
        </p:nvSpPr>
        <p:spPr>
          <a:xfrm>
            <a:off x="640080" y="1225296"/>
            <a:ext cx="10424160" cy="365760"/>
          </a:xfrm>
          <a:prstGeom prst="rect">
            <a:avLst/>
          </a:prstGeom>
          <a:noFill/>
        </p:spPr>
        <p:txBody>
          <a:bodyPr wrap="square" lIns="0" rIns="0" tIns="0" bIns="0" anchor="t">
            <a:spAutoFit/>
          </a:bodyPr>
          <a:lstStyle/>
          <a:p>
            <a:pPr algn="l">
              <a:lnSpc>
                <a:spcPct val="112000"/>
              </a:lnSpc>
              <a:spcAft>
                <a:spcPts val="0"/>
              </a:spcAft>
            </a:pPr>
            <a:r>
              <a:rPr sz="1250" b="0" i="0">
                <a:solidFill>
                  <a:srgbClr val="6B7280"/>
                </a:solidFill>
                <a:latin typeface="Arial"/>
              </a:rPr>
              <a:t>Tabel customers menyimpan profil, badge, dan preferensi; relasinya tersebar ke tabel engagement.</a:t>
            </a:r>
          </a:p>
        </p:txBody>
      </p:sp>
      <p:sp>
        <p:nvSpPr>
          <p:cNvPr id="5" name="Rounded Rectangle 4"/>
          <p:cNvSpPr/>
          <p:nvPr/>
        </p:nvSpPr>
        <p:spPr>
          <a:xfrm>
            <a:off x="640080" y="1170432"/>
            <a:ext cx="502920" cy="32004"/>
          </a:xfrm>
          <a:prstGeom prst="roundRect">
            <a:avLst>
              <a:gd name="adj" fmla="val 0"/>
            </a:avLst>
          </a:prstGeom>
          <a:solidFill>
            <a:srgbClr val="FF5A5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graphicFrame>
        <p:nvGraphicFramePr>
          <p:cNvPr id="6" name="Table 5"/>
          <p:cNvGraphicFramePr>
            <a:graphicFrameLocks noGrp="1"/>
          </p:cNvGraphicFramePr>
          <p:nvPr/>
        </p:nvGraphicFramePr>
        <p:xfrm>
          <a:off x="640080" y="1737360"/>
          <a:ext cx="6537960" cy="3831336"/>
        </p:xfrm>
        <a:graphic>
          <a:graphicData uri="http://schemas.openxmlformats.org/drawingml/2006/table">
            <a:tbl>
              <a:tblPr firstRow="0" bandRow="0"/>
              <a:tblGrid>
                <a:gridCol w="1143000"/>
                <a:gridCol w="1783080"/>
                <a:gridCol w="3611880"/>
              </a:tblGrid>
              <a:tr h="310896">
                <a:tc>
                  <a:txBody>
                    <a:bodyPr wrap="square"/>
                    <a:lstStyle/>
                    <a:p>
                      <a:pPr algn="l"/>
                      <a:r>
                        <a:rPr sz="900" b="1">
                          <a:solidFill>
                            <a:srgbClr val="FFFFFF"/>
                          </a:solidFill>
                          <a:latin typeface="Arial"/>
                        </a:rPr>
                        <a:t>Kolom</a:t>
                      </a:r>
                    </a:p>
                  </a:txBody>
                  <a:tcPr marL="91440" marR="73152" marT="27432" marB="27432" anchor="ctr">
                    <a:solidFill>
                      <a:srgbClr val="1F2937"/>
                    </a:solidFill>
                  </a:tcPr>
                </a:tc>
                <a:tc>
                  <a:txBody>
                    <a:bodyPr wrap="square"/>
                    <a:lstStyle/>
                    <a:p>
                      <a:pPr algn="l"/>
                      <a:r>
                        <a:rPr sz="900" b="1">
                          <a:solidFill>
                            <a:srgbClr val="FFFFFF"/>
                          </a:solidFill>
                          <a:latin typeface="Arial"/>
                        </a:rPr>
                        <a:t>Tipe</a:t>
                      </a:r>
                    </a:p>
                  </a:txBody>
                  <a:tcPr marL="91440" marR="73152" marT="27432" marB="27432" anchor="ctr">
                    <a:solidFill>
                      <a:srgbClr val="1F2937"/>
                    </a:solidFill>
                  </a:tcPr>
                </a:tc>
                <a:tc>
                  <a:txBody>
                    <a:bodyPr wrap="square"/>
                    <a:lstStyle/>
                    <a:p>
                      <a:pPr algn="l"/>
                      <a:r>
                        <a:rPr sz="900" b="1">
                          <a:solidFill>
                            <a:srgbClr val="FFFFFF"/>
                          </a:solidFill>
                          <a:latin typeface="Arial"/>
                        </a:rPr>
                        <a:t>Catatan</a:t>
                      </a:r>
                    </a:p>
                  </a:txBody>
                  <a:tcPr marL="91440" marR="73152" marT="27432" marB="27432" anchor="ctr">
                    <a:solidFill>
                      <a:srgbClr val="1F2937"/>
                    </a:solidFill>
                  </a:tcPr>
                </a:tc>
              </a:tr>
              <a:tr h="320040">
                <a:tc>
                  <a:txBody>
                    <a:bodyPr wrap="square"/>
                    <a:lstStyle/>
                    <a:p>
                      <a:pPr algn="l"/>
                      <a:r>
                        <a:rPr sz="919" b="0">
                          <a:solidFill>
                            <a:srgbClr val="333D4A"/>
                          </a:solidFill>
                          <a:latin typeface="Arial"/>
                        </a:rPr>
                        <a:t>id</a:t>
                      </a:r>
                    </a:p>
                  </a:txBody>
                  <a:tcPr marL="91440" marR="73152" marT="27432" marB="27432" anchor="ctr">
                    <a:solidFill>
                      <a:srgbClr val="FFFFFF"/>
                    </a:solidFill>
                  </a:tcPr>
                </a:tc>
                <a:tc>
                  <a:txBody>
                    <a:bodyPr wrap="square"/>
                    <a:lstStyle/>
                    <a:p>
                      <a:pPr algn="l"/>
                      <a:r>
                        <a:rPr sz="919" b="0">
                          <a:solidFill>
                            <a:srgbClr val="333D4A"/>
                          </a:solidFill>
                          <a:latin typeface="Arial"/>
                        </a:rPr>
                        <a:t>varchar(64) PK</a:t>
                      </a:r>
                    </a:p>
                  </a:txBody>
                  <a:tcPr marL="91440" marR="73152" marT="27432" marB="27432" anchor="ctr">
                    <a:solidFill>
                      <a:srgbClr val="FFFFFF"/>
                    </a:solidFill>
                  </a:tcPr>
                </a:tc>
                <a:tc>
                  <a:txBody>
                    <a:bodyPr wrap="square"/>
                    <a:lstStyle/>
                    <a:p>
                      <a:pPr algn="l"/>
                      <a:r>
                        <a:rPr sz="919" b="0">
                          <a:solidFill>
                            <a:srgbClr val="333D4A"/>
                          </a:solidFill>
                          <a:latin typeface="Arial"/>
                        </a:rPr>
                        <a:t>dipakai juga sebagai author_id</a:t>
                      </a:r>
                    </a:p>
                  </a:txBody>
                  <a:tcPr marL="91440" marR="73152" marT="27432" marB="27432" anchor="ctr">
                    <a:solidFill>
                      <a:srgbClr val="FFFFFF"/>
                    </a:solidFill>
                  </a:tcPr>
                </a:tc>
              </a:tr>
              <a:tr h="320040">
                <a:tc>
                  <a:txBody>
                    <a:bodyPr wrap="square"/>
                    <a:lstStyle/>
                    <a:p>
                      <a:pPr algn="l"/>
                      <a:r>
                        <a:rPr sz="919" b="0">
                          <a:solidFill>
                            <a:srgbClr val="333D4A"/>
                          </a:solidFill>
                          <a:latin typeface="Arial"/>
                        </a:rPr>
                        <a:t>name</a:t>
                      </a:r>
                    </a:p>
                  </a:txBody>
                  <a:tcPr marL="91440" marR="73152" marT="27432" marB="27432" anchor="ctr">
                    <a:solidFill>
                      <a:srgbClr val="F3F4F6"/>
                    </a:solidFill>
                  </a:tcPr>
                </a:tc>
                <a:tc>
                  <a:txBody>
                    <a:bodyPr wrap="square"/>
                    <a:lstStyle/>
                    <a:p>
                      <a:pPr algn="l"/>
                      <a:r>
                        <a:rPr sz="919" b="0">
                          <a:solidFill>
                            <a:srgbClr val="333D4A"/>
                          </a:solidFill>
                          <a:latin typeface="Arial"/>
                        </a:rPr>
                        <a:t>varchar(255)</a:t>
                      </a:r>
                    </a:p>
                  </a:txBody>
                  <a:tcPr marL="91440" marR="73152" marT="27432" marB="27432" anchor="ctr">
                    <a:solidFill>
                      <a:srgbClr val="F3F4F6"/>
                    </a:solidFill>
                  </a:tcPr>
                </a:tc>
                <a:tc>
                  <a:txBody>
                    <a:bodyPr wrap="square"/>
                    <a:lstStyle/>
                    <a:p>
                      <a:pPr algn="l"/>
                      <a:r>
                        <a:rPr sz="919" b="0">
                          <a:solidFill>
                            <a:srgbClr val="333D4A"/>
                          </a:solidFill>
                          <a:latin typeface="Arial"/>
                        </a:rPr>
                        <a:t>wajib</a:t>
                      </a:r>
                    </a:p>
                  </a:txBody>
                  <a:tcPr marL="91440" marR="73152" marT="27432" marB="27432" anchor="ctr">
                    <a:solidFill>
                      <a:srgbClr val="F3F4F6"/>
                    </a:solidFill>
                  </a:tcPr>
                </a:tc>
              </a:tr>
              <a:tr h="320040">
                <a:tc>
                  <a:txBody>
                    <a:bodyPr wrap="square"/>
                    <a:lstStyle/>
                    <a:p>
                      <a:pPr algn="l"/>
                      <a:r>
                        <a:rPr sz="919" b="0">
                          <a:solidFill>
                            <a:srgbClr val="333D4A"/>
                          </a:solidFill>
                          <a:latin typeface="Arial"/>
                        </a:rPr>
                        <a:t>email</a:t>
                      </a:r>
                    </a:p>
                  </a:txBody>
                  <a:tcPr marL="91440" marR="73152" marT="27432" marB="27432" anchor="ctr">
                    <a:solidFill>
                      <a:srgbClr val="FFFFFF"/>
                    </a:solidFill>
                  </a:tcPr>
                </a:tc>
                <a:tc>
                  <a:txBody>
                    <a:bodyPr wrap="square"/>
                    <a:lstStyle/>
                    <a:p>
                      <a:pPr algn="l"/>
                      <a:r>
                        <a:rPr sz="919" b="0">
                          <a:solidFill>
                            <a:srgbClr val="333D4A"/>
                          </a:solidFill>
                          <a:latin typeface="Arial"/>
                        </a:rPr>
                        <a:t>varchar(255)</a:t>
                      </a:r>
                    </a:p>
                  </a:txBody>
                  <a:tcPr marL="91440" marR="73152" marT="27432" marB="27432" anchor="ctr">
                    <a:solidFill>
                      <a:srgbClr val="FFFFFF"/>
                    </a:solidFill>
                  </a:tcPr>
                </a:tc>
                <a:tc>
                  <a:txBody>
                    <a:bodyPr wrap="square"/>
                    <a:lstStyle/>
                    <a:p>
                      <a:pPr algn="l"/>
                      <a:r>
                        <a:rPr sz="919" b="0">
                          <a:solidFill>
                            <a:srgbClr val="333D4A"/>
                          </a:solidFill>
                          <a:latin typeface="Arial"/>
                        </a:rPr>
                        <a:t>unique index</a:t>
                      </a:r>
                    </a:p>
                  </a:txBody>
                  <a:tcPr marL="91440" marR="73152" marT="27432" marB="27432" anchor="ctr">
                    <a:solidFill>
                      <a:srgbClr val="FFFFFF"/>
                    </a:solidFill>
                  </a:tcPr>
                </a:tc>
              </a:tr>
              <a:tr h="320040">
                <a:tc>
                  <a:txBody>
                    <a:bodyPr wrap="square"/>
                    <a:lstStyle/>
                    <a:p>
                      <a:pPr algn="l"/>
                      <a:r>
                        <a:rPr sz="919" b="0">
                          <a:solidFill>
                            <a:srgbClr val="333D4A"/>
                          </a:solidFill>
                          <a:latin typeface="Arial"/>
                        </a:rPr>
                        <a:t>avatar_url</a:t>
                      </a:r>
                    </a:p>
                  </a:txBody>
                  <a:tcPr marL="91440" marR="73152" marT="27432" marB="27432" anchor="ctr">
                    <a:solidFill>
                      <a:srgbClr val="F3F4F6"/>
                    </a:solidFill>
                  </a:tcPr>
                </a:tc>
                <a:tc>
                  <a:txBody>
                    <a:bodyPr wrap="square"/>
                    <a:lstStyle/>
                    <a:p>
                      <a:pPr algn="l"/>
                      <a:r>
                        <a:rPr sz="919" b="0">
                          <a:solidFill>
                            <a:srgbClr val="333D4A"/>
                          </a:solidFill>
                          <a:latin typeface="Arial"/>
                        </a:rPr>
                        <a:t>text</a:t>
                      </a:r>
                    </a:p>
                  </a:txBody>
                  <a:tcPr marL="91440" marR="73152" marT="27432" marB="27432" anchor="ctr">
                    <a:solidFill>
                      <a:srgbClr val="F3F4F6"/>
                    </a:solidFill>
                  </a:tcPr>
                </a:tc>
                <a:tc>
                  <a:txBody>
                    <a:bodyPr wrap="square"/>
                    <a:lstStyle/>
                    <a:p>
                      <a:pPr algn="l"/>
                      <a:r>
                        <a:rPr sz="919" b="0">
                          <a:solidFill>
                            <a:srgbClr val="333D4A"/>
                          </a:solidFill>
                          <a:latin typeface="Arial"/>
                        </a:rPr>
                        <a:t>nullable</a:t>
                      </a:r>
                    </a:p>
                  </a:txBody>
                  <a:tcPr marL="91440" marR="73152" marT="27432" marB="27432" anchor="ctr">
                    <a:solidFill>
                      <a:srgbClr val="F3F4F6"/>
                    </a:solidFill>
                  </a:tcPr>
                </a:tc>
              </a:tr>
              <a:tr h="320040">
                <a:tc>
                  <a:txBody>
                    <a:bodyPr wrap="square"/>
                    <a:lstStyle/>
                    <a:p>
                      <a:pPr algn="l"/>
                      <a:r>
                        <a:rPr sz="919" b="0">
                          <a:solidFill>
                            <a:srgbClr val="333D4A"/>
                          </a:solidFill>
                          <a:latin typeface="Arial"/>
                        </a:rPr>
                        <a:t>role</a:t>
                      </a:r>
                    </a:p>
                  </a:txBody>
                  <a:tcPr marL="91440" marR="73152" marT="27432" marB="27432" anchor="ctr">
                    <a:solidFill>
                      <a:srgbClr val="FFFFFF"/>
                    </a:solidFill>
                  </a:tcPr>
                </a:tc>
                <a:tc>
                  <a:txBody>
                    <a:bodyPr wrap="square"/>
                    <a:lstStyle/>
                    <a:p>
                      <a:pPr algn="l"/>
                      <a:r>
                        <a:rPr sz="919" b="0">
                          <a:solidFill>
                            <a:srgbClr val="333D4A"/>
                          </a:solidFill>
                          <a:latin typeface="Arial"/>
                        </a:rPr>
                        <a:t>enum user_role</a:t>
                      </a:r>
                    </a:p>
                  </a:txBody>
                  <a:tcPr marL="91440" marR="73152" marT="27432" marB="27432" anchor="ctr">
                    <a:solidFill>
                      <a:srgbClr val="FFFFFF"/>
                    </a:solidFill>
                  </a:tcPr>
                </a:tc>
                <a:tc>
                  <a:txBody>
                    <a:bodyPr wrap="square"/>
                    <a:lstStyle/>
                    <a:p>
                      <a:pPr algn="l"/>
                      <a:r>
                        <a:rPr sz="919" b="0">
                          <a:solidFill>
                            <a:srgbClr val="333D4A"/>
                          </a:solidFill>
                          <a:latin typeface="Arial"/>
                        </a:rPr>
                        <a:t>customer · owner · admin</a:t>
                      </a:r>
                    </a:p>
                  </a:txBody>
                  <a:tcPr marL="91440" marR="73152" marT="27432" marB="27432" anchor="ctr">
                    <a:solidFill>
                      <a:srgbClr val="FFFFFF"/>
                    </a:solidFill>
                  </a:tcPr>
                </a:tc>
              </a:tr>
              <a:tr h="320040">
                <a:tc>
                  <a:txBody>
                    <a:bodyPr wrap="square"/>
                    <a:lstStyle/>
                    <a:p>
                      <a:pPr algn="l"/>
                      <a:r>
                        <a:rPr sz="919" b="0">
                          <a:solidFill>
                            <a:srgbClr val="333D4A"/>
                          </a:solidFill>
                          <a:latin typeface="Arial"/>
                        </a:rPr>
                        <a:t>bio</a:t>
                      </a:r>
                    </a:p>
                  </a:txBody>
                  <a:tcPr marL="91440" marR="73152" marT="27432" marB="27432" anchor="ctr">
                    <a:solidFill>
                      <a:srgbClr val="F3F4F6"/>
                    </a:solidFill>
                  </a:tcPr>
                </a:tc>
                <a:tc>
                  <a:txBody>
                    <a:bodyPr wrap="square"/>
                    <a:lstStyle/>
                    <a:p>
                      <a:pPr algn="l"/>
                      <a:r>
                        <a:rPr sz="919" b="0">
                          <a:solidFill>
                            <a:srgbClr val="333D4A"/>
                          </a:solidFill>
                          <a:latin typeface="Arial"/>
                        </a:rPr>
                        <a:t>text</a:t>
                      </a:r>
                    </a:p>
                  </a:txBody>
                  <a:tcPr marL="91440" marR="73152" marT="27432" marB="27432" anchor="ctr">
                    <a:solidFill>
                      <a:srgbClr val="F3F4F6"/>
                    </a:solidFill>
                  </a:tcPr>
                </a:tc>
                <a:tc>
                  <a:txBody>
                    <a:bodyPr wrap="square"/>
                    <a:lstStyle/>
                    <a:p>
                      <a:pPr algn="l"/>
                      <a:r>
                        <a:rPr sz="919" b="0">
                          <a:solidFill>
                            <a:srgbClr val="333D4A"/>
                          </a:solidFill>
                          <a:latin typeface="Arial"/>
                        </a:rPr>
                        <a:t>nullable</a:t>
                      </a:r>
                    </a:p>
                  </a:txBody>
                  <a:tcPr marL="91440" marR="73152" marT="27432" marB="27432" anchor="ctr">
                    <a:solidFill>
                      <a:srgbClr val="F3F4F6"/>
                    </a:solidFill>
                  </a:tcPr>
                </a:tc>
              </a:tr>
              <a:tr h="320040">
                <a:tc>
                  <a:txBody>
                    <a:bodyPr wrap="square"/>
                    <a:lstStyle/>
                    <a:p>
                      <a:pPr algn="l"/>
                      <a:r>
                        <a:rPr sz="919" b="0">
                          <a:solidFill>
                            <a:srgbClr val="333D4A"/>
                          </a:solidFill>
                          <a:latin typeface="Arial"/>
                        </a:rPr>
                        <a:t>badges</a:t>
                      </a:r>
                    </a:p>
                  </a:txBody>
                  <a:tcPr marL="91440" marR="73152" marT="27432" marB="27432" anchor="ctr">
                    <a:solidFill>
                      <a:srgbClr val="FFFFFF"/>
                    </a:solidFill>
                  </a:tcPr>
                </a:tc>
                <a:tc>
                  <a:txBody>
                    <a:bodyPr wrap="square"/>
                    <a:lstStyle/>
                    <a:p>
                      <a:pPr algn="l"/>
                      <a:r>
                        <a:rPr sz="919" b="0">
                          <a:solidFill>
                            <a:srgbClr val="333D4A"/>
                          </a:solidFill>
                          <a:latin typeface="Arial"/>
                        </a:rPr>
                        <a:t>jsonb UserBadge[]</a:t>
                      </a:r>
                    </a:p>
                  </a:txBody>
                  <a:tcPr marL="91440" marR="73152" marT="27432" marB="27432" anchor="ctr">
                    <a:solidFill>
                      <a:srgbClr val="FFFFFF"/>
                    </a:solidFill>
                  </a:tcPr>
                </a:tc>
                <a:tc>
                  <a:txBody>
                    <a:bodyPr wrap="square"/>
                    <a:lstStyle/>
                    <a:p>
                      <a:pPr algn="l"/>
                      <a:r>
                        <a:rPr sz="919" b="0">
                          <a:solidFill>
                            <a:srgbClr val="333D4A"/>
                          </a:solidFill>
                          <a:latin typeface="Arial"/>
                        </a:rPr>
                        <a:t>5 kategori badge</a:t>
                      </a:r>
                    </a:p>
                  </a:txBody>
                  <a:tcPr marL="91440" marR="73152" marT="27432" marB="27432" anchor="ctr">
                    <a:solidFill>
                      <a:srgbClr val="FFFFFF"/>
                    </a:solidFill>
                  </a:tcPr>
                </a:tc>
              </a:tr>
              <a:tr h="320040">
                <a:tc>
                  <a:txBody>
                    <a:bodyPr wrap="square"/>
                    <a:lstStyle/>
                    <a:p>
                      <a:pPr algn="l"/>
                      <a:r>
                        <a:rPr sz="919" b="0">
                          <a:solidFill>
                            <a:srgbClr val="333D4A"/>
                          </a:solidFill>
                          <a:latin typeface="Arial"/>
                        </a:rPr>
                        <a:t>preferences</a:t>
                      </a:r>
                    </a:p>
                  </a:txBody>
                  <a:tcPr marL="91440" marR="73152" marT="27432" marB="27432" anchor="ctr">
                    <a:solidFill>
                      <a:srgbClr val="F3F4F6"/>
                    </a:solidFill>
                  </a:tcPr>
                </a:tc>
                <a:tc>
                  <a:txBody>
                    <a:bodyPr wrap="square"/>
                    <a:lstStyle/>
                    <a:p>
                      <a:pPr algn="l"/>
                      <a:r>
                        <a:rPr sz="919" b="0">
                          <a:solidFill>
                            <a:srgbClr val="333D4A"/>
                          </a:solidFill>
                          <a:latin typeface="Arial"/>
                        </a:rPr>
                        <a:t>jsonb</a:t>
                      </a:r>
                    </a:p>
                  </a:txBody>
                  <a:tcPr marL="91440" marR="73152" marT="27432" marB="27432" anchor="ctr">
                    <a:solidFill>
                      <a:srgbClr val="F3F4F6"/>
                    </a:solidFill>
                  </a:tcPr>
                </a:tc>
                <a:tc>
                  <a:txBody>
                    <a:bodyPr wrap="square"/>
                    <a:lstStyle/>
                    <a:p>
                      <a:pPr algn="l"/>
                      <a:r>
                        <a:rPr sz="919" b="0">
                          <a:solidFill>
                            <a:srgbClr val="333D4A"/>
                          </a:solidFill>
                          <a:latin typeface="Arial"/>
                        </a:rPr>
                        <a:t>favoriteTagIds, city?</a:t>
                      </a:r>
                    </a:p>
                  </a:txBody>
                  <a:tcPr marL="91440" marR="73152" marT="27432" marB="27432" anchor="ctr">
                    <a:solidFill>
                      <a:srgbClr val="F3F4F6"/>
                    </a:solidFill>
                  </a:tcPr>
                </a:tc>
              </a:tr>
              <a:tr h="320040">
                <a:tc>
                  <a:txBody>
                    <a:bodyPr wrap="square"/>
                    <a:lstStyle/>
                    <a:p>
                      <a:pPr algn="l"/>
                      <a:r>
                        <a:rPr sz="919" b="0">
                          <a:solidFill>
                            <a:srgbClr val="333D4A"/>
                          </a:solidFill>
                          <a:latin typeface="Arial"/>
                        </a:rPr>
                        <a:t>points</a:t>
                      </a:r>
                    </a:p>
                  </a:txBody>
                  <a:tcPr marL="91440" marR="73152" marT="27432" marB="27432" anchor="ctr">
                    <a:solidFill>
                      <a:srgbClr val="FFFFFF"/>
                    </a:solidFill>
                  </a:tcPr>
                </a:tc>
                <a:tc>
                  <a:txBody>
                    <a:bodyPr wrap="square"/>
                    <a:lstStyle/>
                    <a:p>
                      <a:pPr algn="l"/>
                      <a:r>
                        <a:rPr sz="919" b="0">
                          <a:solidFill>
                            <a:srgbClr val="333D4A"/>
                          </a:solidFill>
                          <a:latin typeface="Arial"/>
                        </a:rPr>
                        <a:t>integer</a:t>
                      </a:r>
                    </a:p>
                  </a:txBody>
                  <a:tcPr marL="91440" marR="73152" marT="27432" marB="27432" anchor="ctr">
                    <a:solidFill>
                      <a:srgbClr val="FFFFFF"/>
                    </a:solidFill>
                  </a:tcPr>
                </a:tc>
                <a:tc>
                  <a:txBody>
                    <a:bodyPr wrap="square"/>
                    <a:lstStyle/>
                    <a:p>
                      <a:pPr algn="l"/>
                      <a:r>
                        <a:rPr sz="919" b="0">
                          <a:solidFill>
                            <a:srgbClr val="333D4A"/>
                          </a:solidFill>
                          <a:latin typeface="Arial"/>
                        </a:rPr>
                        <a:t>default 0 — belum di kontrak</a:t>
                      </a:r>
                    </a:p>
                  </a:txBody>
                  <a:tcPr marL="91440" marR="73152" marT="27432" marB="27432" anchor="ctr">
                    <a:solidFill>
                      <a:srgbClr val="FFFFFF"/>
                    </a:solidFill>
                  </a:tcPr>
                </a:tc>
              </a:tr>
              <a:tr h="320040">
                <a:tc>
                  <a:txBody>
                    <a:bodyPr wrap="square"/>
                    <a:lstStyle/>
                    <a:p>
                      <a:pPr algn="l"/>
                      <a:r>
                        <a:rPr sz="919" b="0">
                          <a:solidFill>
                            <a:srgbClr val="333D4A"/>
                          </a:solidFill>
                          <a:latin typeface="Arial"/>
                        </a:rPr>
                        <a:t>joined_at</a:t>
                      </a:r>
                    </a:p>
                  </a:txBody>
                  <a:tcPr marL="91440" marR="73152" marT="27432" marB="27432" anchor="ctr">
                    <a:solidFill>
                      <a:srgbClr val="F3F4F6"/>
                    </a:solidFill>
                  </a:tcPr>
                </a:tc>
                <a:tc>
                  <a:txBody>
                    <a:bodyPr wrap="square"/>
                    <a:lstStyle/>
                    <a:p>
                      <a:pPr algn="l"/>
                      <a:r>
                        <a:rPr sz="919" b="0">
                          <a:solidFill>
                            <a:srgbClr val="333D4A"/>
                          </a:solidFill>
                          <a:latin typeface="Arial"/>
                        </a:rPr>
                        <a:t>timestamptz</a:t>
                      </a:r>
                    </a:p>
                  </a:txBody>
                  <a:tcPr marL="91440" marR="73152" marT="27432" marB="27432" anchor="ctr">
                    <a:solidFill>
                      <a:srgbClr val="F3F4F6"/>
                    </a:solidFill>
                  </a:tcPr>
                </a:tc>
                <a:tc>
                  <a:txBody>
                    <a:bodyPr wrap="square"/>
                    <a:lstStyle/>
                    <a:p>
                      <a:pPr algn="l"/>
                      <a:r>
                        <a:rPr sz="919" b="0">
                          <a:solidFill>
                            <a:srgbClr val="333D4A"/>
                          </a:solidFill>
                          <a:latin typeface="Arial"/>
                        </a:rPr>
                        <a:t>default now()</a:t>
                      </a:r>
                    </a:p>
                  </a:txBody>
                  <a:tcPr marL="91440" marR="73152" marT="27432" marB="27432" anchor="ctr">
                    <a:solidFill>
                      <a:srgbClr val="F3F4F6"/>
                    </a:solidFill>
                  </a:tcPr>
                </a:tc>
              </a:tr>
              <a:tr h="320040">
                <a:tc>
                  <a:txBody>
                    <a:bodyPr wrap="square"/>
                    <a:lstStyle/>
                    <a:p>
                      <a:pPr algn="l"/>
                      <a:r>
                        <a:rPr sz="919" b="0">
                          <a:solidFill>
                            <a:srgbClr val="333D4A"/>
                          </a:solidFill>
                          <a:latin typeface="Arial"/>
                        </a:rPr>
                        <a:t>updated_at</a:t>
                      </a:r>
                    </a:p>
                  </a:txBody>
                  <a:tcPr marL="91440" marR="73152" marT="27432" marB="27432" anchor="ctr">
                    <a:solidFill>
                      <a:srgbClr val="FFFFFF"/>
                    </a:solidFill>
                  </a:tcPr>
                </a:tc>
                <a:tc>
                  <a:txBody>
                    <a:bodyPr wrap="square"/>
                    <a:lstStyle/>
                    <a:p>
                      <a:pPr algn="l"/>
                      <a:r>
                        <a:rPr sz="919" b="0">
                          <a:solidFill>
                            <a:srgbClr val="333D4A"/>
                          </a:solidFill>
                          <a:latin typeface="Arial"/>
                        </a:rPr>
                        <a:t>timestamptz</a:t>
                      </a:r>
                    </a:p>
                  </a:txBody>
                  <a:tcPr marL="91440" marR="73152" marT="27432" marB="27432" anchor="ctr">
                    <a:solidFill>
                      <a:srgbClr val="FFFFFF"/>
                    </a:solidFill>
                  </a:tcPr>
                </a:tc>
                <a:tc>
                  <a:txBody>
                    <a:bodyPr wrap="square"/>
                    <a:lstStyle/>
                    <a:p>
                      <a:pPr algn="l"/>
                      <a:r>
                        <a:rPr sz="919" b="0">
                          <a:solidFill>
                            <a:srgbClr val="333D4A"/>
                          </a:solidFill>
                          <a:latin typeface="Arial"/>
                        </a:rPr>
                        <a:t>nullable</a:t>
                      </a:r>
                    </a:p>
                  </a:txBody>
                  <a:tcPr marL="91440" marR="73152" marT="27432" marB="27432" anchor="ctr">
                    <a:solidFill>
                      <a:srgbClr val="FFFFFF"/>
                    </a:solidFill>
                  </a:tcPr>
                </a:tc>
              </a:tr>
            </a:tbl>
          </a:graphicData>
        </a:graphic>
      </p:graphicFrame>
      <p:sp>
        <p:nvSpPr>
          <p:cNvPr id="7" name="Rounded Rectangle 6"/>
          <p:cNvSpPr/>
          <p:nvPr/>
        </p:nvSpPr>
        <p:spPr>
          <a:xfrm>
            <a:off x="7452360" y="1737360"/>
            <a:ext cx="4096512" cy="2286000"/>
          </a:xfrm>
          <a:prstGeom prst="roundRect">
            <a:avLst>
              <a:gd name="adj" fmla="val 8000"/>
            </a:avLst>
          </a:prstGeom>
          <a:solidFill>
            <a:srgbClr val="FFFFFF"/>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TextBox 7"/>
          <p:cNvSpPr txBox="1"/>
          <p:nvPr/>
        </p:nvSpPr>
        <p:spPr>
          <a:xfrm>
            <a:off x="7662672" y="1901952"/>
            <a:ext cx="3657600" cy="237744"/>
          </a:xfrm>
          <a:prstGeom prst="rect">
            <a:avLst/>
          </a:prstGeom>
          <a:noFill/>
        </p:spPr>
        <p:txBody>
          <a:bodyPr wrap="square" lIns="0" rIns="0" tIns="0" bIns="0" anchor="t">
            <a:spAutoFit/>
          </a:bodyPr>
          <a:lstStyle/>
          <a:p>
            <a:pPr algn="l">
              <a:lnSpc>
                <a:spcPct val="112000"/>
              </a:lnSpc>
              <a:spcAft>
                <a:spcPts val="0"/>
              </a:spcAft>
            </a:pPr>
            <a:r>
              <a:rPr sz="950" b="1" i="0" spc="120">
                <a:solidFill>
                  <a:srgbClr val="FF5A5F"/>
                </a:solidFill>
                <a:latin typeface="Arial"/>
              </a:rPr>
              <a:t>ENAM TITIK SINGGUNG</a:t>
            </a:r>
          </a:p>
        </p:txBody>
      </p:sp>
      <p:sp>
        <p:nvSpPr>
          <p:cNvPr id="9" name="Oval 8"/>
          <p:cNvSpPr/>
          <p:nvPr/>
        </p:nvSpPr>
        <p:spPr>
          <a:xfrm>
            <a:off x="7680960" y="2322576"/>
            <a:ext cx="64008" cy="64008"/>
          </a:xfrm>
          <a:prstGeom prst="ellipse">
            <a:avLst/>
          </a:prstGeom>
          <a:solidFill>
            <a:srgbClr val="FF5A5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TextBox 9"/>
          <p:cNvSpPr txBox="1"/>
          <p:nvPr/>
        </p:nvSpPr>
        <p:spPr>
          <a:xfrm>
            <a:off x="7882127" y="2240280"/>
            <a:ext cx="3566160" cy="237744"/>
          </a:xfrm>
          <a:prstGeom prst="rect">
            <a:avLst/>
          </a:prstGeom>
          <a:noFill/>
        </p:spPr>
        <p:txBody>
          <a:bodyPr wrap="square" lIns="0" rIns="0" tIns="0" bIns="0" anchor="t">
            <a:spAutoFit/>
          </a:bodyPr>
          <a:lstStyle/>
          <a:p>
            <a:pPr algn="l">
              <a:lnSpc>
                <a:spcPct val="112000"/>
              </a:lnSpc>
              <a:spcAft>
                <a:spcPts val="0"/>
              </a:spcAft>
            </a:pPr>
            <a:r>
              <a:rPr sz="950" b="0" i="0">
                <a:solidFill>
                  <a:srgbClr val="333D4A"/>
                </a:solidFill>
                <a:latin typeface="Consolas"/>
              </a:rPr>
              <a:t>reviews.author_id</a:t>
            </a:r>
          </a:p>
        </p:txBody>
      </p:sp>
      <p:sp>
        <p:nvSpPr>
          <p:cNvPr id="11" name="Oval 10"/>
          <p:cNvSpPr/>
          <p:nvPr/>
        </p:nvSpPr>
        <p:spPr>
          <a:xfrm>
            <a:off x="7680960" y="2596896"/>
            <a:ext cx="64008" cy="64008"/>
          </a:xfrm>
          <a:prstGeom prst="ellipse">
            <a:avLst/>
          </a:prstGeom>
          <a:solidFill>
            <a:srgbClr val="FF5A5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TextBox 11"/>
          <p:cNvSpPr txBox="1"/>
          <p:nvPr/>
        </p:nvSpPr>
        <p:spPr>
          <a:xfrm>
            <a:off x="7882127" y="2514600"/>
            <a:ext cx="3566160" cy="237744"/>
          </a:xfrm>
          <a:prstGeom prst="rect">
            <a:avLst/>
          </a:prstGeom>
          <a:noFill/>
        </p:spPr>
        <p:txBody>
          <a:bodyPr wrap="square" lIns="0" rIns="0" tIns="0" bIns="0" anchor="t">
            <a:spAutoFit/>
          </a:bodyPr>
          <a:lstStyle/>
          <a:p>
            <a:pPr algn="l">
              <a:lnSpc>
                <a:spcPct val="112000"/>
              </a:lnSpc>
              <a:spcAft>
                <a:spcPts val="0"/>
              </a:spcAft>
            </a:pPr>
            <a:r>
              <a:rPr sz="950" b="0" i="0">
                <a:solidFill>
                  <a:srgbClr val="333D4A"/>
                </a:solidFill>
                <a:latin typeface="Consolas"/>
              </a:rPr>
              <a:t>bookmarks.user_id</a:t>
            </a:r>
          </a:p>
        </p:txBody>
      </p:sp>
      <p:sp>
        <p:nvSpPr>
          <p:cNvPr id="13" name="Oval 12"/>
          <p:cNvSpPr/>
          <p:nvPr/>
        </p:nvSpPr>
        <p:spPr>
          <a:xfrm>
            <a:off x="7680960" y="2871215"/>
            <a:ext cx="64008" cy="64008"/>
          </a:xfrm>
          <a:prstGeom prst="ellipse">
            <a:avLst/>
          </a:prstGeom>
          <a:solidFill>
            <a:srgbClr val="FF5A5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TextBox 13"/>
          <p:cNvSpPr txBox="1"/>
          <p:nvPr/>
        </p:nvSpPr>
        <p:spPr>
          <a:xfrm>
            <a:off x="7882127" y="2788920"/>
            <a:ext cx="3566160" cy="237744"/>
          </a:xfrm>
          <a:prstGeom prst="rect">
            <a:avLst/>
          </a:prstGeom>
          <a:noFill/>
        </p:spPr>
        <p:txBody>
          <a:bodyPr wrap="square" lIns="0" rIns="0" tIns="0" bIns="0" anchor="t">
            <a:spAutoFit/>
          </a:bodyPr>
          <a:lstStyle/>
          <a:p>
            <a:pPr algn="l">
              <a:lnSpc>
                <a:spcPct val="112000"/>
              </a:lnSpc>
              <a:spcAft>
                <a:spcPts val="0"/>
              </a:spcAft>
            </a:pPr>
            <a:r>
              <a:rPr sz="950" b="0" i="0">
                <a:solidFill>
                  <a:srgbClr val="333D4A"/>
                </a:solidFill>
                <a:latin typeface="Consolas"/>
              </a:rPr>
              <a:t>event_attendances.user_id</a:t>
            </a:r>
          </a:p>
        </p:txBody>
      </p:sp>
      <p:sp>
        <p:nvSpPr>
          <p:cNvPr id="15" name="Oval 14"/>
          <p:cNvSpPr/>
          <p:nvPr/>
        </p:nvSpPr>
        <p:spPr>
          <a:xfrm>
            <a:off x="7680960" y="3145535"/>
            <a:ext cx="64008" cy="64008"/>
          </a:xfrm>
          <a:prstGeom prst="ellipse">
            <a:avLst/>
          </a:prstGeom>
          <a:solidFill>
            <a:srgbClr val="FF5A5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6" name="TextBox 15"/>
          <p:cNvSpPr txBox="1"/>
          <p:nvPr/>
        </p:nvSpPr>
        <p:spPr>
          <a:xfrm>
            <a:off x="7882127" y="3063239"/>
            <a:ext cx="3566160" cy="237744"/>
          </a:xfrm>
          <a:prstGeom prst="rect">
            <a:avLst/>
          </a:prstGeom>
          <a:noFill/>
        </p:spPr>
        <p:txBody>
          <a:bodyPr wrap="square" lIns="0" rIns="0" tIns="0" bIns="0" anchor="t">
            <a:spAutoFit/>
          </a:bodyPr>
          <a:lstStyle/>
          <a:p>
            <a:pPr algn="l">
              <a:lnSpc>
                <a:spcPct val="112000"/>
              </a:lnSpc>
              <a:spcAft>
                <a:spcPts val="0"/>
              </a:spcAft>
            </a:pPr>
            <a:r>
              <a:rPr sz="950" b="0" i="0">
                <a:solidFill>
                  <a:srgbClr val="333D4A"/>
                </a:solidFill>
                <a:latin typeface="Consolas"/>
              </a:rPr>
              <a:t>spot_visits.user_id</a:t>
            </a:r>
          </a:p>
        </p:txBody>
      </p:sp>
      <p:sp>
        <p:nvSpPr>
          <p:cNvPr id="17" name="Oval 16"/>
          <p:cNvSpPr/>
          <p:nvPr/>
        </p:nvSpPr>
        <p:spPr>
          <a:xfrm>
            <a:off x="7680960" y="3419855"/>
            <a:ext cx="64008" cy="64008"/>
          </a:xfrm>
          <a:prstGeom prst="ellipse">
            <a:avLst/>
          </a:prstGeom>
          <a:solidFill>
            <a:srgbClr val="FF5A5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TextBox 17"/>
          <p:cNvSpPr txBox="1"/>
          <p:nvPr/>
        </p:nvSpPr>
        <p:spPr>
          <a:xfrm>
            <a:off x="7882127" y="3337559"/>
            <a:ext cx="3566160" cy="237744"/>
          </a:xfrm>
          <a:prstGeom prst="rect">
            <a:avLst/>
          </a:prstGeom>
          <a:noFill/>
        </p:spPr>
        <p:txBody>
          <a:bodyPr wrap="square" lIns="0" rIns="0" tIns="0" bIns="0" anchor="t">
            <a:spAutoFit/>
          </a:bodyPr>
          <a:lstStyle/>
          <a:p>
            <a:pPr algn="l">
              <a:lnSpc>
                <a:spcPct val="112000"/>
              </a:lnSpc>
              <a:spcAft>
                <a:spcPts val="0"/>
              </a:spcAft>
            </a:pPr>
            <a:r>
              <a:rPr sz="950" b="0" i="0">
                <a:solidFill>
                  <a:srgbClr val="333D4A"/>
                </a:solidFill>
                <a:latin typeface="Consolas"/>
              </a:rPr>
              <a:t>community_memberships.user_id</a:t>
            </a:r>
          </a:p>
        </p:txBody>
      </p:sp>
      <p:sp>
        <p:nvSpPr>
          <p:cNvPr id="19" name="Oval 18"/>
          <p:cNvSpPr/>
          <p:nvPr/>
        </p:nvSpPr>
        <p:spPr>
          <a:xfrm>
            <a:off x="7680960" y="3694175"/>
            <a:ext cx="64008" cy="64008"/>
          </a:xfrm>
          <a:prstGeom prst="ellipse">
            <a:avLst/>
          </a:prstGeom>
          <a:solidFill>
            <a:srgbClr val="FF5A5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TextBox 19"/>
          <p:cNvSpPr txBox="1"/>
          <p:nvPr/>
        </p:nvSpPr>
        <p:spPr>
          <a:xfrm>
            <a:off x="7882127" y="3611879"/>
            <a:ext cx="3566160" cy="237744"/>
          </a:xfrm>
          <a:prstGeom prst="rect">
            <a:avLst/>
          </a:prstGeom>
          <a:noFill/>
        </p:spPr>
        <p:txBody>
          <a:bodyPr wrap="square" lIns="0" rIns="0" tIns="0" bIns="0" anchor="t">
            <a:spAutoFit/>
          </a:bodyPr>
          <a:lstStyle/>
          <a:p>
            <a:pPr algn="l">
              <a:lnSpc>
                <a:spcPct val="112000"/>
              </a:lnSpc>
              <a:spcAft>
                <a:spcPts val="0"/>
              </a:spcAft>
            </a:pPr>
            <a:r>
              <a:rPr sz="950" b="0" i="0">
                <a:solidFill>
                  <a:srgbClr val="333D4A"/>
                </a:solidFill>
                <a:latin typeface="Consolas"/>
              </a:rPr>
              <a:t>notifications.user_id</a:t>
            </a:r>
          </a:p>
        </p:txBody>
      </p:sp>
      <p:sp>
        <p:nvSpPr>
          <p:cNvPr id="21" name="Rounded Rectangle 20"/>
          <p:cNvSpPr/>
          <p:nvPr/>
        </p:nvSpPr>
        <p:spPr>
          <a:xfrm>
            <a:off x="7452360" y="4224528"/>
            <a:ext cx="4096512" cy="1481328"/>
          </a:xfrm>
          <a:prstGeom prst="roundRect">
            <a:avLst>
              <a:gd name="adj" fmla="val 8000"/>
            </a:avLst>
          </a:prstGeom>
          <a:solidFill>
            <a:srgbClr val="FFECE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2" name="Rounded Rectangle 21"/>
          <p:cNvSpPr/>
          <p:nvPr/>
        </p:nvSpPr>
        <p:spPr>
          <a:xfrm>
            <a:off x="7452360" y="4224528"/>
            <a:ext cx="50292" cy="1481328"/>
          </a:xfrm>
          <a:prstGeom prst="roundRect">
            <a:avLst>
              <a:gd name="adj" fmla="val 0"/>
            </a:avLst>
          </a:prstGeom>
          <a:solidFill>
            <a:srgbClr val="FF5A5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TextBox 22"/>
          <p:cNvSpPr txBox="1"/>
          <p:nvPr/>
        </p:nvSpPr>
        <p:spPr>
          <a:xfrm>
            <a:off x="7671816" y="4361688"/>
            <a:ext cx="3730752" cy="237744"/>
          </a:xfrm>
          <a:prstGeom prst="rect">
            <a:avLst/>
          </a:prstGeom>
          <a:noFill/>
        </p:spPr>
        <p:txBody>
          <a:bodyPr wrap="square" lIns="0" rIns="0" tIns="0" bIns="0" anchor="t">
            <a:spAutoFit/>
          </a:bodyPr>
          <a:lstStyle/>
          <a:p>
            <a:pPr algn="l">
              <a:lnSpc>
                <a:spcPct val="112000"/>
              </a:lnSpc>
              <a:spcAft>
                <a:spcPts val="0"/>
              </a:spcAft>
            </a:pPr>
            <a:r>
              <a:rPr sz="1100" b="1" i="0">
                <a:solidFill>
                  <a:srgbClr val="1F2937"/>
                </a:solidFill>
                <a:latin typeface="Arial"/>
              </a:rPr>
              <a:t>Gap yang harus ditutup</a:t>
            </a:r>
          </a:p>
        </p:txBody>
      </p:sp>
      <p:sp>
        <p:nvSpPr>
          <p:cNvPr id="24" name="TextBox 23"/>
          <p:cNvSpPr txBox="1"/>
          <p:nvPr/>
        </p:nvSpPr>
        <p:spPr>
          <a:xfrm>
            <a:off x="7671816" y="4636008"/>
            <a:ext cx="3712464" cy="978408"/>
          </a:xfrm>
          <a:prstGeom prst="rect">
            <a:avLst/>
          </a:prstGeom>
          <a:noFill/>
        </p:spPr>
        <p:txBody>
          <a:bodyPr wrap="square" lIns="0" rIns="0" tIns="0" bIns="0" anchor="t">
            <a:spAutoFit/>
          </a:bodyPr>
          <a:lstStyle/>
          <a:p>
            <a:pPr algn="l">
              <a:lnSpc>
                <a:spcPct val="125000"/>
              </a:lnSpc>
              <a:spcAft>
                <a:spcPts val="0"/>
              </a:spcAft>
            </a:pPr>
            <a:r>
              <a:rPr sz="1050" b="0" i="0">
                <a:solidFill>
                  <a:srgbClr val="333D4A"/>
                </a:solidFill>
                <a:latin typeface="Arial"/>
              </a:rPr>
              <a:t>Kolom points ada di database, tapi belum muncul di src/types/user.ts, userSchema Zod, maupun CustomerContract. Seed mengisinya di level DB; API akan memotongnya sampai kontrak diperbarui.</a:t>
            </a:r>
          </a:p>
        </p:txBody>
      </p:sp>
      <p:sp>
        <p:nvSpPr>
          <p:cNvPr id="25" name="TextBox 24"/>
          <p:cNvSpPr txBox="1"/>
          <p:nvPr/>
        </p:nvSpPr>
        <p:spPr>
          <a:xfrm>
            <a:off x="640080" y="5833872"/>
            <a:ext cx="10881360" cy="274320"/>
          </a:xfrm>
          <a:prstGeom prst="rect">
            <a:avLst/>
          </a:prstGeom>
          <a:noFill/>
        </p:spPr>
        <p:txBody>
          <a:bodyPr wrap="square" lIns="0" rIns="0" tIns="0" bIns="0" anchor="t">
            <a:spAutoFit/>
          </a:bodyPr>
          <a:lstStyle/>
          <a:p>
            <a:pPr algn="l">
              <a:lnSpc>
                <a:spcPct val="112000"/>
              </a:lnSpc>
              <a:spcAft>
                <a:spcPts val="0"/>
              </a:spcAft>
            </a:pPr>
            <a:r>
              <a:rPr sz="900" b="0" i="0">
                <a:solidFill>
                  <a:srgbClr val="6B7280"/>
                </a:solidFill>
                <a:latin typeface="Arial"/>
              </a:rPr>
              <a:t>Saat ini aplikasi hanya memakai satu user: u-demo. /api/users/me dan seluruh store mengasumsikan id tersebut.</a:t>
            </a:r>
          </a:p>
        </p:txBody>
      </p:sp>
      <p:sp>
        <p:nvSpPr>
          <p:cNvPr id="26" name="Rounded Rectangle 25"/>
          <p:cNvSpPr/>
          <p:nvPr/>
        </p:nvSpPr>
        <p:spPr>
          <a:xfrm>
            <a:off x="640080" y="6419088"/>
            <a:ext cx="10908792" cy="7315"/>
          </a:xfrm>
          <a:prstGeom prst="roundRect">
            <a:avLst>
              <a:gd name="adj" fmla="val 0"/>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7" name="Rounded Rectangle 26"/>
          <p:cNvSpPr/>
          <p:nvPr/>
        </p:nvSpPr>
        <p:spPr>
          <a:xfrm>
            <a:off x="640080" y="6537960"/>
            <a:ext cx="224942" cy="224942"/>
          </a:xfrm>
          <a:prstGeom prst="roundRect">
            <a:avLst>
              <a:gd name="adj" fmla="val 22000"/>
            </a:avLst>
          </a:prstGeom>
          <a:solidFill>
            <a:srgbClr val="FF5A5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8" name="TextBox 27"/>
          <p:cNvSpPr txBox="1"/>
          <p:nvPr/>
        </p:nvSpPr>
        <p:spPr>
          <a:xfrm>
            <a:off x="640080" y="6526987"/>
            <a:ext cx="224942" cy="224942"/>
          </a:xfrm>
          <a:prstGeom prst="rect">
            <a:avLst/>
          </a:prstGeom>
          <a:noFill/>
        </p:spPr>
        <p:txBody>
          <a:bodyPr wrap="square" lIns="0" rIns="0" tIns="0" bIns="0" anchor="ctr">
            <a:spAutoFit/>
          </a:bodyPr>
          <a:lstStyle/>
          <a:p>
            <a:pPr algn="ctr">
              <a:lnSpc>
                <a:spcPct val="112000"/>
              </a:lnSpc>
              <a:spcAft>
                <a:spcPts val="0"/>
              </a:spcAft>
            </a:pPr>
            <a:r>
              <a:rPr sz="1066" b="1" i="0">
                <a:solidFill>
                  <a:srgbClr val="FFFFFF"/>
                </a:solidFill>
                <a:latin typeface="Arial"/>
              </a:rPr>
              <a:t>n</a:t>
            </a:r>
          </a:p>
        </p:txBody>
      </p:sp>
      <p:sp>
        <p:nvSpPr>
          <p:cNvPr id="29" name="TextBox 28"/>
          <p:cNvSpPr txBox="1"/>
          <p:nvPr/>
        </p:nvSpPr>
        <p:spPr>
          <a:xfrm>
            <a:off x="932505" y="6510528"/>
            <a:ext cx="899769" cy="224942"/>
          </a:xfrm>
          <a:prstGeom prst="rect">
            <a:avLst/>
          </a:prstGeom>
          <a:noFill/>
        </p:spPr>
        <p:txBody>
          <a:bodyPr wrap="square" lIns="0" rIns="0" tIns="0" bIns="0" anchor="t">
            <a:spAutoFit/>
          </a:bodyPr>
          <a:lstStyle/>
          <a:p>
            <a:pPr algn="l">
              <a:lnSpc>
                <a:spcPct val="112000"/>
              </a:lnSpc>
              <a:spcAft>
                <a:spcPts val="0"/>
              </a:spcAft>
            </a:pPr>
            <a:r>
              <a:rPr sz="1066" b="1" i="0">
                <a:solidFill>
                  <a:srgbClr val="1F2937"/>
                </a:solidFill>
                <a:latin typeface="Arial"/>
              </a:rPr>
              <a:t>NgeTag</a:t>
            </a:r>
          </a:p>
        </p:txBody>
      </p:sp>
      <p:sp>
        <p:nvSpPr>
          <p:cNvPr id="30" name="TextBox 29"/>
          <p:cNvSpPr txBox="1"/>
          <p:nvPr/>
        </p:nvSpPr>
        <p:spPr>
          <a:xfrm>
            <a:off x="1600200" y="6556248"/>
            <a:ext cx="5486400" cy="201168"/>
          </a:xfrm>
          <a:prstGeom prst="rect">
            <a:avLst/>
          </a:prstGeom>
          <a:noFill/>
        </p:spPr>
        <p:txBody>
          <a:bodyPr wrap="square" lIns="0" rIns="0" tIns="0" bIns="0" anchor="t">
            <a:spAutoFit/>
          </a:bodyPr>
          <a:lstStyle/>
          <a:p>
            <a:pPr algn="l">
              <a:lnSpc>
                <a:spcPct val="112000"/>
              </a:lnSpc>
              <a:spcAft>
                <a:spcPts val="0"/>
              </a:spcAft>
            </a:pPr>
            <a:r>
              <a:rPr sz="850" b="0" i="0">
                <a:solidFill>
                  <a:srgbClr val="6B7280"/>
                </a:solidFill>
                <a:latin typeface="Arial"/>
              </a:rPr>
              <a:t>NgeTag · Review Repository &amp; Seed Data User</a:t>
            </a:r>
          </a:p>
        </p:txBody>
      </p:sp>
      <p:sp>
        <p:nvSpPr>
          <p:cNvPr id="31" name="TextBox 30"/>
          <p:cNvSpPr txBox="1"/>
          <p:nvPr/>
        </p:nvSpPr>
        <p:spPr>
          <a:xfrm>
            <a:off x="10607040" y="6556248"/>
            <a:ext cx="941832" cy="201168"/>
          </a:xfrm>
          <a:prstGeom prst="rect">
            <a:avLst/>
          </a:prstGeom>
          <a:noFill/>
        </p:spPr>
        <p:txBody>
          <a:bodyPr wrap="square" lIns="0" rIns="0" tIns="0" bIns="0" anchor="t">
            <a:spAutoFit/>
          </a:bodyPr>
          <a:lstStyle/>
          <a:p>
            <a:pPr algn="r">
              <a:lnSpc>
                <a:spcPct val="112000"/>
              </a:lnSpc>
              <a:spcAft>
                <a:spcPts val="0"/>
              </a:spcAft>
            </a:pPr>
            <a:r>
              <a:rPr sz="850" b="0" i="0">
                <a:solidFill>
                  <a:srgbClr val="6B7280"/>
                </a:solidFill>
                <a:latin typeface="Arial"/>
              </a:rPr>
              <a:t>14 / 22</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15161B"/>
        </a:solidFill>
        <a:effectLst/>
      </p:bgPr>
    </p:bg>
    <p:spTree>
      <p:nvGrpSpPr>
        <p:cNvPr id="1" name=""/>
        <p:cNvGrpSpPr/>
        <p:nvPr/>
      </p:nvGrpSpPr>
      <p:grpSpPr/>
      <p:sp>
        <p:nvSpPr>
          <p:cNvPr id="2" name="Oval 1"/>
          <p:cNvSpPr/>
          <p:nvPr/>
        </p:nvSpPr>
        <p:spPr>
          <a:xfrm>
            <a:off x="9052560" y="-1371600"/>
            <a:ext cx="4754880" cy="4754880"/>
          </a:xfrm>
          <a:prstGeom prst="ellipse">
            <a:avLst/>
          </a:prstGeom>
          <a:noFill/>
          <a:ln w="15240">
            <a:solidFill>
              <a:srgbClr val="2E3038"/>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 name="Oval 2"/>
          <p:cNvSpPr/>
          <p:nvPr/>
        </p:nvSpPr>
        <p:spPr>
          <a:xfrm>
            <a:off x="10424160" y="3566160"/>
            <a:ext cx="3291840" cy="3291840"/>
          </a:xfrm>
          <a:prstGeom prst="ellipse">
            <a:avLst/>
          </a:prstGeom>
          <a:solidFill>
            <a:srgbClr val="2324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Rounded Rectangle 3"/>
          <p:cNvSpPr/>
          <p:nvPr/>
        </p:nvSpPr>
        <p:spPr>
          <a:xfrm>
            <a:off x="640080" y="1417320"/>
            <a:ext cx="54864" cy="1874519"/>
          </a:xfrm>
          <a:prstGeom prst="roundRect">
            <a:avLst>
              <a:gd name="adj" fmla="val 0"/>
            </a:avLst>
          </a:prstGeom>
          <a:solidFill>
            <a:srgbClr val="FF5A5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TextBox 4"/>
          <p:cNvSpPr txBox="1"/>
          <p:nvPr/>
        </p:nvSpPr>
        <p:spPr>
          <a:xfrm>
            <a:off x="960120" y="1097280"/>
            <a:ext cx="3657600" cy="274320"/>
          </a:xfrm>
          <a:prstGeom prst="rect">
            <a:avLst/>
          </a:prstGeom>
          <a:noFill/>
        </p:spPr>
        <p:txBody>
          <a:bodyPr wrap="square" lIns="0" rIns="0" tIns="0" bIns="0" anchor="t">
            <a:spAutoFit/>
          </a:bodyPr>
          <a:lstStyle/>
          <a:p>
            <a:pPr algn="l">
              <a:lnSpc>
                <a:spcPct val="112000"/>
              </a:lnSpc>
              <a:spcAft>
                <a:spcPts val="0"/>
              </a:spcAft>
            </a:pPr>
            <a:r>
              <a:rPr sz="1000" b="1" i="0" spc="180">
                <a:solidFill>
                  <a:srgbClr val="FF5A5F"/>
                </a:solidFill>
                <a:latin typeface="Arial"/>
              </a:rPr>
              <a:t>MUTU &amp; TEMUAN</a:t>
            </a:r>
          </a:p>
        </p:txBody>
      </p:sp>
      <p:sp>
        <p:nvSpPr>
          <p:cNvPr id="6" name="TextBox 5"/>
          <p:cNvSpPr txBox="1"/>
          <p:nvPr/>
        </p:nvSpPr>
        <p:spPr>
          <a:xfrm>
            <a:off x="960120" y="1417320"/>
            <a:ext cx="2011680" cy="1005840"/>
          </a:xfrm>
          <a:prstGeom prst="rect">
            <a:avLst/>
          </a:prstGeom>
          <a:noFill/>
        </p:spPr>
        <p:txBody>
          <a:bodyPr wrap="square" lIns="0" rIns="0" tIns="0" bIns="0" anchor="t">
            <a:spAutoFit/>
          </a:bodyPr>
          <a:lstStyle/>
          <a:p>
            <a:pPr algn="l">
              <a:lnSpc>
                <a:spcPct val="112000"/>
              </a:lnSpc>
              <a:spcAft>
                <a:spcPts val="0"/>
              </a:spcAft>
            </a:pPr>
            <a:r>
              <a:rPr sz="7200" b="1" i="0">
                <a:solidFill>
                  <a:srgbClr val="FF5A5F"/>
                </a:solidFill>
                <a:latin typeface="Arial"/>
              </a:rPr>
              <a:t>03</a:t>
            </a:r>
          </a:p>
        </p:txBody>
      </p:sp>
      <p:sp>
        <p:nvSpPr>
          <p:cNvPr id="7" name="TextBox 6"/>
          <p:cNvSpPr txBox="1"/>
          <p:nvPr/>
        </p:nvSpPr>
        <p:spPr>
          <a:xfrm>
            <a:off x="960120" y="2505456"/>
            <a:ext cx="9509760" cy="868680"/>
          </a:xfrm>
          <a:prstGeom prst="rect">
            <a:avLst/>
          </a:prstGeom>
          <a:noFill/>
        </p:spPr>
        <p:txBody>
          <a:bodyPr wrap="square" lIns="0" rIns="0" tIns="0" bIns="0" anchor="t">
            <a:spAutoFit/>
          </a:bodyPr>
          <a:lstStyle/>
          <a:p>
            <a:pPr algn="l">
              <a:lnSpc>
                <a:spcPct val="112000"/>
              </a:lnSpc>
              <a:spcAft>
                <a:spcPts val="0"/>
              </a:spcAft>
            </a:pPr>
            <a:r>
              <a:rPr sz="3100" b="1" i="0">
                <a:solidFill>
                  <a:srgbClr val="FFFFFF"/>
                </a:solidFill>
                <a:latin typeface="Arial"/>
              </a:rPr>
              <a:t>Yang kuat dan yang masih merah</a:t>
            </a:r>
          </a:p>
        </p:txBody>
      </p:sp>
      <p:sp>
        <p:nvSpPr>
          <p:cNvPr id="8" name="TextBox 7"/>
          <p:cNvSpPr txBox="1"/>
          <p:nvPr/>
        </p:nvSpPr>
        <p:spPr>
          <a:xfrm>
            <a:off x="960120" y="3529584"/>
            <a:ext cx="7132320" cy="640080"/>
          </a:xfrm>
          <a:prstGeom prst="rect">
            <a:avLst/>
          </a:prstGeom>
          <a:noFill/>
        </p:spPr>
        <p:txBody>
          <a:bodyPr wrap="square" lIns="0" rIns="0" tIns="0" bIns="0" anchor="t">
            <a:spAutoFit/>
          </a:bodyPr>
          <a:lstStyle/>
          <a:p>
            <a:pPr algn="l">
              <a:lnSpc>
                <a:spcPct val="130000"/>
              </a:lnSpc>
              <a:spcAft>
                <a:spcPts val="0"/>
              </a:spcAft>
            </a:pPr>
            <a:r>
              <a:rPr sz="1300" b="0" i="0">
                <a:solidFill>
                  <a:srgbClr val="B4BAC4"/>
                </a:solidFill>
                <a:latin typeface="Arial"/>
              </a:rPr>
              <a:t>Hasil audit langsung: type check, lint, build, dan konsistensi data.</a:t>
            </a:r>
          </a:p>
        </p:txBody>
      </p:sp>
      <p:sp>
        <p:nvSpPr>
          <p:cNvPr id="9" name="Oval 8"/>
          <p:cNvSpPr/>
          <p:nvPr/>
        </p:nvSpPr>
        <p:spPr>
          <a:xfrm>
            <a:off x="978408" y="4654296"/>
            <a:ext cx="73152" cy="73152"/>
          </a:xfrm>
          <a:prstGeom prst="ellipse">
            <a:avLst/>
          </a:prstGeom>
          <a:solidFill>
            <a:srgbClr val="FF5A5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TextBox 9"/>
          <p:cNvSpPr txBox="1"/>
          <p:nvPr/>
        </p:nvSpPr>
        <p:spPr>
          <a:xfrm>
            <a:off x="1207008" y="4572000"/>
            <a:ext cx="7680960" cy="292608"/>
          </a:xfrm>
          <a:prstGeom prst="rect">
            <a:avLst/>
          </a:prstGeom>
          <a:noFill/>
        </p:spPr>
        <p:txBody>
          <a:bodyPr wrap="square" lIns="0" rIns="0" tIns="0" bIns="0" anchor="t">
            <a:spAutoFit/>
          </a:bodyPr>
          <a:lstStyle/>
          <a:p>
            <a:pPr algn="l">
              <a:lnSpc>
                <a:spcPct val="112000"/>
              </a:lnSpc>
              <a:spcAft>
                <a:spcPts val="0"/>
              </a:spcAft>
            </a:pPr>
            <a:r>
              <a:rPr sz="1200" b="0" i="0">
                <a:solidFill>
                  <a:srgbClr val="DADEE5"/>
                </a:solidFill>
                <a:latin typeface="Arial"/>
              </a:rPr>
              <a:t>TypeScript strict dan boundary modul yang jelas</a:t>
            </a:r>
          </a:p>
        </p:txBody>
      </p:sp>
      <p:sp>
        <p:nvSpPr>
          <p:cNvPr id="11" name="Oval 10"/>
          <p:cNvSpPr/>
          <p:nvPr/>
        </p:nvSpPr>
        <p:spPr>
          <a:xfrm>
            <a:off x="978408" y="5020056"/>
            <a:ext cx="73152" cy="73152"/>
          </a:xfrm>
          <a:prstGeom prst="ellipse">
            <a:avLst/>
          </a:prstGeom>
          <a:solidFill>
            <a:srgbClr val="FF5A5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TextBox 11"/>
          <p:cNvSpPr txBox="1"/>
          <p:nvPr/>
        </p:nvSpPr>
        <p:spPr>
          <a:xfrm>
            <a:off x="1207008" y="4937760"/>
            <a:ext cx="7680960" cy="292608"/>
          </a:xfrm>
          <a:prstGeom prst="rect">
            <a:avLst/>
          </a:prstGeom>
          <a:noFill/>
        </p:spPr>
        <p:txBody>
          <a:bodyPr wrap="square" lIns="0" rIns="0" tIns="0" bIns="0" anchor="t">
            <a:spAutoFit/>
          </a:bodyPr>
          <a:lstStyle/>
          <a:p>
            <a:pPr algn="l">
              <a:lnSpc>
                <a:spcPct val="112000"/>
              </a:lnSpc>
              <a:spcAft>
                <a:spcPts val="0"/>
              </a:spcAft>
            </a:pPr>
            <a:r>
              <a:rPr sz="1200" b="0" i="0">
                <a:solidFill>
                  <a:srgbClr val="DADEE5"/>
                </a:solidFill>
                <a:latin typeface="Arial"/>
              </a:rPr>
              <a:t>100 error lint — 98 di antaranya dari satu file generated</a:t>
            </a:r>
          </a:p>
        </p:txBody>
      </p:sp>
      <p:sp>
        <p:nvSpPr>
          <p:cNvPr id="13" name="Oval 12"/>
          <p:cNvSpPr/>
          <p:nvPr/>
        </p:nvSpPr>
        <p:spPr>
          <a:xfrm>
            <a:off x="978408" y="5385816"/>
            <a:ext cx="73152" cy="73152"/>
          </a:xfrm>
          <a:prstGeom prst="ellipse">
            <a:avLst/>
          </a:prstGeom>
          <a:solidFill>
            <a:srgbClr val="FF5A5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TextBox 13"/>
          <p:cNvSpPr txBox="1"/>
          <p:nvPr/>
        </p:nvSpPr>
        <p:spPr>
          <a:xfrm>
            <a:off x="1207008" y="5303520"/>
            <a:ext cx="7680960" cy="292608"/>
          </a:xfrm>
          <a:prstGeom prst="rect">
            <a:avLst/>
          </a:prstGeom>
          <a:noFill/>
        </p:spPr>
        <p:txBody>
          <a:bodyPr wrap="square" lIns="0" rIns="0" tIns="0" bIns="0" anchor="t">
            <a:spAutoFit/>
          </a:bodyPr>
          <a:lstStyle/>
          <a:p>
            <a:pPr algn="l">
              <a:lnSpc>
                <a:spcPct val="112000"/>
              </a:lnSpc>
              <a:spcAft>
                <a:spcPts val="0"/>
              </a:spcAft>
            </a:pPr>
            <a:r>
              <a:rPr sz="1200" b="0" i="0">
                <a:solidFill>
                  <a:srgbClr val="DADEE5"/>
                </a:solidFill>
                <a:latin typeface="Arial"/>
              </a:rPr>
              <a:t>Satu file memblokir type check sekaligus menyumbang hampir semua lint error</a:t>
            </a:r>
          </a:p>
        </p:txBody>
      </p:sp>
      <p:sp>
        <p:nvSpPr>
          <p:cNvPr id="15" name="Rounded Rectangle 14"/>
          <p:cNvSpPr/>
          <p:nvPr/>
        </p:nvSpPr>
        <p:spPr>
          <a:xfrm>
            <a:off x="640080" y="6400800"/>
            <a:ext cx="224942" cy="224942"/>
          </a:xfrm>
          <a:prstGeom prst="roundRect">
            <a:avLst>
              <a:gd name="adj" fmla="val 22000"/>
            </a:avLst>
          </a:prstGeom>
          <a:solidFill>
            <a:srgbClr val="FF5A5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6" name="TextBox 15"/>
          <p:cNvSpPr txBox="1"/>
          <p:nvPr/>
        </p:nvSpPr>
        <p:spPr>
          <a:xfrm>
            <a:off x="640080" y="6389827"/>
            <a:ext cx="224942" cy="224942"/>
          </a:xfrm>
          <a:prstGeom prst="rect">
            <a:avLst/>
          </a:prstGeom>
          <a:noFill/>
        </p:spPr>
        <p:txBody>
          <a:bodyPr wrap="square" lIns="0" rIns="0" tIns="0" bIns="0" anchor="ctr">
            <a:spAutoFit/>
          </a:bodyPr>
          <a:lstStyle/>
          <a:p>
            <a:pPr algn="ctr">
              <a:lnSpc>
                <a:spcPct val="112000"/>
              </a:lnSpc>
              <a:spcAft>
                <a:spcPts val="0"/>
              </a:spcAft>
            </a:pPr>
            <a:r>
              <a:rPr sz="1066" b="1" i="0">
                <a:solidFill>
                  <a:srgbClr val="FFFFFF"/>
                </a:solidFill>
                <a:latin typeface="Arial"/>
              </a:rPr>
              <a:t>n</a:t>
            </a:r>
          </a:p>
        </p:txBody>
      </p:sp>
      <p:sp>
        <p:nvSpPr>
          <p:cNvPr id="17" name="TextBox 16"/>
          <p:cNvSpPr txBox="1"/>
          <p:nvPr/>
        </p:nvSpPr>
        <p:spPr>
          <a:xfrm>
            <a:off x="932505" y="6373368"/>
            <a:ext cx="899769" cy="224942"/>
          </a:xfrm>
          <a:prstGeom prst="rect">
            <a:avLst/>
          </a:prstGeom>
          <a:noFill/>
        </p:spPr>
        <p:txBody>
          <a:bodyPr wrap="square" lIns="0" rIns="0" tIns="0" bIns="0" anchor="t">
            <a:spAutoFit/>
          </a:bodyPr>
          <a:lstStyle/>
          <a:p>
            <a:pPr algn="l">
              <a:lnSpc>
                <a:spcPct val="112000"/>
              </a:lnSpc>
              <a:spcAft>
                <a:spcPts val="0"/>
              </a:spcAft>
            </a:pPr>
            <a:r>
              <a:rPr sz="1066" b="1" i="0">
                <a:solidFill>
                  <a:srgbClr val="FFFFFF"/>
                </a:solidFill>
                <a:latin typeface="Arial"/>
              </a:rPr>
              <a:t>NgeTag</a:t>
            </a:r>
          </a:p>
        </p:txBody>
      </p:sp>
      <p:sp>
        <p:nvSpPr>
          <p:cNvPr id="18" name="TextBox 17"/>
          <p:cNvSpPr txBox="1"/>
          <p:nvPr/>
        </p:nvSpPr>
        <p:spPr>
          <a:xfrm>
            <a:off x="10607040" y="6419088"/>
            <a:ext cx="941832" cy="201168"/>
          </a:xfrm>
          <a:prstGeom prst="rect">
            <a:avLst/>
          </a:prstGeom>
          <a:noFill/>
        </p:spPr>
        <p:txBody>
          <a:bodyPr wrap="square" lIns="0" rIns="0" tIns="0" bIns="0" anchor="t">
            <a:spAutoFit/>
          </a:bodyPr>
          <a:lstStyle/>
          <a:p>
            <a:pPr algn="r">
              <a:lnSpc>
                <a:spcPct val="112000"/>
              </a:lnSpc>
              <a:spcAft>
                <a:spcPts val="0"/>
              </a:spcAft>
            </a:pPr>
            <a:r>
              <a:rPr sz="850" b="0" i="0">
                <a:solidFill>
                  <a:srgbClr val="7A828E"/>
                </a:solidFill>
                <a:latin typeface="Arial"/>
              </a:rPr>
              <a:t>03</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AFAFB"/>
        </a:solidFill>
        <a:effectLst/>
      </p:bgPr>
    </p:bg>
    <p:spTree>
      <p:nvGrpSpPr>
        <p:cNvPr id="1" name=""/>
        <p:cNvGrpSpPr/>
        <p:nvPr/>
      </p:nvGrpSpPr>
      <p:grpSpPr/>
      <p:sp>
        <p:nvSpPr>
          <p:cNvPr id="2" name="TextBox 1"/>
          <p:cNvSpPr txBox="1"/>
          <p:nvPr/>
        </p:nvSpPr>
        <p:spPr>
          <a:xfrm>
            <a:off x="640080" y="384048"/>
            <a:ext cx="9601200" cy="228600"/>
          </a:xfrm>
          <a:prstGeom prst="rect">
            <a:avLst/>
          </a:prstGeom>
          <a:noFill/>
        </p:spPr>
        <p:txBody>
          <a:bodyPr wrap="square" lIns="0" rIns="0" tIns="0" bIns="0" anchor="t">
            <a:spAutoFit/>
          </a:bodyPr>
          <a:lstStyle/>
          <a:p>
            <a:pPr algn="l">
              <a:lnSpc>
                <a:spcPct val="112000"/>
              </a:lnSpc>
              <a:spcAft>
                <a:spcPts val="0"/>
              </a:spcAft>
            </a:pPr>
            <a:r>
              <a:rPr sz="1000" b="1" i="0" spc="140">
                <a:solidFill>
                  <a:srgbClr val="FF5A5F"/>
                </a:solidFill>
                <a:latin typeface="Arial"/>
              </a:rPr>
              <a:t>03 · MUTU &amp; TEMUAN</a:t>
            </a:r>
          </a:p>
        </p:txBody>
      </p:sp>
      <p:sp>
        <p:nvSpPr>
          <p:cNvPr id="3" name="TextBox 2"/>
          <p:cNvSpPr txBox="1"/>
          <p:nvPr/>
        </p:nvSpPr>
        <p:spPr>
          <a:xfrm>
            <a:off x="640080" y="621792"/>
            <a:ext cx="10881360" cy="566928"/>
          </a:xfrm>
          <a:prstGeom prst="rect">
            <a:avLst/>
          </a:prstGeom>
          <a:noFill/>
        </p:spPr>
        <p:txBody>
          <a:bodyPr wrap="square" lIns="0" rIns="0" tIns="0" bIns="0" anchor="t">
            <a:spAutoFit/>
          </a:bodyPr>
          <a:lstStyle/>
          <a:p>
            <a:pPr algn="l">
              <a:lnSpc>
                <a:spcPct val="112000"/>
              </a:lnSpc>
              <a:spcAft>
                <a:spcPts val="0"/>
              </a:spcAft>
            </a:pPr>
            <a:r>
              <a:rPr sz="2600" b="1" i="0">
                <a:solidFill>
                  <a:srgbClr val="1F2937"/>
                </a:solidFill>
                <a:latin typeface="Arial"/>
              </a:rPr>
              <a:t>Disiplin yang membuat repo ini mudah dilanjutkan</a:t>
            </a:r>
          </a:p>
        </p:txBody>
      </p:sp>
      <p:sp>
        <p:nvSpPr>
          <p:cNvPr id="4" name="TextBox 3"/>
          <p:cNvSpPr txBox="1"/>
          <p:nvPr/>
        </p:nvSpPr>
        <p:spPr>
          <a:xfrm>
            <a:off x="640080" y="1225296"/>
            <a:ext cx="10424160" cy="365760"/>
          </a:xfrm>
          <a:prstGeom prst="rect">
            <a:avLst/>
          </a:prstGeom>
          <a:noFill/>
        </p:spPr>
        <p:txBody>
          <a:bodyPr wrap="square" lIns="0" rIns="0" tIns="0" bIns="0" anchor="t">
            <a:spAutoFit/>
          </a:bodyPr>
          <a:lstStyle/>
          <a:p>
            <a:pPr algn="l">
              <a:lnSpc>
                <a:spcPct val="112000"/>
              </a:lnSpc>
              <a:spcAft>
                <a:spcPts val="0"/>
              </a:spcAft>
            </a:pPr>
            <a:r>
              <a:rPr sz="1250" b="0" i="0">
                <a:solidFill>
                  <a:srgbClr val="6B7280"/>
                </a:solidFill>
                <a:latin typeface="Arial"/>
              </a:rPr>
              <a:t>Enam konvensi yang konsisten di 255 file dan layak dipertahankan.</a:t>
            </a:r>
          </a:p>
        </p:txBody>
      </p:sp>
      <p:sp>
        <p:nvSpPr>
          <p:cNvPr id="5" name="Rounded Rectangle 4"/>
          <p:cNvSpPr/>
          <p:nvPr/>
        </p:nvSpPr>
        <p:spPr>
          <a:xfrm>
            <a:off x="640080" y="1170432"/>
            <a:ext cx="502920" cy="32004"/>
          </a:xfrm>
          <a:prstGeom prst="roundRect">
            <a:avLst>
              <a:gd name="adj" fmla="val 0"/>
            </a:avLst>
          </a:prstGeom>
          <a:solidFill>
            <a:srgbClr val="FF5A5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 name="Rounded Rectangle 5"/>
          <p:cNvSpPr/>
          <p:nvPr/>
        </p:nvSpPr>
        <p:spPr>
          <a:xfrm>
            <a:off x="640080" y="1792224"/>
            <a:ext cx="3456432" cy="1444752"/>
          </a:xfrm>
          <a:prstGeom prst="roundRect">
            <a:avLst>
              <a:gd name="adj" fmla="val 8000"/>
            </a:avLst>
          </a:prstGeom>
          <a:solidFill>
            <a:srgbClr val="FFFFFF"/>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 name="Oval 6"/>
          <p:cNvSpPr/>
          <p:nvPr/>
        </p:nvSpPr>
        <p:spPr>
          <a:xfrm>
            <a:off x="841247" y="1975104"/>
            <a:ext cx="292608" cy="292608"/>
          </a:xfrm>
          <a:prstGeom prst="ellipse">
            <a:avLst/>
          </a:prstGeom>
          <a:solidFill>
            <a:srgbClr val="FFECE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50" b="1">
                <a:solidFill>
                  <a:srgbClr val="D93F45"/>
                </a:solidFill>
                <a:latin typeface="Arial"/>
              </a:rPr>
              <a:t>1</a:t>
            </a:r>
          </a:p>
        </p:txBody>
      </p:sp>
      <p:sp>
        <p:nvSpPr>
          <p:cNvPr id="8" name="TextBox 7"/>
          <p:cNvSpPr txBox="1"/>
          <p:nvPr/>
        </p:nvSpPr>
        <p:spPr>
          <a:xfrm>
            <a:off x="1234440" y="1984248"/>
            <a:ext cx="2697480" cy="274320"/>
          </a:xfrm>
          <a:prstGeom prst="rect">
            <a:avLst/>
          </a:prstGeom>
          <a:noFill/>
        </p:spPr>
        <p:txBody>
          <a:bodyPr wrap="square" lIns="0" rIns="0" tIns="0" bIns="0" anchor="t">
            <a:spAutoFit/>
          </a:bodyPr>
          <a:lstStyle/>
          <a:p>
            <a:pPr algn="l">
              <a:lnSpc>
                <a:spcPct val="112000"/>
              </a:lnSpc>
              <a:spcAft>
                <a:spcPts val="0"/>
              </a:spcAft>
            </a:pPr>
            <a:r>
              <a:rPr sz="1100" b="1" i="0">
                <a:solidFill>
                  <a:srgbClr val="1F2937"/>
                </a:solidFill>
                <a:latin typeface="Arial"/>
              </a:rPr>
              <a:t>Server Component default</a:t>
            </a:r>
          </a:p>
        </p:txBody>
      </p:sp>
      <p:sp>
        <p:nvSpPr>
          <p:cNvPr id="9" name="TextBox 8"/>
          <p:cNvSpPr txBox="1"/>
          <p:nvPr/>
        </p:nvSpPr>
        <p:spPr>
          <a:xfrm>
            <a:off x="841247" y="2386584"/>
            <a:ext cx="3063240" cy="731520"/>
          </a:xfrm>
          <a:prstGeom prst="rect">
            <a:avLst/>
          </a:prstGeom>
          <a:noFill/>
        </p:spPr>
        <p:txBody>
          <a:bodyPr wrap="square" lIns="0" rIns="0" tIns="0" bIns="0" anchor="t">
            <a:spAutoFit/>
          </a:bodyPr>
          <a:lstStyle/>
          <a:p>
            <a:pPr algn="l">
              <a:lnSpc>
                <a:spcPct val="122000"/>
              </a:lnSpc>
              <a:spcAft>
                <a:spcPts val="0"/>
              </a:spcAft>
            </a:pPr>
            <a:r>
              <a:rPr sz="950" b="0" i="0">
                <a:solidFill>
                  <a:srgbClr val="6B7280"/>
                </a:solidFill>
                <a:latin typeface="Arial"/>
              </a:rPr>
              <a:t>"use client" hanya untuk komponen interaktif: form, store consumer, navigasi.</a:t>
            </a:r>
          </a:p>
        </p:txBody>
      </p:sp>
      <p:sp>
        <p:nvSpPr>
          <p:cNvPr id="10" name="Rounded Rectangle 9"/>
          <p:cNvSpPr/>
          <p:nvPr/>
        </p:nvSpPr>
        <p:spPr>
          <a:xfrm>
            <a:off x="4361688" y="1792224"/>
            <a:ext cx="3456432" cy="1444752"/>
          </a:xfrm>
          <a:prstGeom prst="roundRect">
            <a:avLst>
              <a:gd name="adj" fmla="val 8000"/>
            </a:avLst>
          </a:prstGeom>
          <a:solidFill>
            <a:srgbClr val="FFFFFF"/>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Oval 10"/>
          <p:cNvSpPr/>
          <p:nvPr/>
        </p:nvSpPr>
        <p:spPr>
          <a:xfrm>
            <a:off x="4562856" y="1975104"/>
            <a:ext cx="292608" cy="292608"/>
          </a:xfrm>
          <a:prstGeom prst="ellipse">
            <a:avLst/>
          </a:prstGeom>
          <a:solidFill>
            <a:srgbClr val="FFECE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50" b="1">
                <a:solidFill>
                  <a:srgbClr val="D93F45"/>
                </a:solidFill>
                <a:latin typeface="Arial"/>
              </a:rPr>
              <a:t>2</a:t>
            </a:r>
          </a:p>
        </p:txBody>
      </p:sp>
      <p:sp>
        <p:nvSpPr>
          <p:cNvPr id="12" name="TextBox 11"/>
          <p:cNvSpPr txBox="1"/>
          <p:nvPr/>
        </p:nvSpPr>
        <p:spPr>
          <a:xfrm>
            <a:off x="4956048" y="1984248"/>
            <a:ext cx="2697480" cy="274320"/>
          </a:xfrm>
          <a:prstGeom prst="rect">
            <a:avLst/>
          </a:prstGeom>
          <a:noFill/>
        </p:spPr>
        <p:txBody>
          <a:bodyPr wrap="square" lIns="0" rIns="0" tIns="0" bIns="0" anchor="t">
            <a:spAutoFit/>
          </a:bodyPr>
          <a:lstStyle/>
          <a:p>
            <a:pPr algn="l">
              <a:lnSpc>
                <a:spcPct val="112000"/>
              </a:lnSpc>
              <a:spcAft>
                <a:spcPts val="0"/>
              </a:spcAft>
            </a:pPr>
            <a:r>
              <a:rPr sz="1100" b="1" i="0">
                <a:solidFill>
                  <a:srgbClr val="1F2937"/>
                </a:solidFill>
                <a:latin typeface="Arial"/>
              </a:rPr>
              <a:t>Satu pintu data</a:t>
            </a:r>
          </a:p>
        </p:txBody>
      </p:sp>
      <p:sp>
        <p:nvSpPr>
          <p:cNvPr id="13" name="TextBox 12"/>
          <p:cNvSpPr txBox="1"/>
          <p:nvPr/>
        </p:nvSpPr>
        <p:spPr>
          <a:xfrm>
            <a:off x="4562856" y="2386584"/>
            <a:ext cx="3063240" cy="731520"/>
          </a:xfrm>
          <a:prstGeom prst="rect">
            <a:avLst/>
          </a:prstGeom>
          <a:noFill/>
        </p:spPr>
        <p:txBody>
          <a:bodyPr wrap="square" lIns="0" rIns="0" tIns="0" bIns="0" anchor="t">
            <a:spAutoFit/>
          </a:bodyPr>
          <a:lstStyle/>
          <a:p>
            <a:pPr algn="l">
              <a:lnSpc>
                <a:spcPct val="122000"/>
              </a:lnSpc>
              <a:spcAft>
                <a:spcPts val="0"/>
              </a:spcAft>
            </a:pPr>
            <a:r>
              <a:rPr sz="950" b="0" i="0">
                <a:solidFill>
                  <a:srgbClr val="6B7280"/>
                </a:solidFill>
                <a:latin typeface="Arial"/>
              </a:rPr>
              <a:t>Komponen tidak mengimpor fixture; semua lookup lewat repository.</a:t>
            </a:r>
          </a:p>
        </p:txBody>
      </p:sp>
      <p:sp>
        <p:nvSpPr>
          <p:cNvPr id="14" name="Rounded Rectangle 13"/>
          <p:cNvSpPr/>
          <p:nvPr/>
        </p:nvSpPr>
        <p:spPr>
          <a:xfrm>
            <a:off x="8083296" y="1792224"/>
            <a:ext cx="3456432" cy="1444752"/>
          </a:xfrm>
          <a:prstGeom prst="roundRect">
            <a:avLst>
              <a:gd name="adj" fmla="val 8000"/>
            </a:avLst>
          </a:prstGeom>
          <a:solidFill>
            <a:srgbClr val="FFFFFF"/>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Oval 14"/>
          <p:cNvSpPr/>
          <p:nvPr/>
        </p:nvSpPr>
        <p:spPr>
          <a:xfrm>
            <a:off x="8284464" y="1975104"/>
            <a:ext cx="292608" cy="292608"/>
          </a:xfrm>
          <a:prstGeom prst="ellipse">
            <a:avLst/>
          </a:prstGeom>
          <a:solidFill>
            <a:srgbClr val="FFECE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50" b="1">
                <a:solidFill>
                  <a:srgbClr val="D93F45"/>
                </a:solidFill>
                <a:latin typeface="Arial"/>
              </a:rPr>
              <a:t>3</a:t>
            </a:r>
          </a:p>
        </p:txBody>
      </p:sp>
      <p:sp>
        <p:nvSpPr>
          <p:cNvPr id="16" name="TextBox 15"/>
          <p:cNvSpPr txBox="1"/>
          <p:nvPr/>
        </p:nvSpPr>
        <p:spPr>
          <a:xfrm>
            <a:off x="8677656" y="1984248"/>
            <a:ext cx="2697480" cy="274320"/>
          </a:xfrm>
          <a:prstGeom prst="rect">
            <a:avLst/>
          </a:prstGeom>
          <a:noFill/>
        </p:spPr>
        <p:txBody>
          <a:bodyPr wrap="square" lIns="0" rIns="0" tIns="0" bIns="0" anchor="t">
            <a:spAutoFit/>
          </a:bodyPr>
          <a:lstStyle/>
          <a:p>
            <a:pPr algn="l">
              <a:lnSpc>
                <a:spcPct val="112000"/>
              </a:lnSpc>
              <a:spcAft>
                <a:spcPts val="0"/>
              </a:spcAft>
            </a:pPr>
            <a:r>
              <a:rPr sz="1100" b="1" i="0">
                <a:solidFill>
                  <a:srgbClr val="1F2937"/>
                </a:solidFill>
                <a:latin typeface="Arial"/>
              </a:rPr>
              <a:t>Route helper terpusat</a:t>
            </a:r>
          </a:p>
        </p:txBody>
      </p:sp>
      <p:sp>
        <p:nvSpPr>
          <p:cNvPr id="17" name="TextBox 16"/>
          <p:cNvSpPr txBox="1"/>
          <p:nvPr/>
        </p:nvSpPr>
        <p:spPr>
          <a:xfrm>
            <a:off x="8284464" y="2386584"/>
            <a:ext cx="3063240" cy="731520"/>
          </a:xfrm>
          <a:prstGeom prst="rect">
            <a:avLst/>
          </a:prstGeom>
          <a:noFill/>
        </p:spPr>
        <p:txBody>
          <a:bodyPr wrap="square" lIns="0" rIns="0" tIns="0" bIns="0" anchor="t">
            <a:spAutoFit/>
          </a:bodyPr>
          <a:lstStyle/>
          <a:p>
            <a:pPr algn="l">
              <a:lnSpc>
                <a:spcPct val="122000"/>
              </a:lnSpc>
              <a:spcAft>
                <a:spcPts val="0"/>
              </a:spcAft>
            </a:pPr>
            <a:r>
              <a:rPr sz="950" b="0" i="0">
                <a:solidFill>
                  <a:srgbClr val="6B7280"/>
                </a:solidFill>
                <a:latin typeface="Arial"/>
              </a:rPr>
              <a:t>URL tidak di-hardcode. Semua string ada di src/config/routes.ts.</a:t>
            </a:r>
          </a:p>
        </p:txBody>
      </p:sp>
      <p:sp>
        <p:nvSpPr>
          <p:cNvPr id="18" name="Rounded Rectangle 17"/>
          <p:cNvSpPr/>
          <p:nvPr/>
        </p:nvSpPr>
        <p:spPr>
          <a:xfrm>
            <a:off x="640080" y="3419856"/>
            <a:ext cx="3456432" cy="1444752"/>
          </a:xfrm>
          <a:prstGeom prst="roundRect">
            <a:avLst>
              <a:gd name="adj" fmla="val 8000"/>
            </a:avLst>
          </a:prstGeom>
          <a:solidFill>
            <a:srgbClr val="FFFFFF"/>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9" name="Oval 18"/>
          <p:cNvSpPr/>
          <p:nvPr/>
        </p:nvSpPr>
        <p:spPr>
          <a:xfrm>
            <a:off x="841247" y="3602736"/>
            <a:ext cx="292608" cy="292608"/>
          </a:xfrm>
          <a:prstGeom prst="ellipse">
            <a:avLst/>
          </a:prstGeom>
          <a:solidFill>
            <a:srgbClr val="FFECE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50" b="1">
                <a:solidFill>
                  <a:srgbClr val="D93F45"/>
                </a:solidFill>
                <a:latin typeface="Arial"/>
              </a:rPr>
              <a:t>4</a:t>
            </a:r>
          </a:p>
        </p:txBody>
      </p:sp>
      <p:sp>
        <p:nvSpPr>
          <p:cNvPr id="20" name="TextBox 19"/>
          <p:cNvSpPr txBox="1"/>
          <p:nvPr/>
        </p:nvSpPr>
        <p:spPr>
          <a:xfrm>
            <a:off x="1234440" y="3611880"/>
            <a:ext cx="2697480" cy="274320"/>
          </a:xfrm>
          <a:prstGeom prst="rect">
            <a:avLst/>
          </a:prstGeom>
          <a:noFill/>
        </p:spPr>
        <p:txBody>
          <a:bodyPr wrap="square" lIns="0" rIns="0" tIns="0" bIns="0" anchor="t">
            <a:spAutoFit/>
          </a:bodyPr>
          <a:lstStyle/>
          <a:p>
            <a:pPr algn="l">
              <a:lnSpc>
                <a:spcPct val="112000"/>
              </a:lnSpc>
              <a:spcAft>
                <a:spcPts val="0"/>
              </a:spcAft>
            </a:pPr>
            <a:r>
              <a:rPr sz="1100" b="1" i="0">
                <a:solidFill>
                  <a:srgbClr val="1F2937"/>
                </a:solidFill>
                <a:latin typeface="Arial"/>
              </a:rPr>
              <a:t>Type-safe end-to-end</a:t>
            </a:r>
          </a:p>
        </p:txBody>
      </p:sp>
      <p:sp>
        <p:nvSpPr>
          <p:cNvPr id="21" name="TextBox 20"/>
          <p:cNvSpPr txBox="1"/>
          <p:nvPr/>
        </p:nvSpPr>
        <p:spPr>
          <a:xfrm>
            <a:off x="841247" y="4014216"/>
            <a:ext cx="3063240" cy="731520"/>
          </a:xfrm>
          <a:prstGeom prst="rect">
            <a:avLst/>
          </a:prstGeom>
          <a:noFill/>
        </p:spPr>
        <p:txBody>
          <a:bodyPr wrap="square" lIns="0" rIns="0" tIns="0" bIns="0" anchor="t">
            <a:spAutoFit/>
          </a:bodyPr>
          <a:lstStyle/>
          <a:p>
            <a:pPr algn="l">
              <a:lnSpc>
                <a:spcPct val="122000"/>
              </a:lnSpc>
              <a:spcAft>
                <a:spcPts val="0"/>
              </a:spcAft>
            </a:pPr>
            <a:r>
              <a:rPr sz="950" b="0" i="0">
                <a:solidFill>
                  <a:srgbClr val="6B7280"/>
                </a:solidFill>
                <a:latin typeface="Arial"/>
              </a:rPr>
              <a:t>TS strict, DTO global, Zod di setiap boundary request.</a:t>
            </a:r>
          </a:p>
        </p:txBody>
      </p:sp>
      <p:sp>
        <p:nvSpPr>
          <p:cNvPr id="22" name="Rounded Rectangle 21"/>
          <p:cNvSpPr/>
          <p:nvPr/>
        </p:nvSpPr>
        <p:spPr>
          <a:xfrm>
            <a:off x="4361688" y="3419856"/>
            <a:ext cx="3456432" cy="1444752"/>
          </a:xfrm>
          <a:prstGeom prst="roundRect">
            <a:avLst>
              <a:gd name="adj" fmla="val 8000"/>
            </a:avLst>
          </a:prstGeom>
          <a:solidFill>
            <a:srgbClr val="FFFFFF"/>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Oval 22"/>
          <p:cNvSpPr/>
          <p:nvPr/>
        </p:nvSpPr>
        <p:spPr>
          <a:xfrm>
            <a:off x="4562856" y="3602736"/>
            <a:ext cx="292608" cy="292608"/>
          </a:xfrm>
          <a:prstGeom prst="ellipse">
            <a:avLst/>
          </a:prstGeom>
          <a:solidFill>
            <a:srgbClr val="FFECE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50" b="1">
                <a:solidFill>
                  <a:srgbClr val="D93F45"/>
                </a:solidFill>
                <a:latin typeface="Arial"/>
              </a:rPr>
              <a:t>5</a:t>
            </a:r>
          </a:p>
        </p:txBody>
      </p:sp>
      <p:sp>
        <p:nvSpPr>
          <p:cNvPr id="24" name="TextBox 23"/>
          <p:cNvSpPr txBox="1"/>
          <p:nvPr/>
        </p:nvSpPr>
        <p:spPr>
          <a:xfrm>
            <a:off x="4956048" y="3611880"/>
            <a:ext cx="2697480" cy="274320"/>
          </a:xfrm>
          <a:prstGeom prst="rect">
            <a:avLst/>
          </a:prstGeom>
          <a:noFill/>
        </p:spPr>
        <p:txBody>
          <a:bodyPr wrap="square" lIns="0" rIns="0" tIns="0" bIns="0" anchor="t">
            <a:spAutoFit/>
          </a:bodyPr>
          <a:lstStyle/>
          <a:p>
            <a:pPr algn="l">
              <a:lnSpc>
                <a:spcPct val="112000"/>
              </a:lnSpc>
              <a:spcAft>
                <a:spcPts val="0"/>
              </a:spcAft>
            </a:pPr>
            <a:r>
              <a:rPr sz="1100" b="1" i="0">
                <a:solidFill>
                  <a:srgbClr val="1F2937"/>
                </a:solidFill>
                <a:latin typeface="Arial"/>
              </a:rPr>
              <a:t>Lokalisasi konsisten</a:t>
            </a:r>
          </a:p>
        </p:txBody>
      </p:sp>
      <p:sp>
        <p:nvSpPr>
          <p:cNvPr id="25" name="TextBox 24"/>
          <p:cNvSpPr txBox="1"/>
          <p:nvPr/>
        </p:nvSpPr>
        <p:spPr>
          <a:xfrm>
            <a:off x="4562856" y="4014216"/>
            <a:ext cx="3063240" cy="731520"/>
          </a:xfrm>
          <a:prstGeom prst="rect">
            <a:avLst/>
          </a:prstGeom>
          <a:noFill/>
        </p:spPr>
        <p:txBody>
          <a:bodyPr wrap="square" lIns="0" rIns="0" tIns="0" bIns="0" anchor="t">
            <a:spAutoFit/>
          </a:bodyPr>
          <a:lstStyle/>
          <a:p>
            <a:pPr algn="l">
              <a:lnSpc>
                <a:spcPct val="122000"/>
              </a:lnSpc>
              <a:spcAft>
                <a:spcPts val="0"/>
              </a:spcAft>
            </a:pPr>
            <a:r>
              <a:rPr sz="950" b="0" i="0">
                <a:solidFill>
                  <a:srgbClr val="6B7280"/>
                </a:solidFill>
                <a:latin typeface="Arial"/>
              </a:rPr>
              <a:t>Locale id-ID, mata uang IDR, format tanggal lewat src/lib/format.ts.</a:t>
            </a:r>
          </a:p>
        </p:txBody>
      </p:sp>
      <p:sp>
        <p:nvSpPr>
          <p:cNvPr id="26" name="Rounded Rectangle 25"/>
          <p:cNvSpPr/>
          <p:nvPr/>
        </p:nvSpPr>
        <p:spPr>
          <a:xfrm>
            <a:off x="8083296" y="3419856"/>
            <a:ext cx="3456432" cy="1444752"/>
          </a:xfrm>
          <a:prstGeom prst="roundRect">
            <a:avLst>
              <a:gd name="adj" fmla="val 8000"/>
            </a:avLst>
          </a:prstGeom>
          <a:solidFill>
            <a:srgbClr val="FFFFFF"/>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7" name="Oval 26"/>
          <p:cNvSpPr/>
          <p:nvPr/>
        </p:nvSpPr>
        <p:spPr>
          <a:xfrm>
            <a:off x="8284464" y="3602736"/>
            <a:ext cx="292608" cy="292608"/>
          </a:xfrm>
          <a:prstGeom prst="ellipse">
            <a:avLst/>
          </a:prstGeom>
          <a:solidFill>
            <a:srgbClr val="FFECE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50" b="1">
                <a:solidFill>
                  <a:srgbClr val="D93F45"/>
                </a:solidFill>
                <a:latin typeface="Arial"/>
              </a:rPr>
              <a:t>6</a:t>
            </a:r>
          </a:p>
        </p:txBody>
      </p:sp>
      <p:sp>
        <p:nvSpPr>
          <p:cNvPr id="28" name="TextBox 27"/>
          <p:cNvSpPr txBox="1"/>
          <p:nvPr/>
        </p:nvSpPr>
        <p:spPr>
          <a:xfrm>
            <a:off x="8677656" y="3611880"/>
            <a:ext cx="2697480" cy="274320"/>
          </a:xfrm>
          <a:prstGeom prst="rect">
            <a:avLst/>
          </a:prstGeom>
          <a:noFill/>
        </p:spPr>
        <p:txBody>
          <a:bodyPr wrap="square" lIns="0" rIns="0" tIns="0" bIns="0" anchor="t">
            <a:spAutoFit/>
          </a:bodyPr>
          <a:lstStyle/>
          <a:p>
            <a:pPr algn="l">
              <a:lnSpc>
                <a:spcPct val="112000"/>
              </a:lnSpc>
              <a:spcAft>
                <a:spcPts val="0"/>
              </a:spcAft>
            </a:pPr>
            <a:r>
              <a:rPr sz="1100" b="1" i="0">
                <a:solidFill>
                  <a:srgbClr val="1F2937"/>
                </a:solidFill>
                <a:latin typeface="Arial"/>
              </a:rPr>
              <a:t>Anti hydration mismatch</a:t>
            </a:r>
          </a:p>
        </p:txBody>
      </p:sp>
      <p:sp>
        <p:nvSpPr>
          <p:cNvPr id="29" name="TextBox 28"/>
          <p:cNvSpPr txBox="1"/>
          <p:nvPr/>
        </p:nvSpPr>
        <p:spPr>
          <a:xfrm>
            <a:off x="8284464" y="4014216"/>
            <a:ext cx="3063240" cy="731520"/>
          </a:xfrm>
          <a:prstGeom prst="rect">
            <a:avLst/>
          </a:prstGeom>
          <a:noFill/>
        </p:spPr>
        <p:txBody>
          <a:bodyPr wrap="square" lIns="0" rIns="0" tIns="0" bIns="0" anchor="t">
            <a:spAutoFit/>
          </a:bodyPr>
          <a:lstStyle/>
          <a:p>
            <a:pPr algn="l">
              <a:lnSpc>
                <a:spcPct val="122000"/>
              </a:lnSpc>
              <a:spcAft>
                <a:spcPts val="0"/>
              </a:spcAft>
            </a:pPr>
            <a:r>
              <a:rPr sz="950" b="0" i="0">
                <a:solidFill>
                  <a:srgbClr val="6B7280"/>
                </a:solidFill>
                <a:latin typeface="Arial"/>
              </a:rPr>
              <a:t>useIsMounted + storage key berversi (:v1) untuk semua state persist.</a:t>
            </a:r>
          </a:p>
        </p:txBody>
      </p:sp>
      <p:sp>
        <p:nvSpPr>
          <p:cNvPr id="30" name="Rounded Rectangle 29"/>
          <p:cNvSpPr/>
          <p:nvPr/>
        </p:nvSpPr>
        <p:spPr>
          <a:xfrm>
            <a:off x="640080" y="5138928"/>
            <a:ext cx="10908792" cy="868680"/>
          </a:xfrm>
          <a:prstGeom prst="roundRect">
            <a:avLst>
              <a:gd name="adj" fmla="val 8000"/>
            </a:avLst>
          </a:prstGeom>
          <a:solidFill>
            <a:srgbClr val="E8F6E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1" name="Rounded Rectangle 30"/>
          <p:cNvSpPr/>
          <p:nvPr/>
        </p:nvSpPr>
        <p:spPr>
          <a:xfrm>
            <a:off x="640080" y="5138928"/>
            <a:ext cx="50292" cy="868680"/>
          </a:xfrm>
          <a:prstGeom prst="roundRect">
            <a:avLst>
              <a:gd name="adj" fmla="val 0"/>
            </a:avLst>
          </a:prstGeom>
          <a:solidFill>
            <a:srgbClr val="1F9D6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2" name="TextBox 31"/>
          <p:cNvSpPr txBox="1"/>
          <p:nvPr/>
        </p:nvSpPr>
        <p:spPr>
          <a:xfrm>
            <a:off x="859536" y="5276088"/>
            <a:ext cx="10543032" cy="237744"/>
          </a:xfrm>
          <a:prstGeom prst="rect">
            <a:avLst/>
          </a:prstGeom>
          <a:noFill/>
        </p:spPr>
        <p:txBody>
          <a:bodyPr wrap="square" lIns="0" rIns="0" tIns="0" bIns="0" anchor="t">
            <a:spAutoFit/>
          </a:bodyPr>
          <a:lstStyle/>
          <a:p>
            <a:pPr algn="l">
              <a:lnSpc>
                <a:spcPct val="112000"/>
              </a:lnSpc>
              <a:spcAft>
                <a:spcPts val="0"/>
              </a:spcAft>
            </a:pPr>
            <a:r>
              <a:rPr sz="1100" b="1" i="0">
                <a:solidFill>
                  <a:srgbClr val="1F2937"/>
                </a:solidFill>
                <a:latin typeface="Arial"/>
              </a:rPr>
              <a:t>Kesan review</a:t>
            </a:r>
          </a:p>
        </p:txBody>
      </p:sp>
      <p:sp>
        <p:nvSpPr>
          <p:cNvPr id="33" name="TextBox 32"/>
          <p:cNvSpPr txBox="1"/>
          <p:nvPr/>
        </p:nvSpPr>
        <p:spPr>
          <a:xfrm>
            <a:off x="859536" y="5550408"/>
            <a:ext cx="10524744" cy="365759"/>
          </a:xfrm>
          <a:prstGeom prst="rect">
            <a:avLst/>
          </a:prstGeom>
          <a:noFill/>
        </p:spPr>
        <p:txBody>
          <a:bodyPr wrap="square" lIns="0" rIns="0" tIns="0" bIns="0" anchor="t">
            <a:spAutoFit/>
          </a:bodyPr>
          <a:lstStyle/>
          <a:p>
            <a:pPr algn="l">
              <a:lnSpc>
                <a:spcPct val="125000"/>
              </a:lnSpc>
              <a:spcAft>
                <a:spcPts val="0"/>
              </a:spcAft>
            </a:pPr>
            <a:r>
              <a:rPr sz="1050" b="0" i="0">
                <a:solidFill>
                  <a:srgbClr val="333D4A"/>
                </a:solidFill>
                <a:latin typeface="Arial"/>
              </a:rPr>
              <a:t>Struktur dan konvensinya lebih matang daripada typical MVP: boundary fitur jelas, kontrak dipisah, dan data dummy deterministik. Masalah utama bukan desain, melainkan file generated yang tidak pernah dibersihkan.</a:t>
            </a:r>
          </a:p>
        </p:txBody>
      </p:sp>
      <p:sp>
        <p:nvSpPr>
          <p:cNvPr id="34" name="Rounded Rectangle 33"/>
          <p:cNvSpPr/>
          <p:nvPr/>
        </p:nvSpPr>
        <p:spPr>
          <a:xfrm>
            <a:off x="640080" y="6419088"/>
            <a:ext cx="10908792" cy="7315"/>
          </a:xfrm>
          <a:prstGeom prst="roundRect">
            <a:avLst>
              <a:gd name="adj" fmla="val 0"/>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5" name="Rounded Rectangle 34"/>
          <p:cNvSpPr/>
          <p:nvPr/>
        </p:nvSpPr>
        <p:spPr>
          <a:xfrm>
            <a:off x="640080" y="6537960"/>
            <a:ext cx="224942" cy="224942"/>
          </a:xfrm>
          <a:prstGeom prst="roundRect">
            <a:avLst>
              <a:gd name="adj" fmla="val 22000"/>
            </a:avLst>
          </a:prstGeom>
          <a:solidFill>
            <a:srgbClr val="FF5A5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6" name="TextBox 35"/>
          <p:cNvSpPr txBox="1"/>
          <p:nvPr/>
        </p:nvSpPr>
        <p:spPr>
          <a:xfrm>
            <a:off x="640080" y="6526987"/>
            <a:ext cx="224942" cy="224942"/>
          </a:xfrm>
          <a:prstGeom prst="rect">
            <a:avLst/>
          </a:prstGeom>
          <a:noFill/>
        </p:spPr>
        <p:txBody>
          <a:bodyPr wrap="square" lIns="0" rIns="0" tIns="0" bIns="0" anchor="ctr">
            <a:spAutoFit/>
          </a:bodyPr>
          <a:lstStyle/>
          <a:p>
            <a:pPr algn="ctr">
              <a:lnSpc>
                <a:spcPct val="112000"/>
              </a:lnSpc>
              <a:spcAft>
                <a:spcPts val="0"/>
              </a:spcAft>
            </a:pPr>
            <a:r>
              <a:rPr sz="1066" b="1" i="0">
                <a:solidFill>
                  <a:srgbClr val="FFFFFF"/>
                </a:solidFill>
                <a:latin typeface="Arial"/>
              </a:rPr>
              <a:t>n</a:t>
            </a:r>
          </a:p>
        </p:txBody>
      </p:sp>
      <p:sp>
        <p:nvSpPr>
          <p:cNvPr id="37" name="TextBox 36"/>
          <p:cNvSpPr txBox="1"/>
          <p:nvPr/>
        </p:nvSpPr>
        <p:spPr>
          <a:xfrm>
            <a:off x="932505" y="6510528"/>
            <a:ext cx="899769" cy="224942"/>
          </a:xfrm>
          <a:prstGeom prst="rect">
            <a:avLst/>
          </a:prstGeom>
          <a:noFill/>
        </p:spPr>
        <p:txBody>
          <a:bodyPr wrap="square" lIns="0" rIns="0" tIns="0" bIns="0" anchor="t">
            <a:spAutoFit/>
          </a:bodyPr>
          <a:lstStyle/>
          <a:p>
            <a:pPr algn="l">
              <a:lnSpc>
                <a:spcPct val="112000"/>
              </a:lnSpc>
              <a:spcAft>
                <a:spcPts val="0"/>
              </a:spcAft>
            </a:pPr>
            <a:r>
              <a:rPr sz="1066" b="1" i="0">
                <a:solidFill>
                  <a:srgbClr val="1F2937"/>
                </a:solidFill>
                <a:latin typeface="Arial"/>
              </a:rPr>
              <a:t>NgeTag</a:t>
            </a:r>
          </a:p>
        </p:txBody>
      </p:sp>
      <p:sp>
        <p:nvSpPr>
          <p:cNvPr id="38" name="TextBox 37"/>
          <p:cNvSpPr txBox="1"/>
          <p:nvPr/>
        </p:nvSpPr>
        <p:spPr>
          <a:xfrm>
            <a:off x="1600200" y="6556248"/>
            <a:ext cx="5486400" cy="201168"/>
          </a:xfrm>
          <a:prstGeom prst="rect">
            <a:avLst/>
          </a:prstGeom>
          <a:noFill/>
        </p:spPr>
        <p:txBody>
          <a:bodyPr wrap="square" lIns="0" rIns="0" tIns="0" bIns="0" anchor="t">
            <a:spAutoFit/>
          </a:bodyPr>
          <a:lstStyle/>
          <a:p>
            <a:pPr algn="l">
              <a:lnSpc>
                <a:spcPct val="112000"/>
              </a:lnSpc>
              <a:spcAft>
                <a:spcPts val="0"/>
              </a:spcAft>
            </a:pPr>
            <a:r>
              <a:rPr sz="850" b="0" i="0">
                <a:solidFill>
                  <a:srgbClr val="6B7280"/>
                </a:solidFill>
                <a:latin typeface="Arial"/>
              </a:rPr>
              <a:t>NgeTag · Review Repository &amp; Seed Data User</a:t>
            </a:r>
          </a:p>
        </p:txBody>
      </p:sp>
      <p:sp>
        <p:nvSpPr>
          <p:cNvPr id="39" name="TextBox 38"/>
          <p:cNvSpPr txBox="1"/>
          <p:nvPr/>
        </p:nvSpPr>
        <p:spPr>
          <a:xfrm>
            <a:off x="10607040" y="6556248"/>
            <a:ext cx="941832" cy="201168"/>
          </a:xfrm>
          <a:prstGeom prst="rect">
            <a:avLst/>
          </a:prstGeom>
          <a:noFill/>
        </p:spPr>
        <p:txBody>
          <a:bodyPr wrap="square" lIns="0" rIns="0" tIns="0" bIns="0" anchor="t">
            <a:spAutoFit/>
          </a:bodyPr>
          <a:lstStyle/>
          <a:p>
            <a:pPr algn="r">
              <a:lnSpc>
                <a:spcPct val="112000"/>
              </a:lnSpc>
              <a:spcAft>
                <a:spcPts val="0"/>
              </a:spcAft>
            </a:pPr>
            <a:r>
              <a:rPr sz="850" b="0" i="0">
                <a:solidFill>
                  <a:srgbClr val="6B7280"/>
                </a:solidFill>
                <a:latin typeface="Arial"/>
              </a:rPr>
              <a:t>16 / 22</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AFAFB"/>
        </a:solidFill>
        <a:effectLst/>
      </p:bgPr>
    </p:bg>
    <p:spTree>
      <p:nvGrpSpPr>
        <p:cNvPr id="1" name=""/>
        <p:cNvGrpSpPr/>
        <p:nvPr/>
      </p:nvGrpSpPr>
      <p:grpSpPr/>
      <p:sp>
        <p:nvSpPr>
          <p:cNvPr id="2" name="TextBox 1"/>
          <p:cNvSpPr txBox="1"/>
          <p:nvPr/>
        </p:nvSpPr>
        <p:spPr>
          <a:xfrm>
            <a:off x="640080" y="384048"/>
            <a:ext cx="9601200" cy="228600"/>
          </a:xfrm>
          <a:prstGeom prst="rect">
            <a:avLst/>
          </a:prstGeom>
          <a:noFill/>
        </p:spPr>
        <p:txBody>
          <a:bodyPr wrap="square" lIns="0" rIns="0" tIns="0" bIns="0" anchor="t">
            <a:spAutoFit/>
          </a:bodyPr>
          <a:lstStyle/>
          <a:p>
            <a:pPr algn="l">
              <a:lnSpc>
                <a:spcPct val="112000"/>
              </a:lnSpc>
              <a:spcAft>
                <a:spcPts val="0"/>
              </a:spcAft>
            </a:pPr>
            <a:r>
              <a:rPr sz="1000" b="1" i="0" spc="140">
                <a:solidFill>
                  <a:srgbClr val="FF5A5F"/>
                </a:solidFill>
                <a:latin typeface="Arial"/>
              </a:rPr>
              <a:t>03 · MUTU &amp; TEMUAN</a:t>
            </a:r>
          </a:p>
        </p:txBody>
      </p:sp>
      <p:sp>
        <p:nvSpPr>
          <p:cNvPr id="3" name="TextBox 2"/>
          <p:cNvSpPr txBox="1"/>
          <p:nvPr/>
        </p:nvSpPr>
        <p:spPr>
          <a:xfrm>
            <a:off x="640080" y="621792"/>
            <a:ext cx="10881360" cy="566928"/>
          </a:xfrm>
          <a:prstGeom prst="rect">
            <a:avLst/>
          </a:prstGeom>
          <a:noFill/>
        </p:spPr>
        <p:txBody>
          <a:bodyPr wrap="square" lIns="0" rIns="0" tIns="0" bIns="0" anchor="t">
            <a:spAutoFit/>
          </a:bodyPr>
          <a:lstStyle/>
          <a:p>
            <a:pPr algn="l">
              <a:lnSpc>
                <a:spcPct val="112000"/>
              </a:lnSpc>
              <a:spcAft>
                <a:spcPts val="0"/>
              </a:spcAft>
            </a:pPr>
            <a:r>
              <a:rPr sz="2600" b="1" i="0">
                <a:solidFill>
                  <a:srgbClr val="1F2937"/>
                </a:solidFill>
                <a:latin typeface="Arial"/>
              </a:rPr>
              <a:t>Tujuh temuan, satu akar masalah</a:t>
            </a:r>
          </a:p>
        </p:txBody>
      </p:sp>
      <p:sp>
        <p:nvSpPr>
          <p:cNvPr id="4" name="TextBox 3"/>
          <p:cNvSpPr txBox="1"/>
          <p:nvPr/>
        </p:nvSpPr>
        <p:spPr>
          <a:xfrm>
            <a:off x="640080" y="1225296"/>
            <a:ext cx="10424160" cy="365760"/>
          </a:xfrm>
          <a:prstGeom prst="rect">
            <a:avLst/>
          </a:prstGeom>
          <a:noFill/>
        </p:spPr>
        <p:txBody>
          <a:bodyPr wrap="square" lIns="0" rIns="0" tIns="0" bIns="0" anchor="t">
            <a:spAutoFit/>
          </a:bodyPr>
          <a:lstStyle/>
          <a:p>
            <a:pPr algn="l">
              <a:lnSpc>
                <a:spcPct val="112000"/>
              </a:lnSpc>
              <a:spcAft>
                <a:spcPts val="0"/>
              </a:spcAft>
            </a:pPr>
            <a:r>
              <a:rPr sz="1250" b="0" i="0">
                <a:solidFill>
                  <a:srgbClr val="6B7280"/>
                </a:solidFill>
                <a:latin typeface="Arial"/>
              </a:rPr>
              <a:t>Hasil `npx tsc --noEmit`, `npm run lint`, `npm run build`, dan pembacaan silang dokumentasi vs fixture.</a:t>
            </a:r>
          </a:p>
        </p:txBody>
      </p:sp>
      <p:sp>
        <p:nvSpPr>
          <p:cNvPr id="5" name="Rounded Rectangle 4"/>
          <p:cNvSpPr/>
          <p:nvPr/>
        </p:nvSpPr>
        <p:spPr>
          <a:xfrm>
            <a:off x="640080" y="1170432"/>
            <a:ext cx="502920" cy="32004"/>
          </a:xfrm>
          <a:prstGeom prst="roundRect">
            <a:avLst>
              <a:gd name="adj" fmla="val 0"/>
            </a:avLst>
          </a:prstGeom>
          <a:solidFill>
            <a:srgbClr val="FF5A5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graphicFrame>
        <p:nvGraphicFramePr>
          <p:cNvPr id="6" name="Table 5"/>
          <p:cNvGraphicFramePr>
            <a:graphicFrameLocks noGrp="1"/>
          </p:cNvGraphicFramePr>
          <p:nvPr/>
        </p:nvGraphicFramePr>
        <p:xfrm>
          <a:off x="640080" y="1755648"/>
          <a:ext cx="10908791" cy="3657600"/>
        </p:xfrm>
        <a:graphic>
          <a:graphicData uri="http://schemas.openxmlformats.org/drawingml/2006/table">
            <a:tbl>
              <a:tblPr firstRow="0" bandRow="0"/>
              <a:tblGrid>
                <a:gridCol w="1371600"/>
                <a:gridCol w="5806440"/>
                <a:gridCol w="2697480"/>
                <a:gridCol w="1033271"/>
              </a:tblGrid>
              <a:tr h="329184">
                <a:tc>
                  <a:txBody>
                    <a:bodyPr wrap="square"/>
                    <a:lstStyle/>
                    <a:p>
                      <a:pPr algn="l"/>
                      <a:r>
                        <a:rPr sz="900" b="1">
                          <a:solidFill>
                            <a:srgbClr val="FFFFFF"/>
                          </a:solidFill>
                          <a:latin typeface="Arial"/>
                        </a:rPr>
                        <a:t>Area</a:t>
                      </a:r>
                    </a:p>
                  </a:txBody>
                  <a:tcPr marL="91440" marR="73152" marT="27432" marB="27432" anchor="ctr">
                    <a:solidFill>
                      <a:srgbClr val="1F2937"/>
                    </a:solidFill>
                  </a:tcPr>
                </a:tc>
                <a:tc>
                  <a:txBody>
                    <a:bodyPr wrap="square"/>
                    <a:lstStyle/>
                    <a:p>
                      <a:pPr algn="l"/>
                      <a:r>
                        <a:rPr sz="900" b="1">
                          <a:solidFill>
                            <a:srgbClr val="FFFFFF"/>
                          </a:solidFill>
                          <a:latin typeface="Arial"/>
                        </a:rPr>
                        <a:t>Temuan</a:t>
                      </a:r>
                    </a:p>
                  </a:txBody>
                  <a:tcPr marL="91440" marR="73152" marT="27432" marB="27432" anchor="ctr">
                    <a:solidFill>
                      <a:srgbClr val="1F2937"/>
                    </a:solidFill>
                  </a:tcPr>
                </a:tc>
                <a:tc>
                  <a:txBody>
                    <a:bodyPr wrap="square"/>
                    <a:lstStyle/>
                    <a:p>
                      <a:pPr algn="l"/>
                      <a:r>
                        <a:rPr sz="900" b="1">
                          <a:solidFill>
                            <a:srgbClr val="FFFFFF"/>
                          </a:solidFill>
                          <a:latin typeface="Arial"/>
                        </a:rPr>
                        <a:t>Bukti / lokasi</a:t>
                      </a:r>
                    </a:p>
                  </a:txBody>
                  <a:tcPr marL="91440" marR="73152" marT="27432" marB="27432" anchor="ctr">
                    <a:solidFill>
                      <a:srgbClr val="1F2937"/>
                    </a:solidFill>
                  </a:tcPr>
                </a:tc>
                <a:tc>
                  <a:txBody>
                    <a:bodyPr wrap="square"/>
                    <a:lstStyle/>
                    <a:p>
                      <a:pPr algn="l"/>
                      <a:r>
                        <a:rPr sz="900" b="1">
                          <a:solidFill>
                            <a:srgbClr val="FFFFFF"/>
                          </a:solidFill>
                          <a:latin typeface="Arial"/>
                        </a:rPr>
                        <a:t>Prioritas</a:t>
                      </a:r>
                    </a:p>
                  </a:txBody>
                  <a:tcPr marL="91440" marR="73152" marT="27432" marB="27432" anchor="ctr">
                    <a:solidFill>
                      <a:srgbClr val="1F2937"/>
                    </a:solidFill>
                  </a:tcPr>
                </a:tc>
              </a:tr>
              <a:tr h="475488">
                <a:tc>
                  <a:txBody>
                    <a:bodyPr wrap="square"/>
                    <a:lstStyle/>
                    <a:p>
                      <a:pPr algn="l"/>
                      <a:r>
                        <a:rPr sz="919" b="0">
                          <a:solidFill>
                            <a:srgbClr val="333D4A"/>
                          </a:solidFill>
                          <a:latin typeface="Arial"/>
                        </a:rPr>
                        <a:t>Type check</a:t>
                      </a:r>
                    </a:p>
                  </a:txBody>
                  <a:tcPr marL="91440" marR="73152" marT="27432" marB="27432" anchor="ctr">
                    <a:solidFill>
                      <a:srgbClr val="FFFFFF"/>
                    </a:solidFill>
                  </a:tcPr>
                </a:tc>
                <a:tc>
                  <a:txBody>
                    <a:bodyPr wrap="square"/>
                    <a:lstStyle/>
                    <a:p>
                      <a:pPr algn="l"/>
                      <a:r>
                        <a:rPr sz="919" b="0">
                          <a:solidFill>
                            <a:srgbClr val="333D4A"/>
                          </a:solidFill>
                          <a:latin typeface="Arial"/>
                        </a:rPr>
                        <a:t>relations.ts gagal kompilasi: tipe helper Drizzle 1.0 RC tidak cocok</a:t>
                      </a:r>
                    </a:p>
                  </a:txBody>
                  <a:tcPr marL="91440" marR="73152" marT="27432" marB="27432" anchor="ctr">
                    <a:solidFill>
                      <a:srgbClr val="FFFFFF"/>
                    </a:solidFill>
                  </a:tcPr>
                </a:tc>
                <a:tc>
                  <a:txBody>
                    <a:bodyPr wrap="square"/>
                    <a:lstStyle/>
                    <a:p>
                      <a:pPr algn="l"/>
                      <a:r>
                        <a:rPr sz="919" b="0">
                          <a:solidFill>
                            <a:srgbClr val="333D4A"/>
                          </a:solidFill>
                          <a:latin typeface="Arial"/>
                        </a:rPr>
                        <a:t>npx tsc --noEmit</a:t>
                      </a:r>
                    </a:p>
                  </a:txBody>
                  <a:tcPr marL="91440" marR="73152" marT="27432" marB="27432" anchor="ctr">
                    <a:solidFill>
                      <a:srgbClr val="FFFFFF"/>
                    </a:solidFill>
                  </a:tcPr>
                </a:tc>
                <a:tc>
                  <a:txBody>
                    <a:bodyPr wrap="square"/>
                    <a:lstStyle/>
                    <a:p>
                      <a:pPr algn="l"/>
                      <a:r>
                        <a:rPr sz="919" b="0">
                          <a:solidFill>
                            <a:srgbClr val="333D4A"/>
                          </a:solidFill>
                          <a:latin typeface="Arial"/>
                        </a:rPr>
                        <a:t>Tinggi</a:t>
                      </a:r>
                    </a:p>
                  </a:txBody>
                  <a:tcPr marL="91440" marR="73152" marT="27432" marB="27432" anchor="ctr">
                    <a:solidFill>
                      <a:srgbClr val="FFFFFF"/>
                    </a:solidFill>
                  </a:tcPr>
                </a:tc>
              </a:tr>
              <a:tr h="475488">
                <a:tc>
                  <a:txBody>
                    <a:bodyPr wrap="square"/>
                    <a:lstStyle/>
                    <a:p>
                      <a:pPr algn="l"/>
                      <a:r>
                        <a:rPr sz="919" b="0">
                          <a:solidFill>
                            <a:srgbClr val="333D4A"/>
                          </a:solidFill>
                          <a:latin typeface="Arial"/>
                        </a:rPr>
                        <a:t>Lint</a:t>
                      </a:r>
                    </a:p>
                  </a:txBody>
                  <a:tcPr marL="91440" marR="73152" marT="27432" marB="27432" anchor="ctr">
                    <a:solidFill>
                      <a:srgbClr val="F3F4F6"/>
                    </a:solidFill>
                  </a:tcPr>
                </a:tc>
                <a:tc>
                  <a:txBody>
                    <a:bodyPr wrap="square"/>
                    <a:lstStyle/>
                    <a:p>
                      <a:pPr algn="l"/>
                      <a:r>
                        <a:rPr sz="919" b="0">
                          <a:solidFill>
                            <a:srgbClr val="333D4A"/>
                          </a:solidFill>
                          <a:latin typeface="Arial"/>
                        </a:rPr>
                        <a:t>100 error: 98 `any` di relations.ts, 1 set-state-in-effect, 1 any di calendar.ts</a:t>
                      </a:r>
                    </a:p>
                  </a:txBody>
                  <a:tcPr marL="91440" marR="73152" marT="27432" marB="27432" anchor="ctr">
                    <a:solidFill>
                      <a:srgbClr val="F3F4F6"/>
                    </a:solidFill>
                  </a:tcPr>
                </a:tc>
                <a:tc>
                  <a:txBody>
                    <a:bodyPr wrap="square"/>
                    <a:lstStyle/>
                    <a:p>
                      <a:pPr algn="l"/>
                      <a:r>
                        <a:rPr sz="919" b="0">
                          <a:solidFill>
                            <a:srgbClr val="333D4A"/>
                          </a:solidFill>
                          <a:latin typeface="Arial"/>
                        </a:rPr>
                        <a:t>npm run lint</a:t>
                      </a:r>
                    </a:p>
                  </a:txBody>
                  <a:tcPr marL="91440" marR="73152" marT="27432" marB="27432" anchor="ctr">
                    <a:solidFill>
                      <a:srgbClr val="F3F4F6"/>
                    </a:solidFill>
                  </a:tcPr>
                </a:tc>
                <a:tc>
                  <a:txBody>
                    <a:bodyPr wrap="square"/>
                    <a:lstStyle/>
                    <a:p>
                      <a:pPr algn="l"/>
                      <a:r>
                        <a:rPr sz="919" b="0">
                          <a:solidFill>
                            <a:srgbClr val="333D4A"/>
                          </a:solidFill>
                          <a:latin typeface="Arial"/>
                        </a:rPr>
                        <a:t>Tinggi</a:t>
                      </a:r>
                    </a:p>
                  </a:txBody>
                  <a:tcPr marL="91440" marR="73152" marT="27432" marB="27432" anchor="ctr">
                    <a:solidFill>
                      <a:srgbClr val="F3F4F6"/>
                    </a:solidFill>
                  </a:tcPr>
                </a:tc>
              </a:tr>
              <a:tr h="475488">
                <a:tc>
                  <a:txBody>
                    <a:bodyPr wrap="square"/>
                    <a:lstStyle/>
                    <a:p>
                      <a:pPr algn="l"/>
                      <a:r>
                        <a:rPr sz="919" b="0">
                          <a:solidFill>
                            <a:srgbClr val="333D4A"/>
                          </a:solidFill>
                          <a:latin typeface="Arial"/>
                        </a:rPr>
                        <a:t>Build</a:t>
                      </a:r>
                    </a:p>
                  </a:txBody>
                  <a:tcPr marL="91440" marR="73152" marT="27432" marB="27432" anchor="ctr">
                    <a:solidFill>
                      <a:srgbClr val="FFFFFF"/>
                    </a:solidFill>
                  </a:tcPr>
                </a:tc>
                <a:tc>
                  <a:txBody>
                    <a:bodyPr wrap="square"/>
                    <a:lstStyle/>
                    <a:p>
                      <a:pPr algn="l"/>
                      <a:r>
                        <a:rPr sz="919" b="0">
                          <a:solidFill>
                            <a:srgbClr val="333D4A"/>
                          </a:solidFill>
                          <a:latin typeface="Arial"/>
                        </a:rPr>
                        <a:t>Gagal fetch Inter &amp; Plus Jakarta Sans dari Google Fonts (sandbox offline)</a:t>
                      </a:r>
                    </a:p>
                  </a:txBody>
                  <a:tcPr marL="91440" marR="73152" marT="27432" marB="27432" anchor="ctr">
                    <a:solidFill>
                      <a:srgbClr val="FFFFFF"/>
                    </a:solidFill>
                  </a:tcPr>
                </a:tc>
                <a:tc>
                  <a:txBody>
                    <a:bodyPr wrap="square"/>
                    <a:lstStyle/>
                    <a:p>
                      <a:pPr algn="l"/>
                      <a:r>
                        <a:rPr sz="919" b="0">
                          <a:solidFill>
                            <a:srgbClr val="333D4A"/>
                          </a:solidFill>
                          <a:latin typeface="Arial"/>
                        </a:rPr>
                        <a:t>npm run build</a:t>
                      </a:r>
                    </a:p>
                  </a:txBody>
                  <a:tcPr marL="91440" marR="73152" marT="27432" marB="27432" anchor="ctr">
                    <a:solidFill>
                      <a:srgbClr val="FFFFFF"/>
                    </a:solidFill>
                  </a:tcPr>
                </a:tc>
                <a:tc>
                  <a:txBody>
                    <a:bodyPr wrap="square"/>
                    <a:lstStyle/>
                    <a:p>
                      <a:pPr algn="l"/>
                      <a:r>
                        <a:rPr sz="919" b="0">
                          <a:solidFill>
                            <a:srgbClr val="333D4A"/>
                          </a:solidFill>
                          <a:latin typeface="Arial"/>
                        </a:rPr>
                        <a:t>Lingkungan</a:t>
                      </a:r>
                    </a:p>
                  </a:txBody>
                  <a:tcPr marL="91440" marR="73152" marT="27432" marB="27432" anchor="ctr">
                    <a:solidFill>
                      <a:srgbClr val="FFFFFF"/>
                    </a:solidFill>
                  </a:tcPr>
                </a:tc>
              </a:tr>
              <a:tr h="475488">
                <a:tc>
                  <a:txBody>
                    <a:bodyPr wrap="square"/>
                    <a:lstStyle/>
                    <a:p>
                      <a:pPr algn="l"/>
                      <a:r>
                        <a:rPr sz="919" b="0">
                          <a:solidFill>
                            <a:srgbClr val="333D4A"/>
                          </a:solidFill>
                          <a:latin typeface="Arial"/>
                        </a:rPr>
                        <a:t>Data user</a:t>
                      </a:r>
                    </a:p>
                  </a:txBody>
                  <a:tcPr marL="91440" marR="73152" marT="27432" marB="27432" anchor="ctr">
                    <a:solidFill>
                      <a:srgbClr val="F3F4F6"/>
                    </a:solidFill>
                  </a:tcPr>
                </a:tc>
                <a:tc>
                  <a:txBody>
                    <a:bodyPr wrap="square"/>
                    <a:lstStyle/>
                    <a:p>
                      <a:pPr algn="l"/>
                      <a:r>
                        <a:rPr sz="919" b="0">
                          <a:solidFill>
                            <a:srgbClr val="333D4A"/>
                          </a:solidFill>
                          <a:latin typeface="Arial"/>
                        </a:rPr>
                        <a:t>Hanya 1 user demo; belum ada seed maupun klien database runtime</a:t>
                      </a:r>
                    </a:p>
                  </a:txBody>
                  <a:tcPr marL="91440" marR="73152" marT="27432" marB="27432" anchor="ctr">
                    <a:solidFill>
                      <a:srgbClr val="F3F4F6"/>
                    </a:solidFill>
                  </a:tcPr>
                </a:tc>
                <a:tc>
                  <a:txBody>
                    <a:bodyPr wrap="square"/>
                    <a:lstStyle/>
                    <a:p>
                      <a:pPr algn="l"/>
                      <a:r>
                        <a:rPr sz="919" b="0">
                          <a:solidFill>
                            <a:srgbClr val="333D4A"/>
                          </a:solidFill>
                          <a:latin typeface="Arial"/>
                        </a:rPr>
                        <a:t>fixtures/users.ts</a:t>
                      </a:r>
                    </a:p>
                  </a:txBody>
                  <a:tcPr marL="91440" marR="73152" marT="27432" marB="27432" anchor="ctr">
                    <a:solidFill>
                      <a:srgbClr val="F3F4F6"/>
                    </a:solidFill>
                  </a:tcPr>
                </a:tc>
                <a:tc>
                  <a:txBody>
                    <a:bodyPr wrap="square"/>
                    <a:lstStyle/>
                    <a:p>
                      <a:pPr algn="l"/>
                      <a:r>
                        <a:rPr sz="919" b="0">
                          <a:solidFill>
                            <a:srgbClr val="333D4A"/>
                          </a:solidFill>
                          <a:latin typeface="Arial"/>
                        </a:rPr>
                        <a:t>Tinggi</a:t>
                      </a:r>
                    </a:p>
                  </a:txBody>
                  <a:tcPr marL="91440" marR="73152" marT="27432" marB="27432" anchor="ctr">
                    <a:solidFill>
                      <a:srgbClr val="F3F4F6"/>
                    </a:solidFill>
                  </a:tcPr>
                </a:tc>
              </a:tr>
              <a:tr h="475488">
                <a:tc>
                  <a:txBody>
                    <a:bodyPr wrap="square"/>
                    <a:lstStyle/>
                    <a:p>
                      <a:pPr algn="l"/>
                      <a:r>
                        <a:rPr sz="919" b="0">
                          <a:solidFill>
                            <a:srgbClr val="333D4A"/>
                          </a:solidFill>
                          <a:latin typeface="Arial"/>
                        </a:rPr>
                        <a:t>Kontrak</a:t>
                      </a:r>
                    </a:p>
                  </a:txBody>
                  <a:tcPr marL="91440" marR="73152" marT="27432" marB="27432" anchor="ctr">
                    <a:solidFill>
                      <a:srgbClr val="FFFFFF"/>
                    </a:solidFill>
                  </a:tcPr>
                </a:tc>
                <a:tc>
                  <a:txBody>
                    <a:bodyPr wrap="square"/>
                    <a:lstStyle/>
                    <a:p>
                      <a:pPr algn="l"/>
                      <a:r>
                        <a:rPr sz="919" b="0">
                          <a:solidFill>
                            <a:srgbClr val="333D4A"/>
                          </a:solidFill>
                          <a:latin typeface="Arial"/>
                        </a:rPr>
                        <a:t>`points` ada di DB, tidak ada di tipe User, Zod, dan CustomerContract</a:t>
                      </a:r>
                    </a:p>
                  </a:txBody>
                  <a:tcPr marL="91440" marR="73152" marT="27432" marB="27432" anchor="ctr">
                    <a:solidFill>
                      <a:srgbClr val="FFFFFF"/>
                    </a:solidFill>
                  </a:tcPr>
                </a:tc>
                <a:tc>
                  <a:txBody>
                    <a:bodyPr wrap="square"/>
                    <a:lstStyle/>
                    <a:p>
                      <a:pPr algn="l"/>
                      <a:r>
                        <a:rPr sz="919" b="0">
                          <a:solidFill>
                            <a:srgbClr val="333D4A"/>
                          </a:solidFill>
                          <a:latin typeface="Arial"/>
                        </a:rPr>
                        <a:t>schema.ts vs types/user.ts</a:t>
                      </a:r>
                    </a:p>
                  </a:txBody>
                  <a:tcPr marL="91440" marR="73152" marT="27432" marB="27432" anchor="ctr">
                    <a:solidFill>
                      <a:srgbClr val="FFFFFF"/>
                    </a:solidFill>
                  </a:tcPr>
                </a:tc>
                <a:tc>
                  <a:txBody>
                    <a:bodyPr wrap="square"/>
                    <a:lstStyle/>
                    <a:p>
                      <a:pPr algn="l"/>
                      <a:r>
                        <a:rPr sz="919" b="0">
                          <a:solidFill>
                            <a:srgbClr val="333D4A"/>
                          </a:solidFill>
                          <a:latin typeface="Arial"/>
                        </a:rPr>
                        <a:t>Sedang</a:t>
                      </a:r>
                    </a:p>
                  </a:txBody>
                  <a:tcPr marL="91440" marR="73152" marT="27432" marB="27432" anchor="ctr">
                    <a:solidFill>
                      <a:srgbClr val="FFFFFF"/>
                    </a:solidFill>
                  </a:tcPr>
                </a:tc>
              </a:tr>
              <a:tr h="475488">
                <a:tc>
                  <a:txBody>
                    <a:bodyPr wrap="square"/>
                    <a:lstStyle/>
                    <a:p>
                      <a:pPr algn="l"/>
                      <a:r>
                        <a:rPr sz="919" b="0">
                          <a:solidFill>
                            <a:srgbClr val="333D4A"/>
                          </a:solidFill>
                          <a:latin typeface="Arial"/>
                        </a:rPr>
                        <a:t>Dokumentasi</a:t>
                      </a:r>
                    </a:p>
                  </a:txBody>
                  <a:tcPr marL="91440" marR="73152" marT="27432" marB="27432" anchor="ctr">
                    <a:solidFill>
                      <a:srgbClr val="F3F4F6"/>
                    </a:solidFill>
                  </a:tcPr>
                </a:tc>
                <a:tc>
                  <a:txBody>
                    <a:bodyPr wrap="square"/>
                    <a:lstStyle/>
                    <a:p>
                      <a:pPr algn="l"/>
                      <a:r>
                        <a:rPr sz="919" b="0">
                          <a:solidFill>
                            <a:srgbClr val="333D4A"/>
                          </a:solidFill>
                          <a:latin typeface="Arial"/>
                        </a:rPr>
                        <a:t>README menyebut ~80 review, fixture menghasilkan 62</a:t>
                      </a:r>
                    </a:p>
                  </a:txBody>
                  <a:tcPr marL="91440" marR="73152" marT="27432" marB="27432" anchor="ctr">
                    <a:solidFill>
                      <a:srgbClr val="F3F4F6"/>
                    </a:solidFill>
                  </a:tcPr>
                </a:tc>
                <a:tc>
                  <a:txBody>
                    <a:bodyPr wrap="square"/>
                    <a:lstStyle/>
                    <a:p>
                      <a:pPr algn="l"/>
                      <a:r>
                        <a:rPr sz="919" b="0">
                          <a:solidFill>
                            <a:srgbClr val="333D4A"/>
                          </a:solidFill>
                          <a:latin typeface="Arial"/>
                        </a:rPr>
                        <a:t>fixtures/reviews.ts</a:t>
                      </a:r>
                    </a:p>
                  </a:txBody>
                  <a:tcPr marL="91440" marR="73152" marT="27432" marB="27432" anchor="ctr">
                    <a:solidFill>
                      <a:srgbClr val="F3F4F6"/>
                    </a:solidFill>
                  </a:tcPr>
                </a:tc>
                <a:tc>
                  <a:txBody>
                    <a:bodyPr wrap="square"/>
                    <a:lstStyle/>
                    <a:p>
                      <a:pPr algn="l"/>
                      <a:r>
                        <a:rPr sz="919" b="0">
                          <a:solidFill>
                            <a:srgbClr val="333D4A"/>
                          </a:solidFill>
                          <a:latin typeface="Arial"/>
                        </a:rPr>
                        <a:t>Rendah</a:t>
                      </a:r>
                    </a:p>
                  </a:txBody>
                  <a:tcPr marL="91440" marR="73152" marT="27432" marB="27432" anchor="ctr">
                    <a:solidFill>
                      <a:srgbClr val="F3F4F6"/>
                    </a:solidFill>
                  </a:tcPr>
                </a:tc>
              </a:tr>
              <a:tr h="475488">
                <a:tc>
                  <a:txBody>
                    <a:bodyPr wrap="square"/>
                    <a:lstStyle/>
                    <a:p>
                      <a:pPr algn="l"/>
                      <a:r>
                        <a:rPr sz="919" b="0">
                          <a:solidFill>
                            <a:srgbClr val="333D4A"/>
                          </a:solidFill>
                          <a:latin typeface="Arial"/>
                        </a:rPr>
                        <a:t>Fitur</a:t>
                      </a:r>
                    </a:p>
                  </a:txBody>
                  <a:tcPr marL="91440" marR="73152" marT="27432" marB="27432" anchor="ctr">
                    <a:solidFill>
                      <a:srgbClr val="FFFFFF"/>
                    </a:solidFill>
                  </a:tcPr>
                </a:tc>
                <a:tc>
                  <a:txBody>
                    <a:bodyPr wrap="square"/>
                    <a:lstStyle/>
                    <a:p>
                      <a:pPr algn="l"/>
                      <a:r>
                        <a:rPr sz="919" b="0">
                          <a:solidFill>
                            <a:srgbClr val="333D4A"/>
                          </a:solidFill>
                          <a:latin typeface="Arial"/>
                        </a:rPr>
                        <a:t>Auth, geolocation, dan filter buka-sekarang memang ditunda</a:t>
                      </a:r>
                    </a:p>
                  </a:txBody>
                  <a:tcPr marL="91440" marR="73152" marT="27432" marB="27432" anchor="ctr">
                    <a:solidFill>
                      <a:srgbClr val="FFFFFF"/>
                    </a:solidFill>
                  </a:tcPr>
                </a:tc>
                <a:tc>
                  <a:txBody>
                    <a:bodyPr wrap="square"/>
                    <a:lstStyle/>
                    <a:p>
                      <a:pPr algn="l"/>
                      <a:r>
                        <a:rPr sz="919" b="0">
                          <a:solidFill>
                            <a:srgbClr val="333D4A"/>
                          </a:solidFill>
                          <a:latin typeface="Arial"/>
                        </a:rPr>
                        <a:t>README · roadmap</a:t>
                      </a:r>
                    </a:p>
                  </a:txBody>
                  <a:tcPr marL="91440" marR="73152" marT="27432" marB="27432" anchor="ctr">
                    <a:solidFill>
                      <a:srgbClr val="FFFFFF"/>
                    </a:solidFill>
                  </a:tcPr>
                </a:tc>
                <a:tc>
                  <a:txBody>
                    <a:bodyPr wrap="square"/>
                    <a:lstStyle/>
                    <a:p>
                      <a:pPr algn="l"/>
                      <a:r>
                        <a:rPr sz="919" b="0">
                          <a:solidFill>
                            <a:srgbClr val="333D4A"/>
                          </a:solidFill>
                          <a:latin typeface="Arial"/>
                        </a:rPr>
                        <a:t>Sesuai rencana</a:t>
                      </a:r>
                    </a:p>
                  </a:txBody>
                  <a:tcPr marL="91440" marR="73152" marT="27432" marB="27432" anchor="ctr">
                    <a:solidFill>
                      <a:srgbClr val="FFFFFF"/>
                    </a:solidFill>
                  </a:tcPr>
                </a:tc>
              </a:tr>
            </a:tbl>
          </a:graphicData>
        </a:graphic>
      </p:graphicFrame>
      <p:sp>
        <p:nvSpPr>
          <p:cNvPr id="7" name="Rounded Rectangle 6"/>
          <p:cNvSpPr/>
          <p:nvPr/>
        </p:nvSpPr>
        <p:spPr>
          <a:xfrm>
            <a:off x="640080" y="5577840"/>
            <a:ext cx="10908792" cy="566928"/>
          </a:xfrm>
          <a:prstGeom prst="roundRect">
            <a:avLst>
              <a:gd name="adj" fmla="val 8000"/>
            </a:avLst>
          </a:prstGeom>
          <a:solidFill>
            <a:srgbClr val="FFECE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Rounded Rectangle 7"/>
          <p:cNvSpPr/>
          <p:nvPr/>
        </p:nvSpPr>
        <p:spPr>
          <a:xfrm>
            <a:off x="640080" y="5577840"/>
            <a:ext cx="50292" cy="566928"/>
          </a:xfrm>
          <a:prstGeom prst="roundRect">
            <a:avLst>
              <a:gd name="adj" fmla="val 0"/>
            </a:avLst>
          </a:prstGeom>
          <a:solidFill>
            <a:srgbClr val="FF5A5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TextBox 8"/>
          <p:cNvSpPr txBox="1"/>
          <p:nvPr/>
        </p:nvSpPr>
        <p:spPr>
          <a:xfrm>
            <a:off x="859536" y="5715000"/>
            <a:ext cx="10543032" cy="237744"/>
          </a:xfrm>
          <a:prstGeom prst="rect">
            <a:avLst/>
          </a:prstGeom>
          <a:noFill/>
        </p:spPr>
        <p:txBody>
          <a:bodyPr wrap="square" lIns="0" rIns="0" tIns="0" bIns="0" anchor="t">
            <a:spAutoFit/>
          </a:bodyPr>
          <a:lstStyle/>
          <a:p>
            <a:pPr algn="l">
              <a:lnSpc>
                <a:spcPct val="112000"/>
              </a:lnSpc>
              <a:spcAft>
                <a:spcPts val="0"/>
              </a:spcAft>
            </a:pPr>
            <a:r>
              <a:rPr sz="1100" b="1" i="0">
                <a:solidFill>
                  <a:srgbClr val="1F2937"/>
                </a:solidFill>
                <a:latin typeface="Arial"/>
              </a:rPr>
              <a:t>Urutan perbaikan yang saya sarankan</a:t>
            </a:r>
          </a:p>
        </p:txBody>
      </p:sp>
      <p:sp>
        <p:nvSpPr>
          <p:cNvPr id="10" name="TextBox 9"/>
          <p:cNvSpPr txBox="1"/>
          <p:nvPr/>
        </p:nvSpPr>
        <p:spPr>
          <a:xfrm>
            <a:off x="859536" y="5989320"/>
            <a:ext cx="10524744" cy="64007"/>
          </a:xfrm>
          <a:prstGeom prst="rect">
            <a:avLst/>
          </a:prstGeom>
          <a:noFill/>
        </p:spPr>
        <p:txBody>
          <a:bodyPr wrap="square" lIns="0" rIns="0" tIns="0" bIns="0" anchor="t">
            <a:spAutoFit/>
          </a:bodyPr>
          <a:lstStyle/>
          <a:p>
            <a:pPr algn="l">
              <a:lnSpc>
                <a:spcPct val="125000"/>
              </a:lnSpc>
              <a:spcAft>
                <a:spcPts val="0"/>
              </a:spcAft>
            </a:pPr>
            <a:r>
              <a:rPr sz="1050" b="0" i="0">
                <a:solidFill>
                  <a:srgbClr val="333D4A"/>
                </a:solidFill>
                <a:latin typeface="Arial"/>
              </a:rPr>
              <a:t>Bersihkan atau regenerate src/db/relations.ts lebih dulu — satu file ini memblokir type check dan menyumbang 98 dari 100 error lint.</a:t>
            </a:r>
          </a:p>
        </p:txBody>
      </p:sp>
      <p:sp>
        <p:nvSpPr>
          <p:cNvPr id="11" name="Rounded Rectangle 10"/>
          <p:cNvSpPr/>
          <p:nvPr/>
        </p:nvSpPr>
        <p:spPr>
          <a:xfrm>
            <a:off x="640080" y="6419088"/>
            <a:ext cx="10908792" cy="7315"/>
          </a:xfrm>
          <a:prstGeom prst="roundRect">
            <a:avLst>
              <a:gd name="adj" fmla="val 0"/>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Rounded Rectangle 11"/>
          <p:cNvSpPr/>
          <p:nvPr/>
        </p:nvSpPr>
        <p:spPr>
          <a:xfrm>
            <a:off x="640080" y="6537960"/>
            <a:ext cx="224942" cy="224942"/>
          </a:xfrm>
          <a:prstGeom prst="roundRect">
            <a:avLst>
              <a:gd name="adj" fmla="val 22000"/>
            </a:avLst>
          </a:prstGeom>
          <a:solidFill>
            <a:srgbClr val="FF5A5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TextBox 12"/>
          <p:cNvSpPr txBox="1"/>
          <p:nvPr/>
        </p:nvSpPr>
        <p:spPr>
          <a:xfrm>
            <a:off x="640080" y="6526987"/>
            <a:ext cx="224942" cy="224942"/>
          </a:xfrm>
          <a:prstGeom prst="rect">
            <a:avLst/>
          </a:prstGeom>
          <a:noFill/>
        </p:spPr>
        <p:txBody>
          <a:bodyPr wrap="square" lIns="0" rIns="0" tIns="0" bIns="0" anchor="ctr">
            <a:spAutoFit/>
          </a:bodyPr>
          <a:lstStyle/>
          <a:p>
            <a:pPr algn="ctr">
              <a:lnSpc>
                <a:spcPct val="112000"/>
              </a:lnSpc>
              <a:spcAft>
                <a:spcPts val="0"/>
              </a:spcAft>
            </a:pPr>
            <a:r>
              <a:rPr sz="1066" b="1" i="0">
                <a:solidFill>
                  <a:srgbClr val="FFFFFF"/>
                </a:solidFill>
                <a:latin typeface="Arial"/>
              </a:rPr>
              <a:t>n</a:t>
            </a:r>
          </a:p>
        </p:txBody>
      </p:sp>
      <p:sp>
        <p:nvSpPr>
          <p:cNvPr id="14" name="TextBox 13"/>
          <p:cNvSpPr txBox="1"/>
          <p:nvPr/>
        </p:nvSpPr>
        <p:spPr>
          <a:xfrm>
            <a:off x="932505" y="6510528"/>
            <a:ext cx="899769" cy="224942"/>
          </a:xfrm>
          <a:prstGeom prst="rect">
            <a:avLst/>
          </a:prstGeom>
          <a:noFill/>
        </p:spPr>
        <p:txBody>
          <a:bodyPr wrap="square" lIns="0" rIns="0" tIns="0" bIns="0" anchor="t">
            <a:spAutoFit/>
          </a:bodyPr>
          <a:lstStyle/>
          <a:p>
            <a:pPr algn="l">
              <a:lnSpc>
                <a:spcPct val="112000"/>
              </a:lnSpc>
              <a:spcAft>
                <a:spcPts val="0"/>
              </a:spcAft>
            </a:pPr>
            <a:r>
              <a:rPr sz="1066" b="1" i="0">
                <a:solidFill>
                  <a:srgbClr val="1F2937"/>
                </a:solidFill>
                <a:latin typeface="Arial"/>
              </a:rPr>
              <a:t>NgeTag</a:t>
            </a:r>
          </a:p>
        </p:txBody>
      </p:sp>
      <p:sp>
        <p:nvSpPr>
          <p:cNvPr id="15" name="TextBox 14"/>
          <p:cNvSpPr txBox="1"/>
          <p:nvPr/>
        </p:nvSpPr>
        <p:spPr>
          <a:xfrm>
            <a:off x="1600200" y="6556248"/>
            <a:ext cx="5486400" cy="201168"/>
          </a:xfrm>
          <a:prstGeom prst="rect">
            <a:avLst/>
          </a:prstGeom>
          <a:noFill/>
        </p:spPr>
        <p:txBody>
          <a:bodyPr wrap="square" lIns="0" rIns="0" tIns="0" bIns="0" anchor="t">
            <a:spAutoFit/>
          </a:bodyPr>
          <a:lstStyle/>
          <a:p>
            <a:pPr algn="l">
              <a:lnSpc>
                <a:spcPct val="112000"/>
              </a:lnSpc>
              <a:spcAft>
                <a:spcPts val="0"/>
              </a:spcAft>
            </a:pPr>
            <a:r>
              <a:rPr sz="850" b="0" i="0">
                <a:solidFill>
                  <a:srgbClr val="6B7280"/>
                </a:solidFill>
                <a:latin typeface="Arial"/>
              </a:rPr>
              <a:t>NgeTag · Review Repository &amp; Seed Data User</a:t>
            </a:r>
          </a:p>
        </p:txBody>
      </p:sp>
      <p:sp>
        <p:nvSpPr>
          <p:cNvPr id="16" name="TextBox 15"/>
          <p:cNvSpPr txBox="1"/>
          <p:nvPr/>
        </p:nvSpPr>
        <p:spPr>
          <a:xfrm>
            <a:off x="10607040" y="6556248"/>
            <a:ext cx="941832" cy="201168"/>
          </a:xfrm>
          <a:prstGeom prst="rect">
            <a:avLst/>
          </a:prstGeom>
          <a:noFill/>
        </p:spPr>
        <p:txBody>
          <a:bodyPr wrap="square" lIns="0" rIns="0" tIns="0" bIns="0" anchor="t">
            <a:spAutoFit/>
          </a:bodyPr>
          <a:lstStyle/>
          <a:p>
            <a:pPr algn="r">
              <a:lnSpc>
                <a:spcPct val="112000"/>
              </a:lnSpc>
              <a:spcAft>
                <a:spcPts val="0"/>
              </a:spcAft>
            </a:pPr>
            <a:r>
              <a:rPr sz="850" b="0" i="0">
                <a:solidFill>
                  <a:srgbClr val="6B7280"/>
                </a:solidFill>
                <a:latin typeface="Arial"/>
              </a:rPr>
              <a:t>17 / 22</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15161B"/>
        </a:solidFill>
        <a:effectLst/>
      </p:bgPr>
    </p:bg>
    <p:spTree>
      <p:nvGrpSpPr>
        <p:cNvPr id="1" name=""/>
        <p:cNvGrpSpPr/>
        <p:nvPr/>
      </p:nvGrpSpPr>
      <p:grpSpPr/>
      <p:sp>
        <p:nvSpPr>
          <p:cNvPr id="2" name="Oval 1"/>
          <p:cNvSpPr/>
          <p:nvPr/>
        </p:nvSpPr>
        <p:spPr>
          <a:xfrm>
            <a:off x="9052560" y="-1371600"/>
            <a:ext cx="4754880" cy="4754880"/>
          </a:xfrm>
          <a:prstGeom prst="ellipse">
            <a:avLst/>
          </a:prstGeom>
          <a:noFill/>
          <a:ln w="15240">
            <a:solidFill>
              <a:srgbClr val="2E3038"/>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 name="Oval 2"/>
          <p:cNvSpPr/>
          <p:nvPr/>
        </p:nvSpPr>
        <p:spPr>
          <a:xfrm>
            <a:off x="10424160" y="3566160"/>
            <a:ext cx="3291840" cy="3291840"/>
          </a:xfrm>
          <a:prstGeom prst="ellipse">
            <a:avLst/>
          </a:prstGeom>
          <a:solidFill>
            <a:srgbClr val="2324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Rounded Rectangle 3"/>
          <p:cNvSpPr/>
          <p:nvPr/>
        </p:nvSpPr>
        <p:spPr>
          <a:xfrm>
            <a:off x="640080" y="1417320"/>
            <a:ext cx="54864" cy="1874519"/>
          </a:xfrm>
          <a:prstGeom prst="roundRect">
            <a:avLst>
              <a:gd name="adj" fmla="val 0"/>
            </a:avLst>
          </a:prstGeom>
          <a:solidFill>
            <a:srgbClr val="FF5A5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TextBox 4"/>
          <p:cNvSpPr txBox="1"/>
          <p:nvPr/>
        </p:nvSpPr>
        <p:spPr>
          <a:xfrm>
            <a:off x="960120" y="1097280"/>
            <a:ext cx="3657600" cy="274320"/>
          </a:xfrm>
          <a:prstGeom prst="rect">
            <a:avLst/>
          </a:prstGeom>
          <a:noFill/>
        </p:spPr>
        <p:txBody>
          <a:bodyPr wrap="square" lIns="0" rIns="0" tIns="0" bIns="0" anchor="t">
            <a:spAutoFit/>
          </a:bodyPr>
          <a:lstStyle/>
          <a:p>
            <a:pPr algn="l">
              <a:lnSpc>
                <a:spcPct val="112000"/>
              </a:lnSpc>
              <a:spcAft>
                <a:spcPts val="0"/>
              </a:spcAft>
            </a:pPr>
            <a:r>
              <a:rPr sz="1000" b="1" i="0" spc="180">
                <a:solidFill>
                  <a:srgbClr val="FF5A5F"/>
                </a:solidFill>
                <a:latin typeface="Arial"/>
              </a:rPr>
              <a:t>SEED DATA USER</a:t>
            </a:r>
          </a:p>
        </p:txBody>
      </p:sp>
      <p:sp>
        <p:nvSpPr>
          <p:cNvPr id="6" name="TextBox 5"/>
          <p:cNvSpPr txBox="1"/>
          <p:nvPr/>
        </p:nvSpPr>
        <p:spPr>
          <a:xfrm>
            <a:off x="960120" y="1417320"/>
            <a:ext cx="2011680" cy="1005840"/>
          </a:xfrm>
          <a:prstGeom prst="rect">
            <a:avLst/>
          </a:prstGeom>
          <a:noFill/>
        </p:spPr>
        <p:txBody>
          <a:bodyPr wrap="square" lIns="0" rIns="0" tIns="0" bIns="0" anchor="t">
            <a:spAutoFit/>
          </a:bodyPr>
          <a:lstStyle/>
          <a:p>
            <a:pPr algn="l">
              <a:lnSpc>
                <a:spcPct val="112000"/>
              </a:lnSpc>
              <a:spcAft>
                <a:spcPts val="0"/>
              </a:spcAft>
            </a:pPr>
            <a:r>
              <a:rPr sz="7200" b="1" i="0">
                <a:solidFill>
                  <a:srgbClr val="FF5A5F"/>
                </a:solidFill>
                <a:latin typeface="Arial"/>
              </a:rPr>
              <a:t>04</a:t>
            </a:r>
          </a:p>
        </p:txBody>
      </p:sp>
      <p:sp>
        <p:nvSpPr>
          <p:cNvPr id="7" name="TextBox 6"/>
          <p:cNvSpPr txBox="1"/>
          <p:nvPr/>
        </p:nvSpPr>
        <p:spPr>
          <a:xfrm>
            <a:off x="960120" y="2505456"/>
            <a:ext cx="9509760" cy="868680"/>
          </a:xfrm>
          <a:prstGeom prst="rect">
            <a:avLst/>
          </a:prstGeom>
          <a:noFill/>
        </p:spPr>
        <p:txBody>
          <a:bodyPr wrap="square" lIns="0" rIns="0" tIns="0" bIns="0" anchor="t">
            <a:spAutoFit/>
          </a:bodyPr>
          <a:lstStyle/>
          <a:p>
            <a:pPr algn="l">
              <a:lnSpc>
                <a:spcPct val="112000"/>
              </a:lnSpc>
              <a:spcAft>
                <a:spcPts val="0"/>
              </a:spcAft>
            </a:pPr>
            <a:r>
              <a:rPr sz="3100" b="1" i="0">
                <a:solidFill>
                  <a:srgbClr val="FFFFFF"/>
                </a:solidFill>
                <a:latin typeface="Arial"/>
              </a:rPr>
              <a:t>Data user yang siap dipakai</a:t>
            </a:r>
          </a:p>
        </p:txBody>
      </p:sp>
      <p:sp>
        <p:nvSpPr>
          <p:cNvPr id="8" name="TextBox 7"/>
          <p:cNvSpPr txBox="1"/>
          <p:nvPr/>
        </p:nvSpPr>
        <p:spPr>
          <a:xfrm>
            <a:off x="960120" y="3529584"/>
            <a:ext cx="7132320" cy="640080"/>
          </a:xfrm>
          <a:prstGeom prst="rect">
            <a:avLst/>
          </a:prstGeom>
          <a:noFill/>
        </p:spPr>
        <p:txBody>
          <a:bodyPr wrap="square" lIns="0" rIns="0" tIns="0" bIns="0" anchor="t">
            <a:spAutoFit/>
          </a:bodyPr>
          <a:lstStyle/>
          <a:p>
            <a:pPr algn="l">
              <a:lnSpc>
                <a:spcPct val="130000"/>
              </a:lnSpc>
              <a:spcAft>
                <a:spcPts val="0"/>
              </a:spcAft>
            </a:pPr>
            <a:r>
              <a:rPr sz="1300" b="0" i="0">
                <a:solidFill>
                  <a:srgbClr val="B4BAC4"/>
                </a:solidFill>
                <a:latin typeface="Arial"/>
              </a:rPr>
              <a:t>16 customer dalam 8 varian, diturunkan dari fixture dan skema yang sudah ada di repo.</a:t>
            </a:r>
          </a:p>
        </p:txBody>
      </p:sp>
      <p:sp>
        <p:nvSpPr>
          <p:cNvPr id="9" name="Oval 8"/>
          <p:cNvSpPr/>
          <p:nvPr/>
        </p:nvSpPr>
        <p:spPr>
          <a:xfrm>
            <a:off x="978408" y="4654296"/>
            <a:ext cx="73152" cy="73152"/>
          </a:xfrm>
          <a:prstGeom prst="ellipse">
            <a:avLst/>
          </a:prstGeom>
          <a:solidFill>
            <a:srgbClr val="FF5A5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TextBox 9"/>
          <p:cNvSpPr txBox="1"/>
          <p:nvPr/>
        </p:nvSpPr>
        <p:spPr>
          <a:xfrm>
            <a:off x="1207008" y="4572000"/>
            <a:ext cx="7680960" cy="292608"/>
          </a:xfrm>
          <a:prstGeom prst="rect">
            <a:avLst/>
          </a:prstGeom>
          <a:noFill/>
        </p:spPr>
        <p:txBody>
          <a:bodyPr wrap="square" lIns="0" rIns="0" tIns="0" bIns="0" anchor="t">
            <a:spAutoFit/>
          </a:bodyPr>
          <a:lstStyle/>
          <a:p>
            <a:pPr algn="l">
              <a:lnSpc>
                <a:spcPct val="112000"/>
              </a:lnSpc>
              <a:spcAft>
                <a:spcPts val="0"/>
              </a:spcAft>
            </a:pPr>
            <a:r>
              <a:rPr sz="1200" b="0" i="0">
                <a:solidFill>
                  <a:srgbClr val="DADEE5"/>
                </a:solidFill>
                <a:latin typeface="Arial"/>
              </a:rPr>
              <a:t>Varian menutup seluruh cabang enum dan kolom nullable</a:t>
            </a:r>
          </a:p>
        </p:txBody>
      </p:sp>
      <p:sp>
        <p:nvSpPr>
          <p:cNvPr id="11" name="Oval 10"/>
          <p:cNvSpPr/>
          <p:nvPr/>
        </p:nvSpPr>
        <p:spPr>
          <a:xfrm>
            <a:off x="978408" y="5020056"/>
            <a:ext cx="73152" cy="73152"/>
          </a:xfrm>
          <a:prstGeom prst="ellipse">
            <a:avLst/>
          </a:prstGeom>
          <a:solidFill>
            <a:srgbClr val="FF5A5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TextBox 11"/>
          <p:cNvSpPr txBox="1"/>
          <p:nvPr/>
        </p:nvSpPr>
        <p:spPr>
          <a:xfrm>
            <a:off x="1207008" y="4937760"/>
            <a:ext cx="7680960" cy="292608"/>
          </a:xfrm>
          <a:prstGeom prst="rect">
            <a:avLst/>
          </a:prstGeom>
          <a:noFill/>
        </p:spPr>
        <p:txBody>
          <a:bodyPr wrap="square" lIns="0" rIns="0" tIns="0" bIns="0" anchor="t">
            <a:spAutoFit/>
          </a:bodyPr>
          <a:lstStyle/>
          <a:p>
            <a:pPr algn="l">
              <a:lnSpc>
                <a:spcPct val="112000"/>
              </a:lnSpc>
              <a:spcAft>
                <a:spcPts val="0"/>
              </a:spcAft>
            </a:pPr>
            <a:r>
              <a:rPr sz="1200" b="0" i="0">
                <a:solidFill>
                  <a:srgbClr val="DADEE5"/>
                </a:solidFill>
                <a:latin typeface="Arial"/>
              </a:rPr>
              <a:t>Idempoten: upsert, bukan truncate; aman dijalankan berulang</a:t>
            </a:r>
          </a:p>
        </p:txBody>
      </p:sp>
      <p:sp>
        <p:nvSpPr>
          <p:cNvPr id="13" name="Oval 12"/>
          <p:cNvSpPr/>
          <p:nvPr/>
        </p:nvSpPr>
        <p:spPr>
          <a:xfrm>
            <a:off x="978408" y="5385816"/>
            <a:ext cx="73152" cy="73152"/>
          </a:xfrm>
          <a:prstGeom prst="ellipse">
            <a:avLst/>
          </a:prstGeom>
          <a:solidFill>
            <a:srgbClr val="FF5A5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TextBox 13"/>
          <p:cNvSpPr txBox="1"/>
          <p:nvPr/>
        </p:nvSpPr>
        <p:spPr>
          <a:xfrm>
            <a:off x="1207008" y="5303520"/>
            <a:ext cx="7680960" cy="292608"/>
          </a:xfrm>
          <a:prstGeom prst="rect">
            <a:avLst/>
          </a:prstGeom>
          <a:noFill/>
        </p:spPr>
        <p:txBody>
          <a:bodyPr wrap="square" lIns="0" rIns="0" tIns="0" bIns="0" anchor="t">
            <a:spAutoFit/>
          </a:bodyPr>
          <a:lstStyle/>
          <a:p>
            <a:pPr algn="l">
              <a:lnSpc>
                <a:spcPct val="112000"/>
              </a:lnSpc>
              <a:spcAft>
                <a:spcPts val="0"/>
              </a:spcAft>
            </a:pPr>
            <a:r>
              <a:rPr sz="1200" b="0" i="0">
                <a:solidFill>
                  <a:srgbClr val="DADEE5"/>
                </a:solidFill>
                <a:latin typeface="Arial"/>
              </a:rPr>
              <a:t>Validasi berhenti sebelum menyentuh database bila ada invariant yang bocor</a:t>
            </a:r>
          </a:p>
        </p:txBody>
      </p:sp>
      <p:sp>
        <p:nvSpPr>
          <p:cNvPr id="15" name="Rounded Rectangle 14"/>
          <p:cNvSpPr/>
          <p:nvPr/>
        </p:nvSpPr>
        <p:spPr>
          <a:xfrm>
            <a:off x="640080" y="6400800"/>
            <a:ext cx="224942" cy="224942"/>
          </a:xfrm>
          <a:prstGeom prst="roundRect">
            <a:avLst>
              <a:gd name="adj" fmla="val 22000"/>
            </a:avLst>
          </a:prstGeom>
          <a:solidFill>
            <a:srgbClr val="FF5A5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6" name="TextBox 15"/>
          <p:cNvSpPr txBox="1"/>
          <p:nvPr/>
        </p:nvSpPr>
        <p:spPr>
          <a:xfrm>
            <a:off x="640080" y="6389827"/>
            <a:ext cx="224942" cy="224942"/>
          </a:xfrm>
          <a:prstGeom prst="rect">
            <a:avLst/>
          </a:prstGeom>
          <a:noFill/>
        </p:spPr>
        <p:txBody>
          <a:bodyPr wrap="square" lIns="0" rIns="0" tIns="0" bIns="0" anchor="ctr">
            <a:spAutoFit/>
          </a:bodyPr>
          <a:lstStyle/>
          <a:p>
            <a:pPr algn="ctr">
              <a:lnSpc>
                <a:spcPct val="112000"/>
              </a:lnSpc>
              <a:spcAft>
                <a:spcPts val="0"/>
              </a:spcAft>
            </a:pPr>
            <a:r>
              <a:rPr sz="1066" b="1" i="0">
                <a:solidFill>
                  <a:srgbClr val="FFFFFF"/>
                </a:solidFill>
                <a:latin typeface="Arial"/>
              </a:rPr>
              <a:t>n</a:t>
            </a:r>
          </a:p>
        </p:txBody>
      </p:sp>
      <p:sp>
        <p:nvSpPr>
          <p:cNvPr id="17" name="TextBox 16"/>
          <p:cNvSpPr txBox="1"/>
          <p:nvPr/>
        </p:nvSpPr>
        <p:spPr>
          <a:xfrm>
            <a:off x="932505" y="6373368"/>
            <a:ext cx="899769" cy="224942"/>
          </a:xfrm>
          <a:prstGeom prst="rect">
            <a:avLst/>
          </a:prstGeom>
          <a:noFill/>
        </p:spPr>
        <p:txBody>
          <a:bodyPr wrap="square" lIns="0" rIns="0" tIns="0" bIns="0" anchor="t">
            <a:spAutoFit/>
          </a:bodyPr>
          <a:lstStyle/>
          <a:p>
            <a:pPr algn="l">
              <a:lnSpc>
                <a:spcPct val="112000"/>
              </a:lnSpc>
              <a:spcAft>
                <a:spcPts val="0"/>
              </a:spcAft>
            </a:pPr>
            <a:r>
              <a:rPr sz="1066" b="1" i="0">
                <a:solidFill>
                  <a:srgbClr val="FFFFFF"/>
                </a:solidFill>
                <a:latin typeface="Arial"/>
              </a:rPr>
              <a:t>NgeTag</a:t>
            </a:r>
          </a:p>
        </p:txBody>
      </p:sp>
      <p:sp>
        <p:nvSpPr>
          <p:cNvPr id="18" name="TextBox 17"/>
          <p:cNvSpPr txBox="1"/>
          <p:nvPr/>
        </p:nvSpPr>
        <p:spPr>
          <a:xfrm>
            <a:off x="10607040" y="6419088"/>
            <a:ext cx="941832" cy="201168"/>
          </a:xfrm>
          <a:prstGeom prst="rect">
            <a:avLst/>
          </a:prstGeom>
          <a:noFill/>
        </p:spPr>
        <p:txBody>
          <a:bodyPr wrap="square" lIns="0" rIns="0" tIns="0" bIns="0" anchor="t">
            <a:spAutoFit/>
          </a:bodyPr>
          <a:lstStyle/>
          <a:p>
            <a:pPr algn="r">
              <a:lnSpc>
                <a:spcPct val="112000"/>
              </a:lnSpc>
              <a:spcAft>
                <a:spcPts val="0"/>
              </a:spcAft>
            </a:pPr>
            <a:r>
              <a:rPr sz="850" b="0" i="0">
                <a:solidFill>
                  <a:srgbClr val="7A828E"/>
                </a:solidFill>
                <a:latin typeface="Arial"/>
              </a:rPr>
              <a:t>04</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AFAFB"/>
        </a:solidFill>
        <a:effectLst/>
      </p:bgPr>
    </p:bg>
    <p:spTree>
      <p:nvGrpSpPr>
        <p:cNvPr id="1" name=""/>
        <p:cNvGrpSpPr/>
        <p:nvPr/>
      </p:nvGrpSpPr>
      <p:grpSpPr/>
      <p:sp>
        <p:nvSpPr>
          <p:cNvPr id="2" name="TextBox 1"/>
          <p:cNvSpPr txBox="1"/>
          <p:nvPr/>
        </p:nvSpPr>
        <p:spPr>
          <a:xfrm>
            <a:off x="640080" y="384048"/>
            <a:ext cx="9601200" cy="228600"/>
          </a:xfrm>
          <a:prstGeom prst="rect">
            <a:avLst/>
          </a:prstGeom>
          <a:noFill/>
        </p:spPr>
        <p:txBody>
          <a:bodyPr wrap="square" lIns="0" rIns="0" tIns="0" bIns="0" anchor="t">
            <a:spAutoFit/>
          </a:bodyPr>
          <a:lstStyle/>
          <a:p>
            <a:pPr algn="l">
              <a:lnSpc>
                <a:spcPct val="112000"/>
              </a:lnSpc>
              <a:spcAft>
                <a:spcPts val="0"/>
              </a:spcAft>
            </a:pPr>
            <a:r>
              <a:rPr sz="1000" b="1" i="0" spc="140">
                <a:solidFill>
                  <a:srgbClr val="FF5A5F"/>
                </a:solidFill>
                <a:latin typeface="Arial"/>
              </a:rPr>
              <a:t>04 · SEED DATA USER</a:t>
            </a:r>
          </a:p>
        </p:txBody>
      </p:sp>
      <p:sp>
        <p:nvSpPr>
          <p:cNvPr id="3" name="TextBox 2"/>
          <p:cNvSpPr txBox="1"/>
          <p:nvPr/>
        </p:nvSpPr>
        <p:spPr>
          <a:xfrm>
            <a:off x="640080" y="621792"/>
            <a:ext cx="10881360" cy="566928"/>
          </a:xfrm>
          <a:prstGeom prst="rect">
            <a:avLst/>
          </a:prstGeom>
          <a:noFill/>
        </p:spPr>
        <p:txBody>
          <a:bodyPr wrap="square" lIns="0" rIns="0" tIns="0" bIns="0" anchor="t">
            <a:spAutoFit/>
          </a:bodyPr>
          <a:lstStyle/>
          <a:p>
            <a:pPr algn="l">
              <a:lnSpc>
                <a:spcPct val="112000"/>
              </a:lnSpc>
              <a:spcAft>
                <a:spcPts val="0"/>
              </a:spcAft>
            </a:pPr>
            <a:r>
              <a:rPr sz="2600" b="1" i="0">
                <a:solidFill>
                  <a:srgbClr val="1F2937"/>
                </a:solidFill>
                <a:latin typeface="Arial"/>
              </a:rPr>
              <a:t>16 user, 8 varian, semuanya diturunkan dari repo</a:t>
            </a:r>
          </a:p>
        </p:txBody>
      </p:sp>
      <p:sp>
        <p:nvSpPr>
          <p:cNvPr id="4" name="TextBox 3"/>
          <p:cNvSpPr txBox="1"/>
          <p:nvPr/>
        </p:nvSpPr>
        <p:spPr>
          <a:xfrm>
            <a:off x="640080" y="1225296"/>
            <a:ext cx="10424160" cy="365760"/>
          </a:xfrm>
          <a:prstGeom prst="rect">
            <a:avLst/>
          </a:prstGeom>
          <a:noFill/>
        </p:spPr>
        <p:txBody>
          <a:bodyPr wrap="square" lIns="0" rIns="0" tIns="0" bIns="0" anchor="t">
            <a:spAutoFit/>
          </a:bodyPr>
          <a:lstStyle/>
          <a:p>
            <a:pPr algn="l">
              <a:lnSpc>
                <a:spcPct val="112000"/>
              </a:lnSpc>
              <a:spcAft>
                <a:spcPts val="0"/>
              </a:spcAft>
            </a:pPr>
            <a:r>
              <a:rPr sz="1250" b="0" i="0">
                <a:solidFill>
                  <a:srgbClr val="6B7280"/>
                </a:solidFill>
                <a:latin typeface="Arial"/>
              </a:rPr>
              <a:t>u-demo dari fixtures/users.ts; u1–u8 dari author review; interest i-* dan tag t1–t20 dari fixture.</a:t>
            </a:r>
          </a:p>
        </p:txBody>
      </p:sp>
      <p:sp>
        <p:nvSpPr>
          <p:cNvPr id="5" name="Rounded Rectangle 4"/>
          <p:cNvSpPr/>
          <p:nvPr/>
        </p:nvSpPr>
        <p:spPr>
          <a:xfrm>
            <a:off x="640080" y="1170432"/>
            <a:ext cx="502920" cy="32004"/>
          </a:xfrm>
          <a:prstGeom prst="roundRect">
            <a:avLst>
              <a:gd name="adj" fmla="val 0"/>
            </a:avLst>
          </a:prstGeom>
          <a:solidFill>
            <a:srgbClr val="FF5A5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graphicFrame>
        <p:nvGraphicFramePr>
          <p:cNvPr id="6" name="Table 5"/>
          <p:cNvGraphicFramePr>
            <a:graphicFrameLocks noGrp="1"/>
          </p:cNvGraphicFramePr>
          <p:nvPr/>
        </p:nvGraphicFramePr>
        <p:xfrm>
          <a:off x="640080" y="1737360"/>
          <a:ext cx="10908792" cy="3950208"/>
        </p:xfrm>
        <a:graphic>
          <a:graphicData uri="http://schemas.openxmlformats.org/drawingml/2006/table">
            <a:tbl>
              <a:tblPr firstRow="0" bandRow="0"/>
              <a:tblGrid>
                <a:gridCol w="2148840"/>
                <a:gridCol w="685800"/>
                <a:gridCol w="2514600"/>
                <a:gridCol w="5559552"/>
              </a:tblGrid>
              <a:tr h="329184">
                <a:tc>
                  <a:txBody>
                    <a:bodyPr wrap="square"/>
                    <a:lstStyle/>
                    <a:p>
                      <a:pPr algn="l"/>
                      <a:r>
                        <a:rPr sz="900" b="1">
                          <a:solidFill>
                            <a:srgbClr val="FFFFFF"/>
                          </a:solidFill>
                          <a:latin typeface="Arial"/>
                        </a:rPr>
                        <a:t>Varian</a:t>
                      </a:r>
                    </a:p>
                  </a:txBody>
                  <a:tcPr marL="91440" marR="73152" marT="27432" marB="27432" anchor="ctr">
                    <a:solidFill>
                      <a:srgbClr val="1F2937"/>
                    </a:solidFill>
                  </a:tcPr>
                </a:tc>
                <a:tc>
                  <a:txBody>
                    <a:bodyPr wrap="square"/>
                    <a:lstStyle/>
                    <a:p>
                      <a:pPr algn="l"/>
                      <a:r>
                        <a:rPr sz="900" b="1">
                          <a:solidFill>
                            <a:srgbClr val="FFFFFF"/>
                          </a:solidFill>
                          <a:latin typeface="Arial"/>
                        </a:rPr>
                        <a:t>Jml</a:t>
                      </a:r>
                    </a:p>
                  </a:txBody>
                  <a:tcPr marL="91440" marR="73152" marT="27432" marB="27432" anchor="ctr">
                    <a:solidFill>
                      <a:srgbClr val="1F2937"/>
                    </a:solidFill>
                  </a:tcPr>
                </a:tc>
                <a:tc>
                  <a:txBody>
                    <a:bodyPr wrap="square"/>
                    <a:lstStyle/>
                    <a:p>
                      <a:pPr algn="l"/>
                      <a:r>
                        <a:rPr sz="900" b="1">
                          <a:solidFill>
                            <a:srgbClr val="FFFFFF"/>
                          </a:solidFill>
                          <a:latin typeface="Arial"/>
                        </a:rPr>
                        <a:t>Id contoh</a:t>
                      </a:r>
                    </a:p>
                  </a:txBody>
                  <a:tcPr marL="91440" marR="73152" marT="27432" marB="27432" anchor="ctr">
                    <a:solidFill>
                      <a:srgbClr val="1F2937"/>
                    </a:solidFill>
                  </a:tcPr>
                </a:tc>
                <a:tc>
                  <a:txBody>
                    <a:bodyPr wrap="square"/>
                    <a:lstStyle/>
                    <a:p>
                      <a:pPr algn="l"/>
                      <a:r>
                        <a:rPr sz="900" b="1">
                          <a:solidFill>
                            <a:srgbClr val="FFFFFF"/>
                          </a:solidFill>
                          <a:latin typeface="Arial"/>
                        </a:rPr>
                        <a:t>Fokus uji</a:t>
                      </a:r>
                    </a:p>
                  </a:txBody>
                  <a:tcPr marL="91440" marR="73152" marT="27432" marB="27432" anchor="ctr">
                    <a:solidFill>
                      <a:srgbClr val="1F2937"/>
                    </a:solidFill>
                  </a:tcPr>
                </a:tc>
              </a:tr>
              <a:tr h="402336">
                <a:tc>
                  <a:txBody>
                    <a:bodyPr wrap="square"/>
                    <a:lstStyle/>
                    <a:p>
                      <a:pPr algn="l"/>
                      <a:r>
                        <a:rPr sz="960" b="0">
                          <a:solidFill>
                            <a:srgbClr val="333D4A"/>
                          </a:solidFill>
                          <a:latin typeface="Arial"/>
                        </a:rPr>
                        <a:t>Demo baseline</a:t>
                      </a:r>
                    </a:p>
                  </a:txBody>
                  <a:tcPr marL="91440" marR="73152" marT="27432" marB="27432" anchor="ctr">
                    <a:solidFill>
                      <a:srgbClr val="FFFFFF"/>
                    </a:solidFill>
                  </a:tcPr>
                </a:tc>
                <a:tc>
                  <a:txBody>
                    <a:bodyPr wrap="square"/>
                    <a:lstStyle/>
                    <a:p>
                      <a:pPr algn="l"/>
                      <a:r>
                        <a:rPr sz="960" b="0">
                          <a:solidFill>
                            <a:srgbClr val="333D4A"/>
                          </a:solidFill>
                          <a:latin typeface="Arial"/>
                        </a:rPr>
                        <a:t>1</a:t>
                      </a:r>
                    </a:p>
                  </a:txBody>
                  <a:tcPr marL="91440" marR="73152" marT="27432" marB="27432" anchor="ctr">
                    <a:solidFill>
                      <a:srgbClr val="FFFFFF"/>
                    </a:solidFill>
                  </a:tcPr>
                </a:tc>
                <a:tc>
                  <a:txBody>
                    <a:bodyPr wrap="square"/>
                    <a:lstStyle/>
                    <a:p>
                      <a:pPr algn="l"/>
                      <a:r>
                        <a:rPr sz="960" b="0">
                          <a:solidFill>
                            <a:srgbClr val="333D4A"/>
                          </a:solidFill>
                          <a:latin typeface="Arial"/>
                        </a:rPr>
                        <a:t>u-demo</a:t>
                      </a:r>
                    </a:p>
                  </a:txBody>
                  <a:tcPr marL="91440" marR="73152" marT="27432" marB="27432" anchor="ctr">
                    <a:solidFill>
                      <a:srgbClr val="FFFFFF"/>
                    </a:solidFill>
                  </a:tcPr>
                </a:tc>
                <a:tc>
                  <a:txBody>
                    <a:bodyPr wrap="square"/>
                    <a:lstStyle/>
                    <a:p>
                      <a:pPr algn="l"/>
                      <a:r>
                        <a:rPr sz="960" b="0">
                          <a:solidFill>
                            <a:srgbClr val="333D4A"/>
                          </a:solidFill>
                          <a:latin typeface="Arial"/>
                        </a:rPr>
                        <a:t>5 badge (semua kategori), 4 interest, 3 favorite tag</a:t>
                      </a:r>
                    </a:p>
                  </a:txBody>
                  <a:tcPr marL="91440" marR="73152" marT="27432" marB="27432" anchor="ctr">
                    <a:solidFill>
                      <a:srgbClr val="FFFFFF"/>
                    </a:solidFill>
                  </a:tcPr>
                </a:tc>
              </a:tr>
              <a:tr h="402336">
                <a:tc>
                  <a:txBody>
                    <a:bodyPr wrap="square"/>
                    <a:lstStyle/>
                    <a:p>
                      <a:pPr algn="l"/>
                      <a:r>
                        <a:rPr sz="960" b="0">
                          <a:solidFill>
                            <a:srgbClr val="333D4A"/>
                          </a:solidFill>
                          <a:latin typeface="Arial"/>
                        </a:rPr>
                        <a:t>Review author</a:t>
                      </a:r>
                    </a:p>
                  </a:txBody>
                  <a:tcPr marL="91440" marR="73152" marT="27432" marB="27432" anchor="ctr">
                    <a:solidFill>
                      <a:srgbClr val="F3F4F6"/>
                    </a:solidFill>
                  </a:tcPr>
                </a:tc>
                <a:tc>
                  <a:txBody>
                    <a:bodyPr wrap="square"/>
                    <a:lstStyle/>
                    <a:p>
                      <a:pPr algn="l"/>
                      <a:r>
                        <a:rPr sz="960" b="0">
                          <a:solidFill>
                            <a:srgbClr val="333D4A"/>
                          </a:solidFill>
                          <a:latin typeface="Arial"/>
                        </a:rPr>
                        <a:t>8</a:t>
                      </a:r>
                    </a:p>
                  </a:txBody>
                  <a:tcPr marL="91440" marR="73152" marT="27432" marB="27432" anchor="ctr">
                    <a:solidFill>
                      <a:srgbClr val="F3F4F6"/>
                    </a:solidFill>
                  </a:tcPr>
                </a:tc>
                <a:tc>
                  <a:txBody>
                    <a:bodyPr wrap="square"/>
                    <a:lstStyle/>
                    <a:p>
                      <a:pPr algn="l"/>
                      <a:r>
                        <a:rPr sz="960" b="0">
                          <a:solidFill>
                            <a:srgbClr val="333D4A"/>
                          </a:solidFill>
                          <a:latin typeface="Arial"/>
                        </a:rPr>
                        <a:t>u1 … u8</a:t>
                      </a:r>
                    </a:p>
                  </a:txBody>
                  <a:tcPr marL="91440" marR="73152" marT="27432" marB="27432" anchor="ctr">
                    <a:solidFill>
                      <a:srgbClr val="F3F4F6"/>
                    </a:solidFill>
                  </a:tcPr>
                </a:tc>
                <a:tc>
                  <a:txBody>
                    <a:bodyPr wrap="square"/>
                    <a:lstStyle/>
                    <a:p>
                      <a:pPr algn="l"/>
                      <a:r>
                        <a:rPr sz="960" b="0">
                          <a:solidFill>
                            <a:srgbClr val="333D4A"/>
                          </a:solidFill>
                          <a:latin typeface="Arial"/>
                        </a:rPr>
                        <a:t>authorId, nama, avatar, joinedAt sinkron dengan ulasan</a:t>
                      </a:r>
                    </a:p>
                  </a:txBody>
                  <a:tcPr marL="91440" marR="73152" marT="27432" marB="27432" anchor="ctr">
                    <a:solidFill>
                      <a:srgbClr val="F3F4F6"/>
                    </a:solidFill>
                  </a:tcPr>
                </a:tc>
              </a:tr>
              <a:tr h="402336">
                <a:tc>
                  <a:txBody>
                    <a:bodyPr wrap="square"/>
                    <a:lstStyle/>
                    <a:p>
                      <a:pPr algn="l"/>
                      <a:r>
                        <a:rPr sz="960" b="0">
                          <a:solidFill>
                            <a:srgbClr val="333D4A"/>
                          </a:solidFill>
                          <a:latin typeface="Arial"/>
                        </a:rPr>
                        <a:t>Admin internal</a:t>
                      </a:r>
                    </a:p>
                  </a:txBody>
                  <a:tcPr marL="91440" marR="73152" marT="27432" marB="27432" anchor="ctr">
                    <a:solidFill>
                      <a:srgbClr val="FFFFFF"/>
                    </a:solidFill>
                  </a:tcPr>
                </a:tc>
                <a:tc>
                  <a:txBody>
                    <a:bodyPr wrap="square"/>
                    <a:lstStyle/>
                    <a:p>
                      <a:pPr algn="l"/>
                      <a:r>
                        <a:rPr sz="960" b="0">
                          <a:solidFill>
                            <a:srgbClr val="333D4A"/>
                          </a:solidFill>
                          <a:latin typeface="Arial"/>
                        </a:rPr>
                        <a:t>1</a:t>
                      </a:r>
                    </a:p>
                  </a:txBody>
                  <a:tcPr marL="91440" marR="73152" marT="27432" marB="27432" anchor="ctr">
                    <a:solidFill>
                      <a:srgbClr val="FFFFFF"/>
                    </a:solidFill>
                  </a:tcPr>
                </a:tc>
                <a:tc>
                  <a:txBody>
                    <a:bodyPr wrap="square"/>
                    <a:lstStyle/>
                    <a:p>
                      <a:pPr algn="l"/>
                      <a:r>
                        <a:rPr sz="960" b="0">
                          <a:solidFill>
                            <a:srgbClr val="333D4A"/>
                          </a:solidFill>
                          <a:latin typeface="Arial"/>
                        </a:rPr>
                        <a:t>u-admin-curator</a:t>
                      </a:r>
                    </a:p>
                  </a:txBody>
                  <a:tcPr marL="91440" marR="73152" marT="27432" marB="27432" anchor="ctr">
                    <a:solidFill>
                      <a:srgbClr val="FFFFFF"/>
                    </a:solidFill>
                  </a:tcPr>
                </a:tc>
                <a:tc>
                  <a:txBody>
                    <a:bodyPr wrap="square"/>
                    <a:lstStyle/>
                    <a:p>
                      <a:pPr algn="l"/>
                      <a:r>
                        <a:rPr sz="960" b="0">
                          <a:solidFill>
                            <a:srgbClr val="333D4A"/>
                          </a:solidFill>
                          <a:latin typeface="Arial"/>
                        </a:rPr>
                        <a:t>role admin, 7 interest, poin 5.000</a:t>
                      </a:r>
                    </a:p>
                  </a:txBody>
                  <a:tcPr marL="91440" marR="73152" marT="27432" marB="27432" anchor="ctr">
                    <a:solidFill>
                      <a:srgbClr val="FFFFFF"/>
                    </a:solidFill>
                  </a:tcPr>
                </a:tc>
              </a:tr>
              <a:tr h="402336">
                <a:tc>
                  <a:txBody>
                    <a:bodyPr wrap="square"/>
                    <a:lstStyle/>
                    <a:p>
                      <a:pPr algn="l"/>
                      <a:r>
                        <a:rPr sz="960" b="0">
                          <a:solidFill>
                            <a:srgbClr val="333D4A"/>
                          </a:solidFill>
                          <a:latin typeface="Arial"/>
                        </a:rPr>
                        <a:t>Owner / organizer</a:t>
                      </a:r>
                    </a:p>
                  </a:txBody>
                  <a:tcPr marL="91440" marR="73152" marT="27432" marB="27432" anchor="ctr">
                    <a:solidFill>
                      <a:srgbClr val="F3F4F6"/>
                    </a:solidFill>
                  </a:tcPr>
                </a:tc>
                <a:tc>
                  <a:txBody>
                    <a:bodyPr wrap="square"/>
                    <a:lstStyle/>
                    <a:p>
                      <a:pPr algn="l"/>
                      <a:r>
                        <a:rPr sz="960" b="0">
                          <a:solidFill>
                            <a:srgbClr val="333D4A"/>
                          </a:solidFill>
                          <a:latin typeface="Arial"/>
                        </a:rPr>
                        <a:t>2</a:t>
                      </a:r>
                    </a:p>
                  </a:txBody>
                  <a:tcPr marL="91440" marR="73152" marT="27432" marB="27432" anchor="ctr">
                    <a:solidFill>
                      <a:srgbClr val="F3F4F6"/>
                    </a:solidFill>
                  </a:tcPr>
                </a:tc>
                <a:tc>
                  <a:txBody>
                    <a:bodyPr wrap="square"/>
                    <a:lstStyle/>
                    <a:p>
                      <a:pPr algn="l"/>
                      <a:r>
                        <a:rPr sz="960" b="0">
                          <a:solidFill>
                            <a:srgbClr val="333D4A"/>
                          </a:solidFill>
                          <a:latin typeface="Arial"/>
                        </a:rPr>
                        <a:t>u-owner-kopi-tuku</a:t>
                      </a:r>
                    </a:p>
                  </a:txBody>
                  <a:tcPr marL="91440" marR="73152" marT="27432" marB="27432" anchor="ctr">
                    <a:solidFill>
                      <a:srgbClr val="F3F4F6"/>
                    </a:solidFill>
                  </a:tcPr>
                </a:tc>
                <a:tc>
                  <a:txBody>
                    <a:bodyPr wrap="square"/>
                    <a:lstStyle/>
                    <a:p>
                      <a:pPr algn="l"/>
                      <a:r>
                        <a:rPr sz="960" b="0">
                          <a:solidFill>
                            <a:srgbClr val="333D4A"/>
                          </a:solidFill>
                          <a:latin typeface="Arial"/>
                        </a:rPr>
                        <a:t>role owner di sisi B2C, beda dari tabel owners</a:t>
                      </a:r>
                    </a:p>
                  </a:txBody>
                  <a:tcPr marL="91440" marR="73152" marT="27432" marB="27432" anchor="ctr">
                    <a:solidFill>
                      <a:srgbClr val="F3F4F6"/>
                    </a:solidFill>
                  </a:tcPr>
                </a:tc>
              </a:tr>
              <a:tr h="402336">
                <a:tc>
                  <a:txBody>
                    <a:bodyPr wrap="square"/>
                    <a:lstStyle/>
                    <a:p>
                      <a:pPr algn="l"/>
                      <a:r>
                        <a:rPr sz="960" b="0">
                          <a:solidFill>
                            <a:srgbClr val="333D4A"/>
                          </a:solidFill>
                          <a:latin typeface="Arial"/>
                        </a:rPr>
                        <a:t>Power user</a:t>
                      </a:r>
                    </a:p>
                  </a:txBody>
                  <a:tcPr marL="91440" marR="73152" marT="27432" marB="27432" anchor="ctr">
                    <a:solidFill>
                      <a:srgbClr val="FFFFFF"/>
                    </a:solidFill>
                  </a:tcPr>
                </a:tc>
                <a:tc>
                  <a:txBody>
                    <a:bodyPr wrap="square"/>
                    <a:lstStyle/>
                    <a:p>
                      <a:pPr algn="l"/>
                      <a:r>
                        <a:rPr sz="960" b="0">
                          <a:solidFill>
                            <a:srgbClr val="333D4A"/>
                          </a:solidFill>
                          <a:latin typeface="Arial"/>
                        </a:rPr>
                        <a:t>1</a:t>
                      </a:r>
                    </a:p>
                  </a:txBody>
                  <a:tcPr marL="91440" marR="73152" marT="27432" marB="27432" anchor="ctr">
                    <a:solidFill>
                      <a:srgbClr val="FFFFFF"/>
                    </a:solidFill>
                  </a:tcPr>
                </a:tc>
                <a:tc>
                  <a:txBody>
                    <a:bodyPr wrap="square"/>
                    <a:lstStyle/>
                    <a:p>
                      <a:pPr algn="l"/>
                      <a:r>
                        <a:rPr sz="960" b="0">
                          <a:solidFill>
                            <a:srgbClr val="333D4A"/>
                          </a:solidFill>
                          <a:latin typeface="Arial"/>
                        </a:rPr>
                        <a:t>u-power-salsabila</a:t>
                      </a:r>
                    </a:p>
                  </a:txBody>
                  <a:tcPr marL="91440" marR="73152" marT="27432" marB="27432" anchor="ctr">
                    <a:solidFill>
                      <a:srgbClr val="FFFFFF"/>
                    </a:solidFill>
                  </a:tcPr>
                </a:tc>
                <a:tc>
                  <a:txBody>
                    <a:bodyPr wrap="square"/>
                    <a:lstStyle/>
                    <a:p>
                      <a:pPr algn="l"/>
                      <a:r>
                        <a:rPr sz="960" b="0">
                          <a:solidFill>
                            <a:srgbClr val="333D4A"/>
                          </a:solidFill>
                          <a:latin typeface="Arial"/>
                        </a:rPr>
                        <a:t>20 favorite tag, 10 badge, poin 4.200</a:t>
                      </a:r>
                    </a:p>
                  </a:txBody>
                  <a:tcPr marL="91440" marR="73152" marT="27432" marB="27432" anchor="ctr">
                    <a:solidFill>
                      <a:srgbClr val="FFFFFF"/>
                    </a:solidFill>
                  </a:tcPr>
                </a:tc>
              </a:tr>
              <a:tr h="402336">
                <a:tc>
                  <a:txBody>
                    <a:bodyPr wrap="square"/>
                    <a:lstStyle/>
                    <a:p>
                      <a:pPr algn="l"/>
                      <a:r>
                        <a:rPr sz="960" b="0">
                          <a:solidFill>
                            <a:srgbClr val="333D4A"/>
                          </a:solidFill>
                          <a:latin typeface="Arial"/>
                        </a:rPr>
                        <a:t>User baru</a:t>
                      </a:r>
                    </a:p>
                  </a:txBody>
                  <a:tcPr marL="91440" marR="73152" marT="27432" marB="27432" anchor="ctr">
                    <a:solidFill>
                      <a:srgbClr val="F3F4F6"/>
                    </a:solidFill>
                  </a:tcPr>
                </a:tc>
                <a:tc>
                  <a:txBody>
                    <a:bodyPr wrap="square"/>
                    <a:lstStyle/>
                    <a:p>
                      <a:pPr algn="l"/>
                      <a:r>
                        <a:rPr sz="960" b="0">
                          <a:solidFill>
                            <a:srgbClr val="333D4A"/>
                          </a:solidFill>
                          <a:latin typeface="Arial"/>
                        </a:rPr>
                        <a:t>1</a:t>
                      </a:r>
                    </a:p>
                  </a:txBody>
                  <a:tcPr marL="91440" marR="73152" marT="27432" marB="27432" anchor="ctr">
                    <a:solidFill>
                      <a:srgbClr val="F3F4F6"/>
                    </a:solidFill>
                  </a:tcPr>
                </a:tc>
                <a:tc>
                  <a:txBody>
                    <a:bodyPr wrap="square"/>
                    <a:lstStyle/>
                    <a:p>
                      <a:pPr algn="l"/>
                      <a:r>
                        <a:rPr sz="960" b="0">
                          <a:solidFill>
                            <a:srgbClr val="333D4A"/>
                          </a:solidFill>
                          <a:latin typeface="Arial"/>
                        </a:rPr>
                        <a:t>u-new-rani</a:t>
                      </a:r>
                    </a:p>
                  </a:txBody>
                  <a:tcPr marL="91440" marR="73152" marT="27432" marB="27432" anchor="ctr">
                    <a:solidFill>
                      <a:srgbClr val="F3F4F6"/>
                    </a:solidFill>
                  </a:tcPr>
                </a:tc>
                <a:tc>
                  <a:txBody>
                    <a:bodyPr wrap="square"/>
                    <a:lstStyle/>
                    <a:p>
                      <a:pPr algn="l"/>
                      <a:r>
                        <a:rPr sz="960" b="0">
                          <a:solidFill>
                            <a:srgbClr val="333D4A"/>
                          </a:solidFill>
                          <a:latin typeface="Arial"/>
                        </a:rPr>
                        <a:t>avatar, bio, badge, preferences semuanya null</a:t>
                      </a:r>
                    </a:p>
                  </a:txBody>
                  <a:tcPr marL="91440" marR="73152" marT="27432" marB="27432" anchor="ctr">
                    <a:solidFill>
                      <a:srgbClr val="F3F4F6"/>
                    </a:solidFill>
                  </a:tcPr>
                </a:tc>
              </a:tr>
              <a:tr h="402336">
                <a:tc>
                  <a:txBody>
                    <a:bodyPr wrap="square"/>
                    <a:lstStyle/>
                    <a:p>
                      <a:pPr algn="l"/>
                      <a:r>
                        <a:rPr sz="960" b="0">
                          <a:solidFill>
                            <a:srgbClr val="333D4A"/>
                          </a:solidFill>
                          <a:latin typeface="Arial"/>
                        </a:rPr>
                        <a:t>User lama (sparse)</a:t>
                      </a:r>
                    </a:p>
                  </a:txBody>
                  <a:tcPr marL="91440" marR="73152" marT="27432" marB="27432" anchor="ctr">
                    <a:solidFill>
                      <a:srgbClr val="FFFFFF"/>
                    </a:solidFill>
                  </a:tcPr>
                </a:tc>
                <a:tc>
                  <a:txBody>
                    <a:bodyPr wrap="square"/>
                    <a:lstStyle/>
                    <a:p>
                      <a:pPr algn="l"/>
                      <a:r>
                        <a:rPr sz="960" b="0">
                          <a:solidFill>
                            <a:srgbClr val="333D4A"/>
                          </a:solidFill>
                          <a:latin typeface="Arial"/>
                        </a:rPr>
                        <a:t>1</a:t>
                      </a:r>
                    </a:p>
                  </a:txBody>
                  <a:tcPr marL="91440" marR="73152" marT="27432" marB="27432" anchor="ctr">
                    <a:solidFill>
                      <a:srgbClr val="FFFFFF"/>
                    </a:solidFill>
                  </a:tcPr>
                </a:tc>
                <a:tc>
                  <a:txBody>
                    <a:bodyPr wrap="square"/>
                    <a:lstStyle/>
                    <a:p>
                      <a:pPr algn="l"/>
                      <a:r>
                        <a:rPr sz="960" b="0">
                          <a:solidFill>
                            <a:srgbClr val="333D4A"/>
                          </a:solidFill>
                          <a:latin typeface="Arial"/>
                        </a:rPr>
                        <a:t>u-legacy-budi</a:t>
                      </a:r>
                    </a:p>
                  </a:txBody>
                  <a:tcPr marL="91440" marR="73152" marT="27432" marB="27432" anchor="ctr">
                    <a:solidFill>
                      <a:srgbClr val="FFFFFF"/>
                    </a:solidFill>
                  </a:tcPr>
                </a:tc>
                <a:tc>
                  <a:txBody>
                    <a:bodyPr wrap="square"/>
                    <a:lstStyle/>
                    <a:p>
                      <a:pPr algn="l"/>
                      <a:r>
                        <a:rPr sz="960" b="0">
                          <a:solidFill>
                            <a:srgbClr val="333D4A"/>
                          </a:solidFill>
                          <a:latin typeface="Arial"/>
                        </a:rPr>
                        <a:t>preferences tanpa city, 1 interest</a:t>
                      </a:r>
                    </a:p>
                  </a:txBody>
                  <a:tcPr marL="91440" marR="73152" marT="27432" marB="27432" anchor="ctr">
                    <a:solidFill>
                      <a:srgbClr val="FFFFFF"/>
                    </a:solidFill>
                  </a:tcPr>
                </a:tc>
              </a:tr>
              <a:tr h="402336">
                <a:tc>
                  <a:txBody>
                    <a:bodyPr wrap="square"/>
                    <a:lstStyle/>
                    <a:p>
                      <a:pPr algn="l"/>
                      <a:r>
                        <a:rPr sz="960" b="0">
                          <a:solidFill>
                            <a:srgbClr val="333D4A"/>
                          </a:solidFill>
                          <a:latin typeface="Arial"/>
                        </a:rPr>
                        <a:t>Luar Jakarta</a:t>
                      </a:r>
                    </a:p>
                  </a:txBody>
                  <a:tcPr marL="91440" marR="73152" marT="27432" marB="27432" anchor="ctr">
                    <a:solidFill>
                      <a:srgbClr val="F3F4F6"/>
                    </a:solidFill>
                  </a:tcPr>
                </a:tc>
                <a:tc>
                  <a:txBody>
                    <a:bodyPr wrap="square"/>
                    <a:lstStyle/>
                    <a:p>
                      <a:pPr algn="l"/>
                      <a:r>
                        <a:rPr sz="960" b="0">
                          <a:solidFill>
                            <a:srgbClr val="333D4A"/>
                          </a:solidFill>
                          <a:latin typeface="Arial"/>
                        </a:rPr>
                        <a:t>1</a:t>
                      </a:r>
                    </a:p>
                  </a:txBody>
                  <a:tcPr marL="91440" marR="73152" marT="27432" marB="27432" anchor="ctr">
                    <a:solidFill>
                      <a:srgbClr val="F3F4F6"/>
                    </a:solidFill>
                  </a:tcPr>
                </a:tc>
                <a:tc>
                  <a:txBody>
                    <a:bodyPr wrap="square"/>
                    <a:lstStyle/>
                    <a:p>
                      <a:pPr algn="l"/>
                      <a:r>
                        <a:rPr sz="960" b="0">
                          <a:solidFill>
                            <a:srgbClr val="333D4A"/>
                          </a:solidFill>
                          <a:latin typeface="Arial"/>
                        </a:rPr>
                        <a:t>u-bandung-yoga</a:t>
                      </a:r>
                    </a:p>
                  </a:txBody>
                  <a:tcPr marL="91440" marR="73152" marT="27432" marB="27432" anchor="ctr">
                    <a:solidFill>
                      <a:srgbClr val="F3F4F6"/>
                    </a:solidFill>
                  </a:tcPr>
                </a:tc>
                <a:tc>
                  <a:txBody>
                    <a:bodyPr wrap="square"/>
                    <a:lstStyle/>
                    <a:p>
                      <a:pPr algn="l"/>
                      <a:r>
                        <a:rPr sz="960" b="0">
                          <a:solidFill>
                            <a:srgbClr val="333D4A"/>
                          </a:solidFill>
                          <a:latin typeface="Arial"/>
                        </a:rPr>
                        <a:t>city Bandung untuk uji filter non-Jakarta</a:t>
                      </a:r>
                    </a:p>
                  </a:txBody>
                  <a:tcPr marL="91440" marR="73152" marT="27432" marB="27432" anchor="ctr">
                    <a:solidFill>
                      <a:srgbClr val="F3F4F6"/>
                    </a:solidFill>
                  </a:tcPr>
                </a:tc>
              </a:tr>
              <a:tr h="402336">
                <a:tc>
                  <a:txBody>
                    <a:bodyPr wrap="square"/>
                    <a:lstStyle/>
                    <a:p>
                      <a:pPr algn="l"/>
                      <a:r>
                        <a:rPr sz="960" b="0">
                          <a:solidFill>
                            <a:srgbClr val="333D4A"/>
                          </a:solidFill>
                          <a:latin typeface="Arial"/>
                        </a:rPr>
                        <a:t>Total</a:t>
                      </a:r>
                    </a:p>
                  </a:txBody>
                  <a:tcPr marL="91440" marR="73152" marT="27432" marB="27432" anchor="ctr">
                    <a:solidFill>
                      <a:srgbClr val="FFFFFF"/>
                    </a:solidFill>
                  </a:tcPr>
                </a:tc>
                <a:tc>
                  <a:txBody>
                    <a:bodyPr wrap="square"/>
                    <a:lstStyle/>
                    <a:p>
                      <a:pPr algn="l"/>
                      <a:r>
                        <a:rPr sz="960" b="0">
                          <a:solidFill>
                            <a:srgbClr val="333D4A"/>
                          </a:solidFill>
                          <a:latin typeface="Arial"/>
                        </a:rPr>
                        <a:t>16</a:t>
                      </a:r>
                    </a:p>
                  </a:txBody>
                  <a:tcPr marL="91440" marR="73152" marT="27432" marB="27432" anchor="ctr">
                    <a:solidFill>
                      <a:srgbClr val="FFFFFF"/>
                    </a:solidFill>
                  </a:tcPr>
                </a:tc>
                <a:tc>
                  <a:txBody>
                    <a:bodyPr wrap="square"/>
                    <a:lstStyle/>
                    <a:p>
                      <a:pPr algn="l"/>
                      <a:r>
                        <a:rPr sz="960" b="0">
                          <a:solidFill>
                            <a:srgbClr val="333D4A"/>
                          </a:solidFill>
                          <a:latin typeface="Arial"/>
                        </a:rPr>
                        <a:t>—</a:t>
                      </a:r>
                    </a:p>
                  </a:txBody>
                  <a:tcPr marL="91440" marR="73152" marT="27432" marB="27432" anchor="ctr">
                    <a:solidFill>
                      <a:srgbClr val="FFFFFF"/>
                    </a:solidFill>
                  </a:tcPr>
                </a:tc>
                <a:tc>
                  <a:txBody>
                    <a:bodyPr wrap="square"/>
                    <a:lstStyle/>
                    <a:p>
                      <a:pPr algn="l"/>
                      <a:r>
                        <a:rPr sz="960" b="0">
                          <a:solidFill>
                            <a:srgbClr val="333D4A"/>
                          </a:solidFill>
                          <a:latin typeface="Arial"/>
                        </a:rPr>
                        <a:t>42 link interest · 58 link favorite tag</a:t>
                      </a:r>
                    </a:p>
                  </a:txBody>
                  <a:tcPr marL="91440" marR="73152" marT="27432" marB="27432" anchor="ctr">
                    <a:solidFill>
                      <a:srgbClr val="FFFFFF"/>
                    </a:solidFill>
                  </a:tcPr>
                </a:tc>
              </a:tr>
            </a:tbl>
          </a:graphicData>
        </a:graphic>
      </p:graphicFrame>
      <p:sp>
        <p:nvSpPr>
          <p:cNvPr id="7" name="TextBox 6"/>
          <p:cNvSpPr txBox="1"/>
          <p:nvPr/>
        </p:nvSpPr>
        <p:spPr>
          <a:xfrm>
            <a:off x="640080" y="5888736"/>
            <a:ext cx="5120640" cy="274320"/>
          </a:xfrm>
          <a:prstGeom prst="rect">
            <a:avLst/>
          </a:prstGeom>
          <a:noFill/>
        </p:spPr>
        <p:txBody>
          <a:bodyPr wrap="square" lIns="0" rIns="0" tIns="0" bIns="0" anchor="t">
            <a:spAutoFit/>
          </a:bodyPr>
          <a:lstStyle/>
          <a:p>
            <a:pPr algn="l">
              <a:lnSpc>
                <a:spcPct val="112000"/>
              </a:lnSpc>
              <a:spcAft>
                <a:spcPts val="0"/>
              </a:spcAft>
            </a:pPr>
            <a:r>
              <a:rPr sz="1000" b="1" i="0">
                <a:solidFill>
                  <a:srgbClr val="333D4A"/>
                </a:solidFill>
                <a:latin typeface="Arial"/>
              </a:rPr>
              <a:t>Sebaran role: 13 customer · 2 owner · 1 admin.</a:t>
            </a:r>
          </a:p>
        </p:txBody>
      </p:sp>
      <p:sp>
        <p:nvSpPr>
          <p:cNvPr id="8" name="TextBox 7"/>
          <p:cNvSpPr txBox="1"/>
          <p:nvPr/>
        </p:nvSpPr>
        <p:spPr>
          <a:xfrm>
            <a:off x="5852160" y="5888736"/>
            <a:ext cx="5669280" cy="274320"/>
          </a:xfrm>
          <a:prstGeom prst="rect">
            <a:avLst/>
          </a:prstGeom>
          <a:noFill/>
        </p:spPr>
        <p:txBody>
          <a:bodyPr wrap="square" lIns="0" rIns="0" tIns="0" bIns="0" anchor="t">
            <a:spAutoFit/>
          </a:bodyPr>
          <a:lstStyle/>
          <a:p>
            <a:pPr algn="r">
              <a:lnSpc>
                <a:spcPct val="112000"/>
              </a:lnSpc>
              <a:spcAft>
                <a:spcPts val="0"/>
              </a:spcAft>
            </a:pPr>
            <a:r>
              <a:rPr sz="900" b="0" i="0">
                <a:solidFill>
                  <a:srgbClr val="6B7280"/>
                </a:solidFill>
                <a:latin typeface="Arial"/>
              </a:rPr>
              <a:t>Data deterministik: tanpa Math.random(), hasil seed selalu identik.</a:t>
            </a:r>
          </a:p>
        </p:txBody>
      </p:sp>
      <p:sp>
        <p:nvSpPr>
          <p:cNvPr id="9" name="Rounded Rectangle 8"/>
          <p:cNvSpPr/>
          <p:nvPr/>
        </p:nvSpPr>
        <p:spPr>
          <a:xfrm>
            <a:off x="640080" y="6419088"/>
            <a:ext cx="10908792" cy="7315"/>
          </a:xfrm>
          <a:prstGeom prst="roundRect">
            <a:avLst>
              <a:gd name="adj" fmla="val 0"/>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Rounded Rectangle 9"/>
          <p:cNvSpPr/>
          <p:nvPr/>
        </p:nvSpPr>
        <p:spPr>
          <a:xfrm>
            <a:off x="640080" y="6537960"/>
            <a:ext cx="224942" cy="224942"/>
          </a:xfrm>
          <a:prstGeom prst="roundRect">
            <a:avLst>
              <a:gd name="adj" fmla="val 22000"/>
            </a:avLst>
          </a:prstGeom>
          <a:solidFill>
            <a:srgbClr val="FF5A5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TextBox 10"/>
          <p:cNvSpPr txBox="1"/>
          <p:nvPr/>
        </p:nvSpPr>
        <p:spPr>
          <a:xfrm>
            <a:off x="640080" y="6526987"/>
            <a:ext cx="224942" cy="224942"/>
          </a:xfrm>
          <a:prstGeom prst="rect">
            <a:avLst/>
          </a:prstGeom>
          <a:noFill/>
        </p:spPr>
        <p:txBody>
          <a:bodyPr wrap="square" lIns="0" rIns="0" tIns="0" bIns="0" anchor="ctr">
            <a:spAutoFit/>
          </a:bodyPr>
          <a:lstStyle/>
          <a:p>
            <a:pPr algn="ctr">
              <a:lnSpc>
                <a:spcPct val="112000"/>
              </a:lnSpc>
              <a:spcAft>
                <a:spcPts val="0"/>
              </a:spcAft>
            </a:pPr>
            <a:r>
              <a:rPr sz="1066" b="1" i="0">
                <a:solidFill>
                  <a:srgbClr val="FFFFFF"/>
                </a:solidFill>
                <a:latin typeface="Arial"/>
              </a:rPr>
              <a:t>n</a:t>
            </a:r>
          </a:p>
        </p:txBody>
      </p:sp>
      <p:sp>
        <p:nvSpPr>
          <p:cNvPr id="12" name="TextBox 11"/>
          <p:cNvSpPr txBox="1"/>
          <p:nvPr/>
        </p:nvSpPr>
        <p:spPr>
          <a:xfrm>
            <a:off x="932505" y="6510528"/>
            <a:ext cx="899769" cy="224942"/>
          </a:xfrm>
          <a:prstGeom prst="rect">
            <a:avLst/>
          </a:prstGeom>
          <a:noFill/>
        </p:spPr>
        <p:txBody>
          <a:bodyPr wrap="square" lIns="0" rIns="0" tIns="0" bIns="0" anchor="t">
            <a:spAutoFit/>
          </a:bodyPr>
          <a:lstStyle/>
          <a:p>
            <a:pPr algn="l">
              <a:lnSpc>
                <a:spcPct val="112000"/>
              </a:lnSpc>
              <a:spcAft>
                <a:spcPts val="0"/>
              </a:spcAft>
            </a:pPr>
            <a:r>
              <a:rPr sz="1066" b="1" i="0">
                <a:solidFill>
                  <a:srgbClr val="1F2937"/>
                </a:solidFill>
                <a:latin typeface="Arial"/>
              </a:rPr>
              <a:t>NgeTag</a:t>
            </a:r>
          </a:p>
        </p:txBody>
      </p:sp>
      <p:sp>
        <p:nvSpPr>
          <p:cNvPr id="13" name="TextBox 12"/>
          <p:cNvSpPr txBox="1"/>
          <p:nvPr/>
        </p:nvSpPr>
        <p:spPr>
          <a:xfrm>
            <a:off x="1600200" y="6556248"/>
            <a:ext cx="5486400" cy="201168"/>
          </a:xfrm>
          <a:prstGeom prst="rect">
            <a:avLst/>
          </a:prstGeom>
          <a:noFill/>
        </p:spPr>
        <p:txBody>
          <a:bodyPr wrap="square" lIns="0" rIns="0" tIns="0" bIns="0" anchor="t">
            <a:spAutoFit/>
          </a:bodyPr>
          <a:lstStyle/>
          <a:p>
            <a:pPr algn="l">
              <a:lnSpc>
                <a:spcPct val="112000"/>
              </a:lnSpc>
              <a:spcAft>
                <a:spcPts val="0"/>
              </a:spcAft>
            </a:pPr>
            <a:r>
              <a:rPr sz="850" b="0" i="0">
                <a:solidFill>
                  <a:srgbClr val="6B7280"/>
                </a:solidFill>
                <a:latin typeface="Arial"/>
              </a:rPr>
              <a:t>NgeTag · Review Repository &amp; Seed Data User</a:t>
            </a:r>
          </a:p>
        </p:txBody>
      </p:sp>
      <p:sp>
        <p:nvSpPr>
          <p:cNvPr id="14" name="TextBox 13"/>
          <p:cNvSpPr txBox="1"/>
          <p:nvPr/>
        </p:nvSpPr>
        <p:spPr>
          <a:xfrm>
            <a:off x="10607040" y="6556248"/>
            <a:ext cx="941832" cy="201168"/>
          </a:xfrm>
          <a:prstGeom prst="rect">
            <a:avLst/>
          </a:prstGeom>
          <a:noFill/>
        </p:spPr>
        <p:txBody>
          <a:bodyPr wrap="square" lIns="0" rIns="0" tIns="0" bIns="0" anchor="t">
            <a:spAutoFit/>
          </a:bodyPr>
          <a:lstStyle/>
          <a:p>
            <a:pPr algn="r">
              <a:lnSpc>
                <a:spcPct val="112000"/>
              </a:lnSpc>
              <a:spcAft>
                <a:spcPts val="0"/>
              </a:spcAft>
            </a:pPr>
            <a:r>
              <a:rPr sz="850" b="0" i="0">
                <a:solidFill>
                  <a:srgbClr val="6B7280"/>
                </a:solidFill>
                <a:latin typeface="Arial"/>
              </a:rPr>
              <a:t>19 / 22</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AFAFB"/>
        </a:solidFill>
        <a:effectLst/>
      </p:bgPr>
    </p:bg>
    <p:spTree>
      <p:nvGrpSpPr>
        <p:cNvPr id="1" name=""/>
        <p:cNvGrpSpPr/>
        <p:nvPr/>
      </p:nvGrpSpPr>
      <p:grpSpPr/>
      <p:sp>
        <p:nvSpPr>
          <p:cNvPr id="2" name="TextBox 1"/>
          <p:cNvSpPr txBox="1"/>
          <p:nvPr/>
        </p:nvSpPr>
        <p:spPr>
          <a:xfrm>
            <a:off x="640080" y="384048"/>
            <a:ext cx="9601200" cy="228600"/>
          </a:xfrm>
          <a:prstGeom prst="rect">
            <a:avLst/>
          </a:prstGeom>
          <a:noFill/>
        </p:spPr>
        <p:txBody>
          <a:bodyPr wrap="square" lIns="0" rIns="0" tIns="0" bIns="0" anchor="t">
            <a:spAutoFit/>
          </a:bodyPr>
          <a:lstStyle/>
          <a:p>
            <a:pPr algn="l">
              <a:lnSpc>
                <a:spcPct val="112000"/>
              </a:lnSpc>
              <a:spcAft>
                <a:spcPts val="0"/>
              </a:spcAft>
            </a:pPr>
            <a:r>
              <a:rPr sz="1000" b="1" i="0" spc="140">
                <a:solidFill>
                  <a:srgbClr val="FF5A5F"/>
                </a:solidFill>
                <a:latin typeface="Arial"/>
              </a:rPr>
              <a:t>04 · SEED DATA USER</a:t>
            </a:r>
          </a:p>
        </p:txBody>
      </p:sp>
      <p:sp>
        <p:nvSpPr>
          <p:cNvPr id="3" name="TextBox 2"/>
          <p:cNvSpPr txBox="1"/>
          <p:nvPr/>
        </p:nvSpPr>
        <p:spPr>
          <a:xfrm>
            <a:off x="640080" y="621792"/>
            <a:ext cx="10881360" cy="566928"/>
          </a:xfrm>
          <a:prstGeom prst="rect">
            <a:avLst/>
          </a:prstGeom>
          <a:noFill/>
        </p:spPr>
        <p:txBody>
          <a:bodyPr wrap="square" lIns="0" rIns="0" tIns="0" bIns="0" anchor="t">
            <a:spAutoFit/>
          </a:bodyPr>
          <a:lstStyle/>
          <a:p>
            <a:pPr algn="l">
              <a:lnSpc>
                <a:spcPct val="112000"/>
              </a:lnSpc>
              <a:spcAft>
                <a:spcPts val="0"/>
              </a:spcAft>
            </a:pPr>
            <a:r>
              <a:rPr sz="2600" b="1" i="0">
                <a:solidFill>
                  <a:srgbClr val="1F2937"/>
                </a:solidFill>
                <a:latin typeface="Arial"/>
              </a:rPr>
              <a:t>Seed idempoten: aman dijalankan berulang</a:t>
            </a:r>
          </a:p>
        </p:txBody>
      </p:sp>
      <p:sp>
        <p:nvSpPr>
          <p:cNvPr id="4" name="TextBox 3"/>
          <p:cNvSpPr txBox="1"/>
          <p:nvPr/>
        </p:nvSpPr>
        <p:spPr>
          <a:xfrm>
            <a:off x="640080" y="1225296"/>
            <a:ext cx="10424160" cy="365760"/>
          </a:xfrm>
          <a:prstGeom prst="rect">
            <a:avLst/>
          </a:prstGeom>
          <a:noFill/>
        </p:spPr>
        <p:txBody>
          <a:bodyPr wrap="square" lIns="0" rIns="0" tIns="0" bIns="0" anchor="t">
            <a:spAutoFit/>
          </a:bodyPr>
          <a:lstStyle/>
          <a:p>
            <a:pPr algn="l">
              <a:lnSpc>
                <a:spcPct val="112000"/>
              </a:lnSpc>
              <a:spcAft>
                <a:spcPts val="0"/>
              </a:spcAft>
            </a:pPr>
            <a:r>
              <a:rPr sz="1250" b="0" i="0">
                <a:solidFill>
                  <a:srgbClr val="6B7280"/>
                </a:solidFill>
                <a:latin typeface="Arial"/>
              </a:rPr>
              <a:t>Empat file kecil, satu perintah, dan validasi yang berhenti sebelum database tersentuh.</a:t>
            </a:r>
          </a:p>
        </p:txBody>
      </p:sp>
      <p:sp>
        <p:nvSpPr>
          <p:cNvPr id="5" name="Rounded Rectangle 4"/>
          <p:cNvSpPr/>
          <p:nvPr/>
        </p:nvSpPr>
        <p:spPr>
          <a:xfrm>
            <a:off x="640080" y="1170432"/>
            <a:ext cx="502920" cy="32004"/>
          </a:xfrm>
          <a:prstGeom prst="roundRect">
            <a:avLst>
              <a:gd name="adj" fmla="val 0"/>
            </a:avLst>
          </a:prstGeom>
          <a:solidFill>
            <a:srgbClr val="FF5A5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 name="Rounded Rectangle 5"/>
          <p:cNvSpPr/>
          <p:nvPr/>
        </p:nvSpPr>
        <p:spPr>
          <a:xfrm>
            <a:off x="640080" y="1792224"/>
            <a:ext cx="5349240" cy="749808"/>
          </a:xfrm>
          <a:prstGeom prst="roundRect">
            <a:avLst>
              <a:gd name="adj" fmla="val 8000"/>
            </a:avLst>
          </a:prstGeom>
          <a:solidFill>
            <a:srgbClr val="FFFFFF"/>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 name="TextBox 6"/>
          <p:cNvSpPr txBox="1"/>
          <p:nvPr/>
        </p:nvSpPr>
        <p:spPr>
          <a:xfrm>
            <a:off x="841248" y="1929384"/>
            <a:ext cx="2743200" cy="256032"/>
          </a:xfrm>
          <a:prstGeom prst="rect">
            <a:avLst/>
          </a:prstGeom>
          <a:noFill/>
        </p:spPr>
        <p:txBody>
          <a:bodyPr wrap="square" lIns="0" rIns="0" tIns="0" bIns="0" anchor="t">
            <a:spAutoFit/>
          </a:bodyPr>
          <a:lstStyle/>
          <a:p>
            <a:pPr algn="l">
              <a:lnSpc>
                <a:spcPct val="112000"/>
              </a:lnSpc>
              <a:spcAft>
                <a:spcPts val="0"/>
              </a:spcAft>
            </a:pPr>
            <a:r>
              <a:rPr sz="1050" b="1" i="0">
                <a:solidFill>
                  <a:srgbClr val="D93F45"/>
                </a:solidFill>
                <a:latin typeface="Consolas"/>
              </a:rPr>
              <a:t>user-seed.ts</a:t>
            </a:r>
          </a:p>
        </p:txBody>
      </p:sp>
      <p:sp>
        <p:nvSpPr>
          <p:cNvPr id="8" name="TextBox 7"/>
          <p:cNvSpPr txBox="1"/>
          <p:nvPr/>
        </p:nvSpPr>
        <p:spPr>
          <a:xfrm>
            <a:off x="841248" y="2194560"/>
            <a:ext cx="4937760" cy="256032"/>
          </a:xfrm>
          <a:prstGeom prst="rect">
            <a:avLst/>
          </a:prstGeom>
          <a:noFill/>
        </p:spPr>
        <p:txBody>
          <a:bodyPr wrap="square" lIns="0" rIns="0" tIns="0" bIns="0" anchor="t">
            <a:spAutoFit/>
          </a:bodyPr>
          <a:lstStyle/>
          <a:p>
            <a:pPr algn="l">
              <a:lnSpc>
                <a:spcPct val="112000"/>
              </a:lnSpc>
              <a:spcAft>
                <a:spcPts val="0"/>
              </a:spcAft>
            </a:pPr>
            <a:r>
              <a:rPr sz="900" b="0" i="0">
                <a:solidFill>
                  <a:srgbClr val="6B7280"/>
                </a:solidFill>
                <a:latin typeface="Arial"/>
              </a:rPr>
              <a:t>Data 16 customer + katalog badge + validateSeed()</a:t>
            </a:r>
          </a:p>
        </p:txBody>
      </p:sp>
      <p:sp>
        <p:nvSpPr>
          <p:cNvPr id="9" name="Rounded Rectangle 8"/>
          <p:cNvSpPr/>
          <p:nvPr/>
        </p:nvSpPr>
        <p:spPr>
          <a:xfrm>
            <a:off x="640080" y="2651760"/>
            <a:ext cx="5349240" cy="749808"/>
          </a:xfrm>
          <a:prstGeom prst="roundRect">
            <a:avLst>
              <a:gd name="adj" fmla="val 8000"/>
            </a:avLst>
          </a:prstGeom>
          <a:solidFill>
            <a:srgbClr val="FFFFFF"/>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TextBox 9"/>
          <p:cNvSpPr txBox="1"/>
          <p:nvPr/>
        </p:nvSpPr>
        <p:spPr>
          <a:xfrm>
            <a:off x="841248" y="2788920"/>
            <a:ext cx="2743200" cy="256032"/>
          </a:xfrm>
          <a:prstGeom prst="rect">
            <a:avLst/>
          </a:prstGeom>
          <a:noFill/>
        </p:spPr>
        <p:txBody>
          <a:bodyPr wrap="square" lIns="0" rIns="0" tIns="0" bIns="0" anchor="t">
            <a:spAutoFit/>
          </a:bodyPr>
          <a:lstStyle/>
          <a:p>
            <a:pPr algn="l">
              <a:lnSpc>
                <a:spcPct val="112000"/>
              </a:lnSpc>
              <a:spcAft>
                <a:spcPts val="0"/>
              </a:spcAft>
            </a:pPr>
            <a:r>
              <a:rPr sz="1050" b="1" i="0">
                <a:solidFill>
                  <a:srgbClr val="D93F45"/>
                </a:solidFill>
                <a:latin typeface="Consolas"/>
              </a:rPr>
              <a:t>seed-users.ts</a:t>
            </a:r>
          </a:p>
        </p:txBody>
      </p:sp>
      <p:sp>
        <p:nvSpPr>
          <p:cNvPr id="11" name="TextBox 10"/>
          <p:cNvSpPr txBox="1"/>
          <p:nvPr/>
        </p:nvSpPr>
        <p:spPr>
          <a:xfrm>
            <a:off x="841248" y="3054096"/>
            <a:ext cx="4937760" cy="256032"/>
          </a:xfrm>
          <a:prstGeom prst="rect">
            <a:avLst/>
          </a:prstGeom>
          <a:noFill/>
        </p:spPr>
        <p:txBody>
          <a:bodyPr wrap="square" lIns="0" rIns="0" tIns="0" bIns="0" anchor="t">
            <a:spAutoFit/>
          </a:bodyPr>
          <a:lstStyle/>
          <a:p>
            <a:pPr algn="l">
              <a:lnSpc>
                <a:spcPct val="112000"/>
              </a:lnSpc>
              <a:spcAft>
                <a:spcPts val="0"/>
              </a:spcAft>
            </a:pPr>
            <a:r>
              <a:rPr sz="900" b="0" i="0">
                <a:solidFill>
                  <a:srgbClr val="6B7280"/>
                </a:solidFill>
                <a:latin typeface="Arial"/>
              </a:rPr>
              <a:t>Runner Drizzle/pg, generator SQL, mode dry-run</a:t>
            </a:r>
          </a:p>
        </p:txBody>
      </p:sp>
      <p:sp>
        <p:nvSpPr>
          <p:cNvPr id="12" name="Rounded Rectangle 11"/>
          <p:cNvSpPr/>
          <p:nvPr/>
        </p:nvSpPr>
        <p:spPr>
          <a:xfrm>
            <a:off x="640080" y="3511296"/>
            <a:ext cx="5349240" cy="749808"/>
          </a:xfrm>
          <a:prstGeom prst="roundRect">
            <a:avLst>
              <a:gd name="adj" fmla="val 8000"/>
            </a:avLst>
          </a:prstGeom>
          <a:solidFill>
            <a:srgbClr val="FFFFFF"/>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TextBox 12"/>
          <p:cNvSpPr txBox="1"/>
          <p:nvPr/>
        </p:nvSpPr>
        <p:spPr>
          <a:xfrm>
            <a:off x="841248" y="3648456"/>
            <a:ext cx="2743200" cy="256032"/>
          </a:xfrm>
          <a:prstGeom prst="rect">
            <a:avLst/>
          </a:prstGeom>
          <a:noFill/>
        </p:spPr>
        <p:txBody>
          <a:bodyPr wrap="square" lIns="0" rIns="0" tIns="0" bIns="0" anchor="t">
            <a:spAutoFit/>
          </a:bodyPr>
          <a:lstStyle/>
          <a:p>
            <a:pPr algn="l">
              <a:lnSpc>
                <a:spcPct val="112000"/>
              </a:lnSpc>
              <a:spcAft>
                <a:spcPts val="0"/>
              </a:spcAft>
            </a:pPr>
            <a:r>
              <a:rPr sz="1050" b="1" i="0">
                <a:solidFill>
                  <a:srgbClr val="D93F45"/>
                </a:solidFill>
                <a:latin typeface="Consolas"/>
              </a:rPr>
              <a:t>user-seed.sql</a:t>
            </a:r>
          </a:p>
        </p:txBody>
      </p:sp>
      <p:sp>
        <p:nvSpPr>
          <p:cNvPr id="14" name="TextBox 13"/>
          <p:cNvSpPr txBox="1"/>
          <p:nvPr/>
        </p:nvSpPr>
        <p:spPr>
          <a:xfrm>
            <a:off x="841248" y="3913632"/>
            <a:ext cx="4937760" cy="256032"/>
          </a:xfrm>
          <a:prstGeom prst="rect">
            <a:avLst/>
          </a:prstGeom>
          <a:noFill/>
        </p:spPr>
        <p:txBody>
          <a:bodyPr wrap="square" lIns="0" rIns="0" tIns="0" bIns="0" anchor="t">
            <a:spAutoFit/>
          </a:bodyPr>
          <a:lstStyle/>
          <a:p>
            <a:pPr algn="l">
              <a:lnSpc>
                <a:spcPct val="112000"/>
              </a:lnSpc>
              <a:spcAft>
                <a:spcPts val="0"/>
              </a:spcAft>
            </a:pPr>
            <a:r>
              <a:rPr sz="900" b="0" i="0">
                <a:solidFill>
                  <a:srgbClr val="6B7280"/>
                </a:solidFill>
                <a:latin typeface="Arial"/>
              </a:rPr>
              <a:t>SQL idempoten siap psql (140 baris)</a:t>
            </a:r>
          </a:p>
        </p:txBody>
      </p:sp>
      <p:sp>
        <p:nvSpPr>
          <p:cNvPr id="15" name="Rounded Rectangle 14"/>
          <p:cNvSpPr/>
          <p:nvPr/>
        </p:nvSpPr>
        <p:spPr>
          <a:xfrm>
            <a:off x="640080" y="4370831"/>
            <a:ext cx="5349240" cy="749808"/>
          </a:xfrm>
          <a:prstGeom prst="roundRect">
            <a:avLst>
              <a:gd name="adj" fmla="val 8000"/>
            </a:avLst>
          </a:prstGeom>
          <a:solidFill>
            <a:srgbClr val="FFFFFF"/>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6" name="TextBox 15"/>
          <p:cNvSpPr txBox="1"/>
          <p:nvPr/>
        </p:nvSpPr>
        <p:spPr>
          <a:xfrm>
            <a:off x="841248" y="4507992"/>
            <a:ext cx="2743200" cy="256032"/>
          </a:xfrm>
          <a:prstGeom prst="rect">
            <a:avLst/>
          </a:prstGeom>
          <a:noFill/>
        </p:spPr>
        <p:txBody>
          <a:bodyPr wrap="square" lIns="0" rIns="0" tIns="0" bIns="0" anchor="t">
            <a:spAutoFit/>
          </a:bodyPr>
          <a:lstStyle/>
          <a:p>
            <a:pPr algn="l">
              <a:lnSpc>
                <a:spcPct val="112000"/>
              </a:lnSpc>
              <a:spcAft>
                <a:spcPts val="0"/>
              </a:spcAft>
            </a:pPr>
            <a:r>
              <a:rPr sz="1050" b="1" i="0">
                <a:solidFill>
                  <a:srgbClr val="D93F45"/>
                </a:solidFill>
                <a:latin typeface="Consolas"/>
              </a:rPr>
              <a:t>README.md</a:t>
            </a:r>
          </a:p>
        </p:txBody>
      </p:sp>
      <p:sp>
        <p:nvSpPr>
          <p:cNvPr id="17" name="TextBox 16"/>
          <p:cNvSpPr txBox="1"/>
          <p:nvPr/>
        </p:nvSpPr>
        <p:spPr>
          <a:xfrm>
            <a:off x="841248" y="4773168"/>
            <a:ext cx="4937760" cy="256032"/>
          </a:xfrm>
          <a:prstGeom prst="rect">
            <a:avLst/>
          </a:prstGeom>
          <a:noFill/>
        </p:spPr>
        <p:txBody>
          <a:bodyPr wrap="square" lIns="0" rIns="0" tIns="0" bIns="0" anchor="t">
            <a:spAutoFit/>
          </a:bodyPr>
          <a:lstStyle/>
          <a:p>
            <a:pPr algn="l">
              <a:lnSpc>
                <a:spcPct val="112000"/>
              </a:lnSpc>
              <a:spcAft>
                <a:spcPts val="0"/>
              </a:spcAft>
            </a:pPr>
            <a:r>
              <a:rPr sz="900" b="0" i="0">
                <a:solidFill>
                  <a:srgbClr val="6B7280"/>
                </a:solidFill>
                <a:latin typeface="Arial"/>
              </a:rPr>
              <a:t>Tabel varian, invariant, dan catatan gap kontrak</a:t>
            </a:r>
          </a:p>
        </p:txBody>
      </p:sp>
      <p:sp>
        <p:nvSpPr>
          <p:cNvPr id="18" name="Rounded Rectangle 17"/>
          <p:cNvSpPr/>
          <p:nvPr/>
        </p:nvSpPr>
        <p:spPr>
          <a:xfrm>
            <a:off x="6236208" y="1792224"/>
            <a:ext cx="5312664" cy="2377440"/>
          </a:xfrm>
          <a:prstGeom prst="roundRect">
            <a:avLst>
              <a:gd name="adj" fmla="val 7000"/>
            </a:avLst>
          </a:prstGeom>
          <a:solidFill>
            <a:srgbClr val="15161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9" name="TextBox 18"/>
          <p:cNvSpPr txBox="1"/>
          <p:nvPr/>
        </p:nvSpPr>
        <p:spPr>
          <a:xfrm>
            <a:off x="6419088" y="1938528"/>
            <a:ext cx="4846320" cy="237744"/>
          </a:xfrm>
          <a:prstGeom prst="rect">
            <a:avLst/>
          </a:prstGeom>
          <a:noFill/>
        </p:spPr>
        <p:txBody>
          <a:bodyPr wrap="square" lIns="0" rIns="0" tIns="0" bIns="0" anchor="t">
            <a:spAutoFit/>
          </a:bodyPr>
          <a:lstStyle/>
          <a:p>
            <a:pPr algn="l">
              <a:lnSpc>
                <a:spcPct val="112000"/>
              </a:lnSpc>
              <a:spcAft>
                <a:spcPts val="0"/>
              </a:spcAft>
            </a:pPr>
            <a:r>
              <a:rPr sz="850" b="1" i="0" spc="140">
                <a:solidFill>
                  <a:srgbClr val="8E95A1"/>
                </a:solidFill>
                <a:latin typeface="Arial"/>
              </a:rPr>
              <a:t>PERINTAH</a:t>
            </a:r>
          </a:p>
        </p:txBody>
      </p:sp>
      <p:sp>
        <p:nvSpPr>
          <p:cNvPr id="20" name="TextBox 19"/>
          <p:cNvSpPr txBox="1"/>
          <p:nvPr/>
        </p:nvSpPr>
        <p:spPr>
          <a:xfrm>
            <a:off x="6419088" y="2240280"/>
            <a:ext cx="3108960" cy="237744"/>
          </a:xfrm>
          <a:prstGeom prst="rect">
            <a:avLst/>
          </a:prstGeom>
          <a:noFill/>
        </p:spPr>
        <p:txBody>
          <a:bodyPr wrap="square" lIns="0" rIns="0" tIns="0" bIns="0" anchor="t">
            <a:spAutoFit/>
          </a:bodyPr>
          <a:lstStyle/>
          <a:p>
            <a:pPr algn="l">
              <a:lnSpc>
                <a:spcPct val="112000"/>
              </a:lnSpc>
              <a:spcAft>
                <a:spcPts val="0"/>
              </a:spcAft>
            </a:pPr>
            <a:r>
              <a:rPr sz="880" b="0" i="0">
                <a:solidFill>
                  <a:srgbClr val="9BE3C9"/>
                </a:solidFill>
                <a:latin typeface="Consolas"/>
              </a:rPr>
              <a:t>npm run db:push</a:t>
            </a:r>
          </a:p>
        </p:txBody>
      </p:sp>
      <p:sp>
        <p:nvSpPr>
          <p:cNvPr id="21" name="TextBox 20"/>
          <p:cNvSpPr txBox="1"/>
          <p:nvPr/>
        </p:nvSpPr>
        <p:spPr>
          <a:xfrm>
            <a:off x="9464040" y="2240280"/>
            <a:ext cx="1965960" cy="237744"/>
          </a:xfrm>
          <a:prstGeom prst="rect">
            <a:avLst/>
          </a:prstGeom>
          <a:noFill/>
        </p:spPr>
        <p:txBody>
          <a:bodyPr wrap="square" lIns="0" rIns="0" tIns="0" bIns="0" anchor="t">
            <a:spAutoFit/>
          </a:bodyPr>
          <a:lstStyle/>
          <a:p>
            <a:pPr algn="l">
              <a:lnSpc>
                <a:spcPct val="112000"/>
              </a:lnSpc>
              <a:spcAft>
                <a:spcPts val="0"/>
              </a:spcAft>
            </a:pPr>
            <a:r>
              <a:rPr sz="780" b="0" i="0">
                <a:solidFill>
                  <a:srgbClr val="8E95A1"/>
                </a:solidFill>
                <a:latin typeface="Arial"/>
              </a:rPr>
              <a:t># buat tabel &amp; enum</a:t>
            </a:r>
          </a:p>
        </p:txBody>
      </p:sp>
      <p:sp>
        <p:nvSpPr>
          <p:cNvPr id="22" name="TextBox 21"/>
          <p:cNvSpPr txBox="1"/>
          <p:nvPr/>
        </p:nvSpPr>
        <p:spPr>
          <a:xfrm>
            <a:off x="6419088" y="2569464"/>
            <a:ext cx="3108960" cy="237744"/>
          </a:xfrm>
          <a:prstGeom prst="rect">
            <a:avLst/>
          </a:prstGeom>
          <a:noFill/>
        </p:spPr>
        <p:txBody>
          <a:bodyPr wrap="square" lIns="0" rIns="0" tIns="0" bIns="0" anchor="t">
            <a:spAutoFit/>
          </a:bodyPr>
          <a:lstStyle/>
          <a:p>
            <a:pPr algn="l">
              <a:lnSpc>
                <a:spcPct val="112000"/>
              </a:lnSpc>
              <a:spcAft>
                <a:spcPts val="0"/>
              </a:spcAft>
            </a:pPr>
            <a:r>
              <a:rPr sz="880" b="0" i="0">
                <a:solidFill>
                  <a:srgbClr val="9BE3C9"/>
                </a:solidFill>
                <a:latin typeface="Consolas"/>
              </a:rPr>
              <a:t>npm run db:seed</a:t>
            </a:r>
          </a:p>
        </p:txBody>
      </p:sp>
      <p:sp>
        <p:nvSpPr>
          <p:cNvPr id="23" name="TextBox 22"/>
          <p:cNvSpPr txBox="1"/>
          <p:nvPr/>
        </p:nvSpPr>
        <p:spPr>
          <a:xfrm>
            <a:off x="9464040" y="2569464"/>
            <a:ext cx="1965960" cy="237744"/>
          </a:xfrm>
          <a:prstGeom prst="rect">
            <a:avLst/>
          </a:prstGeom>
          <a:noFill/>
        </p:spPr>
        <p:txBody>
          <a:bodyPr wrap="square" lIns="0" rIns="0" tIns="0" bIns="0" anchor="t">
            <a:spAutoFit/>
          </a:bodyPr>
          <a:lstStyle/>
          <a:p>
            <a:pPr algn="l">
              <a:lnSpc>
                <a:spcPct val="112000"/>
              </a:lnSpc>
              <a:spcAft>
                <a:spcPts val="0"/>
              </a:spcAft>
            </a:pPr>
            <a:r>
              <a:rPr sz="780" b="0" i="0">
                <a:solidFill>
                  <a:srgbClr val="8E95A1"/>
                </a:solidFill>
                <a:latin typeface="Arial"/>
              </a:rPr>
              <a:t># upsert 16 customer</a:t>
            </a:r>
          </a:p>
        </p:txBody>
      </p:sp>
      <p:sp>
        <p:nvSpPr>
          <p:cNvPr id="24" name="TextBox 23"/>
          <p:cNvSpPr txBox="1"/>
          <p:nvPr/>
        </p:nvSpPr>
        <p:spPr>
          <a:xfrm>
            <a:off x="6419088" y="2898648"/>
            <a:ext cx="3108960" cy="237744"/>
          </a:xfrm>
          <a:prstGeom prst="rect">
            <a:avLst/>
          </a:prstGeom>
          <a:noFill/>
        </p:spPr>
        <p:txBody>
          <a:bodyPr wrap="square" lIns="0" rIns="0" tIns="0" bIns="0" anchor="t">
            <a:spAutoFit/>
          </a:bodyPr>
          <a:lstStyle/>
          <a:p>
            <a:pPr algn="l">
              <a:lnSpc>
                <a:spcPct val="112000"/>
              </a:lnSpc>
              <a:spcAft>
                <a:spcPts val="0"/>
              </a:spcAft>
            </a:pPr>
            <a:r>
              <a:rPr sz="880" b="0" i="0">
                <a:solidFill>
                  <a:srgbClr val="9BE3C9"/>
                </a:solidFill>
                <a:latin typeface="Consolas"/>
              </a:rPr>
              <a:t>npm run db:seed:dry</a:t>
            </a:r>
          </a:p>
        </p:txBody>
      </p:sp>
      <p:sp>
        <p:nvSpPr>
          <p:cNvPr id="25" name="TextBox 24"/>
          <p:cNvSpPr txBox="1"/>
          <p:nvPr/>
        </p:nvSpPr>
        <p:spPr>
          <a:xfrm>
            <a:off x="9464040" y="2898648"/>
            <a:ext cx="1965960" cy="237744"/>
          </a:xfrm>
          <a:prstGeom prst="rect">
            <a:avLst/>
          </a:prstGeom>
          <a:noFill/>
        </p:spPr>
        <p:txBody>
          <a:bodyPr wrap="square" lIns="0" rIns="0" tIns="0" bIns="0" anchor="t">
            <a:spAutoFit/>
          </a:bodyPr>
          <a:lstStyle/>
          <a:p>
            <a:pPr algn="l">
              <a:lnSpc>
                <a:spcPct val="112000"/>
              </a:lnSpc>
              <a:spcAft>
                <a:spcPts val="0"/>
              </a:spcAft>
            </a:pPr>
            <a:r>
              <a:rPr sz="780" b="0" i="0">
                <a:solidFill>
                  <a:srgbClr val="8E95A1"/>
                </a:solidFill>
                <a:latin typeface="Arial"/>
              </a:rPr>
              <a:t># validasi tanpa koneksi</a:t>
            </a:r>
          </a:p>
        </p:txBody>
      </p:sp>
      <p:sp>
        <p:nvSpPr>
          <p:cNvPr id="26" name="TextBox 25"/>
          <p:cNvSpPr txBox="1"/>
          <p:nvPr/>
        </p:nvSpPr>
        <p:spPr>
          <a:xfrm>
            <a:off x="6419088" y="3227832"/>
            <a:ext cx="3108960" cy="237744"/>
          </a:xfrm>
          <a:prstGeom prst="rect">
            <a:avLst/>
          </a:prstGeom>
          <a:noFill/>
        </p:spPr>
        <p:txBody>
          <a:bodyPr wrap="square" lIns="0" rIns="0" tIns="0" bIns="0" anchor="t">
            <a:spAutoFit/>
          </a:bodyPr>
          <a:lstStyle/>
          <a:p>
            <a:pPr algn="l">
              <a:lnSpc>
                <a:spcPct val="112000"/>
              </a:lnSpc>
              <a:spcAft>
                <a:spcPts val="0"/>
              </a:spcAft>
            </a:pPr>
            <a:r>
              <a:rPr sz="880" b="0" i="0">
                <a:solidFill>
                  <a:srgbClr val="9BE3C9"/>
                </a:solidFill>
                <a:latin typeface="Consolas"/>
              </a:rPr>
              <a:t>npm run db:seed -- --reset</a:t>
            </a:r>
          </a:p>
        </p:txBody>
      </p:sp>
      <p:sp>
        <p:nvSpPr>
          <p:cNvPr id="27" name="TextBox 26"/>
          <p:cNvSpPr txBox="1"/>
          <p:nvPr/>
        </p:nvSpPr>
        <p:spPr>
          <a:xfrm>
            <a:off x="9464040" y="3227832"/>
            <a:ext cx="1965960" cy="237744"/>
          </a:xfrm>
          <a:prstGeom prst="rect">
            <a:avLst/>
          </a:prstGeom>
          <a:noFill/>
        </p:spPr>
        <p:txBody>
          <a:bodyPr wrap="square" lIns="0" rIns="0" tIns="0" bIns="0" anchor="t">
            <a:spAutoFit/>
          </a:bodyPr>
          <a:lstStyle/>
          <a:p>
            <a:pPr algn="l">
              <a:lnSpc>
                <a:spcPct val="112000"/>
              </a:lnSpc>
              <a:spcAft>
                <a:spcPts val="0"/>
              </a:spcAft>
            </a:pPr>
            <a:r>
              <a:rPr sz="780" b="0" i="0">
                <a:solidFill>
                  <a:srgbClr val="8E95A1"/>
                </a:solidFill>
                <a:latin typeface="Arial"/>
              </a:rPr>
              <a:t># hapus 16 id seed</a:t>
            </a:r>
          </a:p>
        </p:txBody>
      </p:sp>
      <p:sp>
        <p:nvSpPr>
          <p:cNvPr id="28" name="TextBox 27"/>
          <p:cNvSpPr txBox="1"/>
          <p:nvPr/>
        </p:nvSpPr>
        <p:spPr>
          <a:xfrm>
            <a:off x="6419088" y="3557015"/>
            <a:ext cx="3108960" cy="237744"/>
          </a:xfrm>
          <a:prstGeom prst="rect">
            <a:avLst/>
          </a:prstGeom>
          <a:noFill/>
        </p:spPr>
        <p:txBody>
          <a:bodyPr wrap="square" lIns="0" rIns="0" tIns="0" bIns="0" anchor="t">
            <a:spAutoFit/>
          </a:bodyPr>
          <a:lstStyle/>
          <a:p>
            <a:pPr algn="l">
              <a:lnSpc>
                <a:spcPct val="112000"/>
              </a:lnSpc>
              <a:spcAft>
                <a:spcPts val="0"/>
              </a:spcAft>
            </a:pPr>
            <a:r>
              <a:rPr sz="880" b="0" i="0">
                <a:solidFill>
                  <a:srgbClr val="9BE3C9"/>
                </a:solidFill>
                <a:latin typeface="Consolas"/>
              </a:rPr>
              <a:t>npm run db:seed:sql</a:t>
            </a:r>
          </a:p>
        </p:txBody>
      </p:sp>
      <p:sp>
        <p:nvSpPr>
          <p:cNvPr id="29" name="TextBox 28"/>
          <p:cNvSpPr txBox="1"/>
          <p:nvPr/>
        </p:nvSpPr>
        <p:spPr>
          <a:xfrm>
            <a:off x="9464040" y="3557015"/>
            <a:ext cx="1965960" cy="237744"/>
          </a:xfrm>
          <a:prstGeom prst="rect">
            <a:avLst/>
          </a:prstGeom>
          <a:noFill/>
        </p:spPr>
        <p:txBody>
          <a:bodyPr wrap="square" lIns="0" rIns="0" tIns="0" bIns="0" anchor="t">
            <a:spAutoFit/>
          </a:bodyPr>
          <a:lstStyle/>
          <a:p>
            <a:pPr algn="l">
              <a:lnSpc>
                <a:spcPct val="112000"/>
              </a:lnSpc>
              <a:spcAft>
                <a:spcPts val="0"/>
              </a:spcAft>
            </a:pPr>
            <a:r>
              <a:rPr sz="780" b="0" i="0">
                <a:solidFill>
                  <a:srgbClr val="8E95A1"/>
                </a:solidFill>
                <a:latin typeface="Arial"/>
              </a:rPr>
              <a:t># cetak SQL</a:t>
            </a:r>
          </a:p>
        </p:txBody>
      </p:sp>
      <p:sp>
        <p:nvSpPr>
          <p:cNvPr id="30" name="Rounded Rectangle 29"/>
          <p:cNvSpPr/>
          <p:nvPr/>
        </p:nvSpPr>
        <p:spPr>
          <a:xfrm>
            <a:off x="6236208" y="4315968"/>
            <a:ext cx="5312664" cy="1481328"/>
          </a:xfrm>
          <a:prstGeom prst="roundRect">
            <a:avLst>
              <a:gd name="adj" fmla="val 8000"/>
            </a:avLst>
          </a:prstGeom>
          <a:solidFill>
            <a:srgbClr val="FFFFFF"/>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1" name="TextBox 30"/>
          <p:cNvSpPr txBox="1"/>
          <p:nvPr/>
        </p:nvSpPr>
        <p:spPr>
          <a:xfrm>
            <a:off x="6419088" y="4443984"/>
            <a:ext cx="4754880" cy="237744"/>
          </a:xfrm>
          <a:prstGeom prst="rect">
            <a:avLst/>
          </a:prstGeom>
          <a:noFill/>
        </p:spPr>
        <p:txBody>
          <a:bodyPr wrap="square" lIns="0" rIns="0" tIns="0" bIns="0" anchor="t">
            <a:spAutoFit/>
          </a:bodyPr>
          <a:lstStyle/>
          <a:p>
            <a:pPr algn="l">
              <a:lnSpc>
                <a:spcPct val="112000"/>
              </a:lnSpc>
              <a:spcAft>
                <a:spcPts val="0"/>
              </a:spcAft>
            </a:pPr>
            <a:r>
              <a:rPr sz="850" b="1" i="0" spc="120">
                <a:solidFill>
                  <a:srgbClr val="6B7280"/>
                </a:solidFill>
                <a:latin typeface="Arial"/>
              </a:rPr>
              <a:t>CONTOH OUTPUT — npm run db:seed:dry</a:t>
            </a:r>
          </a:p>
        </p:txBody>
      </p:sp>
      <p:sp>
        <p:nvSpPr>
          <p:cNvPr id="32" name="TextBox 31"/>
          <p:cNvSpPr txBox="1"/>
          <p:nvPr/>
        </p:nvSpPr>
        <p:spPr>
          <a:xfrm>
            <a:off x="6419088" y="4718304"/>
            <a:ext cx="2011680" cy="219456"/>
          </a:xfrm>
          <a:prstGeom prst="rect">
            <a:avLst/>
          </a:prstGeom>
          <a:noFill/>
        </p:spPr>
        <p:txBody>
          <a:bodyPr wrap="square" lIns="0" rIns="0" tIns="0" bIns="0" anchor="t">
            <a:spAutoFit/>
          </a:bodyPr>
          <a:lstStyle/>
          <a:p>
            <a:pPr algn="l">
              <a:lnSpc>
                <a:spcPct val="112000"/>
              </a:lnSpc>
              <a:spcAft>
                <a:spcPts val="0"/>
              </a:spcAft>
            </a:pPr>
            <a:r>
              <a:rPr sz="860" b="0" i="0">
                <a:solidFill>
                  <a:srgbClr val="333D4A"/>
                </a:solidFill>
                <a:latin typeface="Consolas"/>
              </a:rPr>
              <a:t>Customer</a:t>
            </a:r>
          </a:p>
        </p:txBody>
      </p:sp>
      <p:sp>
        <p:nvSpPr>
          <p:cNvPr id="33" name="TextBox 32"/>
          <p:cNvSpPr txBox="1"/>
          <p:nvPr/>
        </p:nvSpPr>
        <p:spPr>
          <a:xfrm>
            <a:off x="8503920" y="4718304"/>
            <a:ext cx="2926080" cy="219456"/>
          </a:xfrm>
          <a:prstGeom prst="rect">
            <a:avLst/>
          </a:prstGeom>
          <a:noFill/>
        </p:spPr>
        <p:txBody>
          <a:bodyPr wrap="square" lIns="0" rIns="0" tIns="0" bIns="0" anchor="t">
            <a:spAutoFit/>
          </a:bodyPr>
          <a:lstStyle/>
          <a:p>
            <a:pPr algn="l">
              <a:lnSpc>
                <a:spcPct val="112000"/>
              </a:lnSpc>
              <a:spcAft>
                <a:spcPts val="0"/>
              </a:spcAft>
            </a:pPr>
            <a:r>
              <a:rPr sz="860" b="0" i="0">
                <a:solidFill>
                  <a:srgbClr val="D93F45"/>
                </a:solidFill>
                <a:latin typeface="Consolas"/>
              </a:rPr>
              <a:t>: 16</a:t>
            </a:r>
          </a:p>
        </p:txBody>
      </p:sp>
      <p:sp>
        <p:nvSpPr>
          <p:cNvPr id="34" name="TextBox 33"/>
          <p:cNvSpPr txBox="1"/>
          <p:nvPr/>
        </p:nvSpPr>
        <p:spPr>
          <a:xfrm>
            <a:off x="6419088" y="4974336"/>
            <a:ext cx="2011680" cy="219456"/>
          </a:xfrm>
          <a:prstGeom prst="rect">
            <a:avLst/>
          </a:prstGeom>
          <a:noFill/>
        </p:spPr>
        <p:txBody>
          <a:bodyPr wrap="square" lIns="0" rIns="0" tIns="0" bIns="0" anchor="t">
            <a:spAutoFit/>
          </a:bodyPr>
          <a:lstStyle/>
          <a:p>
            <a:pPr algn="l">
              <a:lnSpc>
                <a:spcPct val="112000"/>
              </a:lnSpc>
              <a:spcAft>
                <a:spcPts val="0"/>
              </a:spcAft>
            </a:pPr>
            <a:r>
              <a:rPr sz="860" b="0" i="0">
                <a:solidFill>
                  <a:srgbClr val="333D4A"/>
                </a:solidFill>
                <a:latin typeface="Consolas"/>
              </a:rPr>
              <a:t>customer_interests</a:t>
            </a:r>
          </a:p>
        </p:txBody>
      </p:sp>
      <p:sp>
        <p:nvSpPr>
          <p:cNvPr id="35" name="TextBox 34"/>
          <p:cNvSpPr txBox="1"/>
          <p:nvPr/>
        </p:nvSpPr>
        <p:spPr>
          <a:xfrm>
            <a:off x="8503920" y="4974336"/>
            <a:ext cx="2926080" cy="219456"/>
          </a:xfrm>
          <a:prstGeom prst="rect">
            <a:avLst/>
          </a:prstGeom>
          <a:noFill/>
        </p:spPr>
        <p:txBody>
          <a:bodyPr wrap="square" lIns="0" rIns="0" tIns="0" bIns="0" anchor="t">
            <a:spAutoFit/>
          </a:bodyPr>
          <a:lstStyle/>
          <a:p>
            <a:pPr algn="l">
              <a:lnSpc>
                <a:spcPct val="112000"/>
              </a:lnSpc>
              <a:spcAft>
                <a:spcPts val="0"/>
              </a:spcAft>
            </a:pPr>
            <a:r>
              <a:rPr sz="860" b="0" i="0">
                <a:solidFill>
                  <a:srgbClr val="D93F45"/>
                </a:solidFill>
                <a:latin typeface="Consolas"/>
              </a:rPr>
              <a:t>: 42</a:t>
            </a:r>
          </a:p>
        </p:txBody>
      </p:sp>
      <p:sp>
        <p:nvSpPr>
          <p:cNvPr id="36" name="TextBox 35"/>
          <p:cNvSpPr txBox="1"/>
          <p:nvPr/>
        </p:nvSpPr>
        <p:spPr>
          <a:xfrm>
            <a:off x="6419088" y="5230368"/>
            <a:ext cx="2011680" cy="219456"/>
          </a:xfrm>
          <a:prstGeom prst="rect">
            <a:avLst/>
          </a:prstGeom>
          <a:noFill/>
        </p:spPr>
        <p:txBody>
          <a:bodyPr wrap="square" lIns="0" rIns="0" tIns="0" bIns="0" anchor="t">
            <a:spAutoFit/>
          </a:bodyPr>
          <a:lstStyle/>
          <a:p>
            <a:pPr algn="l">
              <a:lnSpc>
                <a:spcPct val="112000"/>
              </a:lnSpc>
              <a:spcAft>
                <a:spcPts val="0"/>
              </a:spcAft>
            </a:pPr>
            <a:r>
              <a:rPr sz="860" b="0" i="0">
                <a:solidFill>
                  <a:srgbClr val="333D4A"/>
                </a:solidFill>
                <a:latin typeface="Consolas"/>
              </a:rPr>
              <a:t>customer_favorite_tags</a:t>
            </a:r>
          </a:p>
        </p:txBody>
      </p:sp>
      <p:sp>
        <p:nvSpPr>
          <p:cNvPr id="37" name="TextBox 36"/>
          <p:cNvSpPr txBox="1"/>
          <p:nvPr/>
        </p:nvSpPr>
        <p:spPr>
          <a:xfrm>
            <a:off x="8503920" y="5230368"/>
            <a:ext cx="2926080" cy="219456"/>
          </a:xfrm>
          <a:prstGeom prst="rect">
            <a:avLst/>
          </a:prstGeom>
          <a:noFill/>
        </p:spPr>
        <p:txBody>
          <a:bodyPr wrap="square" lIns="0" rIns="0" tIns="0" bIns="0" anchor="t">
            <a:spAutoFit/>
          </a:bodyPr>
          <a:lstStyle/>
          <a:p>
            <a:pPr algn="l">
              <a:lnSpc>
                <a:spcPct val="112000"/>
              </a:lnSpc>
              <a:spcAft>
                <a:spcPts val="0"/>
              </a:spcAft>
            </a:pPr>
            <a:r>
              <a:rPr sz="860" b="0" i="0">
                <a:solidFill>
                  <a:srgbClr val="D93F45"/>
                </a:solidFill>
                <a:latin typeface="Consolas"/>
              </a:rPr>
              <a:t>: 58</a:t>
            </a:r>
          </a:p>
        </p:txBody>
      </p:sp>
      <p:sp>
        <p:nvSpPr>
          <p:cNvPr id="38" name="TextBox 37"/>
          <p:cNvSpPr txBox="1"/>
          <p:nvPr/>
        </p:nvSpPr>
        <p:spPr>
          <a:xfrm>
            <a:off x="6419088" y="5486400"/>
            <a:ext cx="2011680" cy="219456"/>
          </a:xfrm>
          <a:prstGeom prst="rect">
            <a:avLst/>
          </a:prstGeom>
          <a:noFill/>
        </p:spPr>
        <p:txBody>
          <a:bodyPr wrap="square" lIns="0" rIns="0" tIns="0" bIns="0" anchor="t">
            <a:spAutoFit/>
          </a:bodyPr>
          <a:lstStyle/>
          <a:p>
            <a:pPr algn="l">
              <a:lnSpc>
                <a:spcPct val="112000"/>
              </a:lnSpc>
              <a:spcAft>
                <a:spcPts val="0"/>
              </a:spcAft>
            </a:pPr>
            <a:r>
              <a:rPr sz="860" b="0" i="0">
                <a:solidFill>
                  <a:srgbClr val="333D4A"/>
                </a:solidFill>
                <a:latin typeface="Consolas"/>
              </a:rPr>
              <a:t>Role</a:t>
            </a:r>
          </a:p>
        </p:txBody>
      </p:sp>
      <p:sp>
        <p:nvSpPr>
          <p:cNvPr id="39" name="TextBox 38"/>
          <p:cNvSpPr txBox="1"/>
          <p:nvPr/>
        </p:nvSpPr>
        <p:spPr>
          <a:xfrm>
            <a:off x="8503920" y="5486400"/>
            <a:ext cx="2926080" cy="219456"/>
          </a:xfrm>
          <a:prstGeom prst="rect">
            <a:avLst/>
          </a:prstGeom>
          <a:noFill/>
        </p:spPr>
        <p:txBody>
          <a:bodyPr wrap="square" lIns="0" rIns="0" tIns="0" bIns="0" anchor="t">
            <a:spAutoFit/>
          </a:bodyPr>
          <a:lstStyle/>
          <a:p>
            <a:pPr algn="l">
              <a:lnSpc>
                <a:spcPct val="112000"/>
              </a:lnSpc>
              <a:spcAft>
                <a:spcPts val="0"/>
              </a:spcAft>
            </a:pPr>
            <a:r>
              <a:rPr sz="860" b="0" i="0">
                <a:solidFill>
                  <a:srgbClr val="D93F45"/>
                </a:solidFill>
                <a:latin typeface="Consolas"/>
              </a:rPr>
              <a:t>: customer=13 · admin=1 · owner=2</a:t>
            </a:r>
          </a:p>
        </p:txBody>
      </p:sp>
      <p:sp>
        <p:nvSpPr>
          <p:cNvPr id="40" name="TextBox 39"/>
          <p:cNvSpPr txBox="1"/>
          <p:nvPr/>
        </p:nvSpPr>
        <p:spPr>
          <a:xfrm>
            <a:off x="640080" y="5321808"/>
            <a:ext cx="5486400" cy="237744"/>
          </a:xfrm>
          <a:prstGeom prst="rect">
            <a:avLst/>
          </a:prstGeom>
          <a:noFill/>
        </p:spPr>
        <p:txBody>
          <a:bodyPr wrap="square" lIns="0" rIns="0" tIns="0" bIns="0" anchor="t">
            <a:spAutoFit/>
          </a:bodyPr>
          <a:lstStyle/>
          <a:p>
            <a:pPr algn="l">
              <a:lnSpc>
                <a:spcPct val="112000"/>
              </a:lnSpc>
              <a:spcAft>
                <a:spcPts val="0"/>
              </a:spcAft>
            </a:pPr>
            <a:r>
              <a:rPr sz="900" b="1" i="0" spc="120">
                <a:solidFill>
                  <a:srgbClr val="6B7280"/>
                </a:solidFill>
                <a:latin typeface="Arial"/>
              </a:rPr>
              <a:t>INVARIAN YANG DIJAGA</a:t>
            </a:r>
          </a:p>
        </p:txBody>
      </p:sp>
      <p:sp>
        <p:nvSpPr>
          <p:cNvPr id="41" name="Oval 40"/>
          <p:cNvSpPr/>
          <p:nvPr/>
        </p:nvSpPr>
        <p:spPr>
          <a:xfrm>
            <a:off x="640080" y="5678424"/>
            <a:ext cx="73152" cy="73152"/>
          </a:xfrm>
          <a:prstGeom prst="ellipse">
            <a:avLst/>
          </a:prstGeom>
          <a:solidFill>
            <a:srgbClr val="FF5A5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2" name="TextBox 41"/>
          <p:cNvSpPr txBox="1"/>
          <p:nvPr/>
        </p:nvSpPr>
        <p:spPr>
          <a:xfrm>
            <a:off x="822959" y="5596128"/>
            <a:ext cx="2788920" cy="256032"/>
          </a:xfrm>
          <a:prstGeom prst="rect">
            <a:avLst/>
          </a:prstGeom>
          <a:noFill/>
        </p:spPr>
        <p:txBody>
          <a:bodyPr wrap="square" lIns="0" rIns="0" tIns="0" bIns="0" anchor="t">
            <a:spAutoFit/>
          </a:bodyPr>
          <a:lstStyle/>
          <a:p>
            <a:pPr algn="l">
              <a:lnSpc>
                <a:spcPct val="112000"/>
              </a:lnSpc>
              <a:spcAft>
                <a:spcPts val="0"/>
              </a:spcAft>
            </a:pPr>
            <a:r>
              <a:rPr sz="919" b="0" i="0">
                <a:solidFill>
                  <a:srgbClr val="333D4A"/>
                </a:solidFill>
                <a:latin typeface="Arial"/>
              </a:rPr>
              <a:t>Upsert ON CONFLICT (id) — bukan truncate</a:t>
            </a:r>
          </a:p>
        </p:txBody>
      </p:sp>
      <p:sp>
        <p:nvSpPr>
          <p:cNvPr id="43" name="Oval 42"/>
          <p:cNvSpPr/>
          <p:nvPr/>
        </p:nvSpPr>
        <p:spPr>
          <a:xfrm>
            <a:off x="3703320" y="5678424"/>
            <a:ext cx="73152" cy="73152"/>
          </a:xfrm>
          <a:prstGeom prst="ellipse">
            <a:avLst/>
          </a:prstGeom>
          <a:solidFill>
            <a:srgbClr val="FF5A5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4" name="TextBox 43"/>
          <p:cNvSpPr txBox="1"/>
          <p:nvPr/>
        </p:nvSpPr>
        <p:spPr>
          <a:xfrm>
            <a:off x="3886200" y="5596128"/>
            <a:ext cx="2788920" cy="256032"/>
          </a:xfrm>
          <a:prstGeom prst="rect">
            <a:avLst/>
          </a:prstGeom>
          <a:noFill/>
        </p:spPr>
        <p:txBody>
          <a:bodyPr wrap="square" lIns="0" rIns="0" tIns="0" bIns="0" anchor="t">
            <a:spAutoFit/>
          </a:bodyPr>
          <a:lstStyle/>
          <a:p>
            <a:pPr algn="l">
              <a:lnSpc>
                <a:spcPct val="112000"/>
              </a:lnSpc>
              <a:spcAft>
                <a:spcPts val="0"/>
              </a:spcAft>
            </a:pPr>
            <a:r>
              <a:rPr sz="919" b="0" i="0">
                <a:solidFill>
                  <a:srgbClr val="333D4A"/>
                </a:solidFill>
                <a:latin typeface="Arial"/>
              </a:rPr>
              <a:t>Enam aturan validasi sebelum koneksi DB</a:t>
            </a:r>
          </a:p>
        </p:txBody>
      </p:sp>
      <p:sp>
        <p:nvSpPr>
          <p:cNvPr id="45" name="Oval 44"/>
          <p:cNvSpPr/>
          <p:nvPr/>
        </p:nvSpPr>
        <p:spPr>
          <a:xfrm>
            <a:off x="640080" y="6044184"/>
            <a:ext cx="73152" cy="73152"/>
          </a:xfrm>
          <a:prstGeom prst="ellipse">
            <a:avLst/>
          </a:prstGeom>
          <a:solidFill>
            <a:srgbClr val="FF5A5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6" name="TextBox 45"/>
          <p:cNvSpPr txBox="1"/>
          <p:nvPr/>
        </p:nvSpPr>
        <p:spPr>
          <a:xfrm>
            <a:off x="822959" y="5961888"/>
            <a:ext cx="2788920" cy="256032"/>
          </a:xfrm>
          <a:prstGeom prst="rect">
            <a:avLst/>
          </a:prstGeom>
          <a:noFill/>
        </p:spPr>
        <p:txBody>
          <a:bodyPr wrap="square" lIns="0" rIns="0" tIns="0" bIns="0" anchor="t">
            <a:spAutoFit/>
          </a:bodyPr>
          <a:lstStyle/>
          <a:p>
            <a:pPr algn="l">
              <a:lnSpc>
                <a:spcPct val="112000"/>
              </a:lnSpc>
              <a:spcAft>
                <a:spcPts val="0"/>
              </a:spcAft>
            </a:pPr>
            <a:r>
              <a:rPr sz="919" b="0" i="0">
                <a:solidFill>
                  <a:srgbClr val="333D4A"/>
                </a:solidFill>
                <a:latin typeface="Arial"/>
              </a:rPr>
              <a:t>JSONB favoriteTagIds = isi join table</a:t>
            </a:r>
          </a:p>
        </p:txBody>
      </p:sp>
      <p:sp>
        <p:nvSpPr>
          <p:cNvPr id="47" name="Oval 46"/>
          <p:cNvSpPr/>
          <p:nvPr/>
        </p:nvSpPr>
        <p:spPr>
          <a:xfrm>
            <a:off x="3703320" y="6044184"/>
            <a:ext cx="73152" cy="73152"/>
          </a:xfrm>
          <a:prstGeom prst="ellipse">
            <a:avLst/>
          </a:prstGeom>
          <a:solidFill>
            <a:srgbClr val="FF5A5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8" name="TextBox 47"/>
          <p:cNvSpPr txBox="1"/>
          <p:nvPr/>
        </p:nvSpPr>
        <p:spPr>
          <a:xfrm>
            <a:off x="3886200" y="5961888"/>
            <a:ext cx="2788920" cy="256032"/>
          </a:xfrm>
          <a:prstGeom prst="rect">
            <a:avLst/>
          </a:prstGeom>
          <a:noFill/>
        </p:spPr>
        <p:txBody>
          <a:bodyPr wrap="square" lIns="0" rIns="0" tIns="0" bIns="0" anchor="t">
            <a:spAutoFit/>
          </a:bodyPr>
          <a:lstStyle/>
          <a:p>
            <a:pPr algn="l">
              <a:lnSpc>
                <a:spcPct val="112000"/>
              </a:lnSpc>
              <a:spcAft>
                <a:spcPts val="0"/>
              </a:spcAft>
            </a:pPr>
            <a:r>
              <a:rPr sz="919" b="0" i="0">
                <a:solidFill>
                  <a:srgbClr val="333D4A"/>
                </a:solidFill>
                <a:latin typeface="Arial"/>
              </a:rPr>
              <a:t>Reset hanya menyentuh 16 id seed</a:t>
            </a:r>
          </a:p>
        </p:txBody>
      </p:sp>
      <p:sp>
        <p:nvSpPr>
          <p:cNvPr id="49" name="Rounded Rectangle 48"/>
          <p:cNvSpPr/>
          <p:nvPr/>
        </p:nvSpPr>
        <p:spPr>
          <a:xfrm>
            <a:off x="640080" y="6419088"/>
            <a:ext cx="10908792" cy="7315"/>
          </a:xfrm>
          <a:prstGeom prst="roundRect">
            <a:avLst>
              <a:gd name="adj" fmla="val 0"/>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0" name="Rounded Rectangle 49"/>
          <p:cNvSpPr/>
          <p:nvPr/>
        </p:nvSpPr>
        <p:spPr>
          <a:xfrm>
            <a:off x="640080" y="6537960"/>
            <a:ext cx="224942" cy="224942"/>
          </a:xfrm>
          <a:prstGeom prst="roundRect">
            <a:avLst>
              <a:gd name="adj" fmla="val 22000"/>
            </a:avLst>
          </a:prstGeom>
          <a:solidFill>
            <a:srgbClr val="FF5A5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1" name="TextBox 50"/>
          <p:cNvSpPr txBox="1"/>
          <p:nvPr/>
        </p:nvSpPr>
        <p:spPr>
          <a:xfrm>
            <a:off x="640080" y="6526987"/>
            <a:ext cx="224942" cy="224942"/>
          </a:xfrm>
          <a:prstGeom prst="rect">
            <a:avLst/>
          </a:prstGeom>
          <a:noFill/>
        </p:spPr>
        <p:txBody>
          <a:bodyPr wrap="square" lIns="0" rIns="0" tIns="0" bIns="0" anchor="ctr">
            <a:spAutoFit/>
          </a:bodyPr>
          <a:lstStyle/>
          <a:p>
            <a:pPr algn="ctr">
              <a:lnSpc>
                <a:spcPct val="112000"/>
              </a:lnSpc>
              <a:spcAft>
                <a:spcPts val="0"/>
              </a:spcAft>
            </a:pPr>
            <a:r>
              <a:rPr sz="1066" b="1" i="0">
                <a:solidFill>
                  <a:srgbClr val="FFFFFF"/>
                </a:solidFill>
                <a:latin typeface="Arial"/>
              </a:rPr>
              <a:t>n</a:t>
            </a:r>
          </a:p>
        </p:txBody>
      </p:sp>
      <p:sp>
        <p:nvSpPr>
          <p:cNvPr id="52" name="TextBox 51"/>
          <p:cNvSpPr txBox="1"/>
          <p:nvPr/>
        </p:nvSpPr>
        <p:spPr>
          <a:xfrm>
            <a:off x="932505" y="6510528"/>
            <a:ext cx="899769" cy="224942"/>
          </a:xfrm>
          <a:prstGeom prst="rect">
            <a:avLst/>
          </a:prstGeom>
          <a:noFill/>
        </p:spPr>
        <p:txBody>
          <a:bodyPr wrap="square" lIns="0" rIns="0" tIns="0" bIns="0" anchor="t">
            <a:spAutoFit/>
          </a:bodyPr>
          <a:lstStyle/>
          <a:p>
            <a:pPr algn="l">
              <a:lnSpc>
                <a:spcPct val="112000"/>
              </a:lnSpc>
              <a:spcAft>
                <a:spcPts val="0"/>
              </a:spcAft>
            </a:pPr>
            <a:r>
              <a:rPr sz="1066" b="1" i="0">
                <a:solidFill>
                  <a:srgbClr val="1F2937"/>
                </a:solidFill>
                <a:latin typeface="Arial"/>
              </a:rPr>
              <a:t>NgeTag</a:t>
            </a:r>
          </a:p>
        </p:txBody>
      </p:sp>
      <p:sp>
        <p:nvSpPr>
          <p:cNvPr id="53" name="TextBox 52"/>
          <p:cNvSpPr txBox="1"/>
          <p:nvPr/>
        </p:nvSpPr>
        <p:spPr>
          <a:xfrm>
            <a:off x="1600200" y="6556248"/>
            <a:ext cx="5486400" cy="201168"/>
          </a:xfrm>
          <a:prstGeom prst="rect">
            <a:avLst/>
          </a:prstGeom>
          <a:noFill/>
        </p:spPr>
        <p:txBody>
          <a:bodyPr wrap="square" lIns="0" rIns="0" tIns="0" bIns="0" anchor="t">
            <a:spAutoFit/>
          </a:bodyPr>
          <a:lstStyle/>
          <a:p>
            <a:pPr algn="l">
              <a:lnSpc>
                <a:spcPct val="112000"/>
              </a:lnSpc>
              <a:spcAft>
                <a:spcPts val="0"/>
              </a:spcAft>
            </a:pPr>
            <a:r>
              <a:rPr sz="850" b="0" i="0">
                <a:solidFill>
                  <a:srgbClr val="6B7280"/>
                </a:solidFill>
                <a:latin typeface="Arial"/>
              </a:rPr>
              <a:t>NgeTag · Review Repository &amp; Seed Data User</a:t>
            </a:r>
          </a:p>
        </p:txBody>
      </p:sp>
      <p:sp>
        <p:nvSpPr>
          <p:cNvPr id="54" name="TextBox 53"/>
          <p:cNvSpPr txBox="1"/>
          <p:nvPr/>
        </p:nvSpPr>
        <p:spPr>
          <a:xfrm>
            <a:off x="10607040" y="6556248"/>
            <a:ext cx="941832" cy="201168"/>
          </a:xfrm>
          <a:prstGeom prst="rect">
            <a:avLst/>
          </a:prstGeom>
          <a:noFill/>
        </p:spPr>
        <p:txBody>
          <a:bodyPr wrap="square" lIns="0" rIns="0" tIns="0" bIns="0" anchor="t">
            <a:spAutoFit/>
          </a:bodyPr>
          <a:lstStyle/>
          <a:p>
            <a:pPr algn="r">
              <a:lnSpc>
                <a:spcPct val="112000"/>
              </a:lnSpc>
              <a:spcAft>
                <a:spcPts val="0"/>
              </a:spcAft>
            </a:pPr>
            <a:r>
              <a:rPr sz="850" b="0" i="0">
                <a:solidFill>
                  <a:srgbClr val="6B7280"/>
                </a:solidFill>
                <a:latin typeface="Arial"/>
              </a:rPr>
              <a:t>20 / 22</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AFAFB"/>
        </a:solidFill>
        <a:effectLst/>
      </p:bgPr>
    </p:bg>
    <p:spTree>
      <p:nvGrpSpPr>
        <p:cNvPr id="1" name=""/>
        <p:cNvGrpSpPr/>
        <p:nvPr/>
      </p:nvGrpSpPr>
      <p:grpSpPr/>
      <p:sp>
        <p:nvSpPr>
          <p:cNvPr id="2" name="TextBox 1"/>
          <p:cNvSpPr txBox="1"/>
          <p:nvPr/>
        </p:nvSpPr>
        <p:spPr>
          <a:xfrm>
            <a:off x="640080" y="384048"/>
            <a:ext cx="9601200" cy="228600"/>
          </a:xfrm>
          <a:prstGeom prst="rect">
            <a:avLst/>
          </a:prstGeom>
          <a:noFill/>
        </p:spPr>
        <p:txBody>
          <a:bodyPr wrap="square" lIns="0" rIns="0" tIns="0" bIns="0" anchor="t">
            <a:spAutoFit/>
          </a:bodyPr>
          <a:lstStyle/>
          <a:p>
            <a:pPr algn="l">
              <a:lnSpc>
                <a:spcPct val="112000"/>
              </a:lnSpc>
              <a:spcAft>
                <a:spcPts val="0"/>
              </a:spcAft>
            </a:pPr>
            <a:r>
              <a:rPr sz="1000" b="1" i="0" spc="140">
                <a:solidFill>
                  <a:srgbClr val="FF5A5F"/>
                </a:solidFill>
                <a:latin typeface="Arial"/>
              </a:rPr>
              <a:t>04 · SEED DATA USER</a:t>
            </a:r>
          </a:p>
        </p:txBody>
      </p:sp>
      <p:sp>
        <p:nvSpPr>
          <p:cNvPr id="3" name="TextBox 2"/>
          <p:cNvSpPr txBox="1"/>
          <p:nvPr/>
        </p:nvSpPr>
        <p:spPr>
          <a:xfrm>
            <a:off x="640080" y="621792"/>
            <a:ext cx="10881360" cy="566928"/>
          </a:xfrm>
          <a:prstGeom prst="rect">
            <a:avLst/>
          </a:prstGeom>
          <a:noFill/>
        </p:spPr>
        <p:txBody>
          <a:bodyPr wrap="square" lIns="0" rIns="0" tIns="0" bIns="0" anchor="t">
            <a:spAutoFit/>
          </a:bodyPr>
          <a:lstStyle/>
          <a:p>
            <a:pPr algn="l">
              <a:lnSpc>
                <a:spcPct val="112000"/>
              </a:lnSpc>
              <a:spcAft>
                <a:spcPts val="0"/>
              </a:spcAft>
            </a:pPr>
            <a:r>
              <a:rPr sz="2600" b="1" i="0">
                <a:solidFill>
                  <a:srgbClr val="1F2937"/>
                </a:solidFill>
                <a:latin typeface="Arial"/>
              </a:rPr>
              <a:t>Langkah berikutnya, berurutan</a:t>
            </a:r>
          </a:p>
        </p:txBody>
      </p:sp>
      <p:sp>
        <p:nvSpPr>
          <p:cNvPr id="4" name="TextBox 3"/>
          <p:cNvSpPr txBox="1"/>
          <p:nvPr/>
        </p:nvSpPr>
        <p:spPr>
          <a:xfrm>
            <a:off x="640080" y="1225296"/>
            <a:ext cx="10424160" cy="365760"/>
          </a:xfrm>
          <a:prstGeom prst="rect">
            <a:avLst/>
          </a:prstGeom>
          <a:noFill/>
        </p:spPr>
        <p:txBody>
          <a:bodyPr wrap="square" lIns="0" rIns="0" tIns="0" bIns="0" anchor="t">
            <a:spAutoFit/>
          </a:bodyPr>
          <a:lstStyle/>
          <a:p>
            <a:pPr algn="l">
              <a:lnSpc>
                <a:spcPct val="112000"/>
              </a:lnSpc>
              <a:spcAft>
                <a:spcPts val="0"/>
              </a:spcAft>
            </a:pPr>
            <a:r>
              <a:rPr sz="1250" b="0" i="0">
                <a:solidFill>
                  <a:srgbClr val="6B7280"/>
                </a:solidFill>
                <a:latin typeface="Arial"/>
              </a:rPr>
              <a:t>Urutan ini sengaja menaruh perbaikan fondasi lebih dulu, lalu fitur yang bergantung padanya.</a:t>
            </a:r>
          </a:p>
        </p:txBody>
      </p:sp>
      <p:sp>
        <p:nvSpPr>
          <p:cNvPr id="5" name="Rounded Rectangle 4"/>
          <p:cNvSpPr/>
          <p:nvPr/>
        </p:nvSpPr>
        <p:spPr>
          <a:xfrm>
            <a:off x="640080" y="1170432"/>
            <a:ext cx="502920" cy="32004"/>
          </a:xfrm>
          <a:prstGeom prst="roundRect">
            <a:avLst>
              <a:gd name="adj" fmla="val 0"/>
            </a:avLst>
          </a:prstGeom>
          <a:solidFill>
            <a:srgbClr val="FF5A5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 name="Rounded Rectangle 5"/>
          <p:cNvSpPr/>
          <p:nvPr/>
        </p:nvSpPr>
        <p:spPr>
          <a:xfrm>
            <a:off x="640080" y="1792224"/>
            <a:ext cx="3456432" cy="2670048"/>
          </a:xfrm>
          <a:prstGeom prst="roundRect">
            <a:avLst>
              <a:gd name="adj" fmla="val 8000"/>
            </a:avLst>
          </a:prstGeom>
          <a:solidFill>
            <a:srgbClr val="FFFFFF"/>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 name="Rounded Rectangle 6"/>
          <p:cNvSpPr/>
          <p:nvPr/>
        </p:nvSpPr>
        <p:spPr>
          <a:xfrm>
            <a:off x="640080" y="1792224"/>
            <a:ext cx="3456432" cy="64008"/>
          </a:xfrm>
          <a:prstGeom prst="roundRect">
            <a:avLst>
              <a:gd name="adj" fmla="val 0"/>
            </a:avLst>
          </a:prstGeom>
          <a:solidFill>
            <a:srgbClr val="FF5A5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TextBox 7"/>
          <p:cNvSpPr txBox="1"/>
          <p:nvPr/>
        </p:nvSpPr>
        <p:spPr>
          <a:xfrm>
            <a:off x="868680" y="1993392"/>
            <a:ext cx="2377440" cy="237744"/>
          </a:xfrm>
          <a:prstGeom prst="rect">
            <a:avLst/>
          </a:prstGeom>
          <a:noFill/>
        </p:spPr>
        <p:txBody>
          <a:bodyPr wrap="square" lIns="0" rIns="0" tIns="0" bIns="0" anchor="t">
            <a:spAutoFit/>
          </a:bodyPr>
          <a:lstStyle/>
          <a:p>
            <a:pPr algn="l">
              <a:lnSpc>
                <a:spcPct val="112000"/>
              </a:lnSpc>
              <a:spcAft>
                <a:spcPts val="0"/>
              </a:spcAft>
            </a:pPr>
            <a:r>
              <a:rPr sz="950" b="1" i="0" spc="120">
                <a:solidFill>
                  <a:srgbClr val="FF5A5F"/>
                </a:solidFill>
                <a:latin typeface="Arial"/>
              </a:rPr>
              <a:t>SEKARANG</a:t>
            </a:r>
          </a:p>
        </p:txBody>
      </p:sp>
      <p:sp>
        <p:nvSpPr>
          <p:cNvPr id="9" name="TextBox 8"/>
          <p:cNvSpPr txBox="1"/>
          <p:nvPr/>
        </p:nvSpPr>
        <p:spPr>
          <a:xfrm>
            <a:off x="868680" y="2249424"/>
            <a:ext cx="2926080" cy="274320"/>
          </a:xfrm>
          <a:prstGeom prst="rect">
            <a:avLst/>
          </a:prstGeom>
          <a:noFill/>
        </p:spPr>
        <p:txBody>
          <a:bodyPr wrap="square" lIns="0" rIns="0" tIns="0" bIns="0" anchor="t">
            <a:spAutoFit/>
          </a:bodyPr>
          <a:lstStyle/>
          <a:p>
            <a:pPr algn="l">
              <a:lnSpc>
                <a:spcPct val="112000"/>
              </a:lnSpc>
              <a:spcAft>
                <a:spcPts val="0"/>
              </a:spcAft>
            </a:pPr>
            <a:r>
              <a:rPr sz="1300" b="1" i="0">
                <a:solidFill>
                  <a:srgbClr val="1F2937"/>
                </a:solidFill>
                <a:latin typeface="Arial"/>
              </a:rPr>
              <a:t>0–2 minggu</a:t>
            </a:r>
          </a:p>
        </p:txBody>
      </p:sp>
      <p:sp>
        <p:nvSpPr>
          <p:cNvPr id="10" name="TextBox 9"/>
          <p:cNvSpPr txBox="1"/>
          <p:nvPr/>
        </p:nvSpPr>
        <p:spPr>
          <a:xfrm>
            <a:off x="868680" y="2697480"/>
            <a:ext cx="3017520" cy="1691640"/>
          </a:xfrm>
          <a:prstGeom prst="rect">
            <a:avLst/>
          </a:prstGeom>
          <a:noFill/>
        </p:spPr>
        <p:txBody>
          <a:bodyPr wrap="square" lIns="0" rIns="0" tIns="0" bIns="0">
            <a:spAutoFit/>
          </a:bodyPr>
          <a:lstStyle/>
          <a:p>
            <a:pPr marL="201168" indent="-201168">
              <a:lnSpc>
                <a:spcPct val="112000"/>
              </a:lnSpc>
              <a:spcAft>
                <a:spcPts val="900"/>
              </a:spcAft>
              <a:buClr>
                <a:srgbClr val="FF5A5F"/>
              </a:buClr>
              <a:buFont typeface="Arial"/>
              <a:buChar char="•"/>
            </a:pPr>
            <a:r>
              <a:rPr sz="980" b="0">
                <a:solidFill>
                  <a:srgbClr val="333D4A"/>
                </a:solidFill>
                <a:latin typeface="Arial"/>
              </a:rPr>
              <a:t>Regenerate atau perbaiki relations.ts</a:t>
            </a:r>
          </a:p>
          <a:p>
            <a:pPr marL="201168" indent="-201168">
              <a:lnSpc>
                <a:spcPct val="112000"/>
              </a:lnSpc>
              <a:spcAft>
                <a:spcPts val="900"/>
              </a:spcAft>
              <a:buClr>
                <a:srgbClr val="FF5A5F"/>
              </a:buClr>
              <a:buFont typeface="Arial"/>
              <a:buChar char="•"/>
            </a:pPr>
            <a:r>
              <a:rPr sz="980" b="0">
                <a:solidFill>
                  <a:srgbClr val="333D4A"/>
                </a:solidFill>
                <a:latin typeface="Arial"/>
              </a:rPr>
              <a:t>Jadikan lint &amp; tsc sebagai gate CI</a:t>
            </a:r>
          </a:p>
          <a:p>
            <a:pPr marL="201168" indent="-201168">
              <a:lnSpc>
                <a:spcPct val="112000"/>
              </a:lnSpc>
              <a:spcAft>
                <a:spcPts val="900"/>
              </a:spcAft>
              <a:buClr>
                <a:srgbClr val="FF5A5F"/>
              </a:buClr>
              <a:buFont typeface="Arial"/>
              <a:buChar char="•"/>
            </a:pPr>
            <a:r>
              <a:rPr sz="980" b="0">
                <a:solidFill>
                  <a:srgbClr val="333D4A"/>
                </a:solidFill>
                <a:latin typeface="Arial"/>
              </a:rPr>
              <a:t>Tambahkan `points` ke tipe, Zod, kontrak</a:t>
            </a:r>
          </a:p>
          <a:p>
            <a:pPr marL="201168" indent="-201168">
              <a:lnSpc>
                <a:spcPct val="112000"/>
              </a:lnSpc>
              <a:spcAft>
                <a:spcPts val="900"/>
              </a:spcAft>
              <a:buClr>
                <a:srgbClr val="FF5A5F"/>
              </a:buClr>
              <a:buFont typeface="Arial"/>
              <a:buChar char="•"/>
            </a:pPr>
            <a:r>
              <a:rPr sz="980" b="0">
                <a:solidFill>
                  <a:srgbClr val="333D4A"/>
                </a:solidFill>
                <a:latin typeface="Arial"/>
              </a:rPr>
              <a:t>Jalankan seed user di CI staging</a:t>
            </a:r>
          </a:p>
        </p:txBody>
      </p:sp>
      <p:sp>
        <p:nvSpPr>
          <p:cNvPr id="11" name="Rounded Rectangle 10"/>
          <p:cNvSpPr/>
          <p:nvPr/>
        </p:nvSpPr>
        <p:spPr>
          <a:xfrm>
            <a:off x="4361688" y="1792224"/>
            <a:ext cx="3456432" cy="2670048"/>
          </a:xfrm>
          <a:prstGeom prst="roundRect">
            <a:avLst>
              <a:gd name="adj" fmla="val 8000"/>
            </a:avLst>
          </a:prstGeom>
          <a:solidFill>
            <a:srgbClr val="FFFFFF"/>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Rounded Rectangle 11"/>
          <p:cNvSpPr/>
          <p:nvPr/>
        </p:nvSpPr>
        <p:spPr>
          <a:xfrm>
            <a:off x="4361688" y="1792224"/>
            <a:ext cx="3456432" cy="64008"/>
          </a:xfrm>
          <a:prstGeom prst="roundRect">
            <a:avLst>
              <a:gd name="adj" fmla="val 0"/>
            </a:avLst>
          </a:prstGeom>
          <a:solidFill>
            <a:srgbClr val="FFB4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TextBox 12"/>
          <p:cNvSpPr txBox="1"/>
          <p:nvPr/>
        </p:nvSpPr>
        <p:spPr>
          <a:xfrm>
            <a:off x="4590288" y="1993392"/>
            <a:ext cx="2377440" cy="237744"/>
          </a:xfrm>
          <a:prstGeom prst="rect">
            <a:avLst/>
          </a:prstGeom>
          <a:noFill/>
        </p:spPr>
        <p:txBody>
          <a:bodyPr wrap="square" lIns="0" rIns="0" tIns="0" bIns="0" anchor="t">
            <a:spAutoFit/>
          </a:bodyPr>
          <a:lstStyle/>
          <a:p>
            <a:pPr algn="l">
              <a:lnSpc>
                <a:spcPct val="112000"/>
              </a:lnSpc>
              <a:spcAft>
                <a:spcPts val="0"/>
              </a:spcAft>
            </a:pPr>
            <a:r>
              <a:rPr sz="950" b="1" i="0" spc="120">
                <a:solidFill>
                  <a:srgbClr val="FFB400"/>
                </a:solidFill>
                <a:latin typeface="Arial"/>
              </a:rPr>
              <a:t>BERIKUTNYA</a:t>
            </a:r>
          </a:p>
        </p:txBody>
      </p:sp>
      <p:sp>
        <p:nvSpPr>
          <p:cNvPr id="14" name="TextBox 13"/>
          <p:cNvSpPr txBox="1"/>
          <p:nvPr/>
        </p:nvSpPr>
        <p:spPr>
          <a:xfrm>
            <a:off x="4590288" y="2249424"/>
            <a:ext cx="2926080" cy="274320"/>
          </a:xfrm>
          <a:prstGeom prst="rect">
            <a:avLst/>
          </a:prstGeom>
          <a:noFill/>
        </p:spPr>
        <p:txBody>
          <a:bodyPr wrap="square" lIns="0" rIns="0" tIns="0" bIns="0" anchor="t">
            <a:spAutoFit/>
          </a:bodyPr>
          <a:lstStyle/>
          <a:p>
            <a:pPr algn="l">
              <a:lnSpc>
                <a:spcPct val="112000"/>
              </a:lnSpc>
              <a:spcAft>
                <a:spcPts val="0"/>
              </a:spcAft>
            </a:pPr>
            <a:r>
              <a:rPr sz="1300" b="1" i="0">
                <a:solidFill>
                  <a:srgbClr val="1F2937"/>
                </a:solidFill>
                <a:latin typeface="Arial"/>
              </a:rPr>
              <a:t>1–2 bulan</a:t>
            </a:r>
          </a:p>
        </p:txBody>
      </p:sp>
      <p:sp>
        <p:nvSpPr>
          <p:cNvPr id="15" name="TextBox 14"/>
          <p:cNvSpPr txBox="1"/>
          <p:nvPr/>
        </p:nvSpPr>
        <p:spPr>
          <a:xfrm>
            <a:off x="4590288" y="2697480"/>
            <a:ext cx="3017520" cy="1691640"/>
          </a:xfrm>
          <a:prstGeom prst="rect">
            <a:avLst/>
          </a:prstGeom>
          <a:noFill/>
        </p:spPr>
        <p:txBody>
          <a:bodyPr wrap="square" lIns="0" rIns="0" tIns="0" bIns="0">
            <a:spAutoFit/>
          </a:bodyPr>
          <a:lstStyle/>
          <a:p>
            <a:pPr marL="201168" indent="-201168">
              <a:lnSpc>
                <a:spcPct val="112000"/>
              </a:lnSpc>
              <a:spcAft>
                <a:spcPts val="900"/>
              </a:spcAft>
              <a:buClr>
                <a:srgbClr val="FFB400"/>
              </a:buClr>
              <a:buFont typeface="Arial"/>
              <a:buChar char="•"/>
            </a:pPr>
            <a:r>
              <a:rPr sz="980" b="0">
                <a:solidFill>
                  <a:srgbClr val="333D4A"/>
                </a:solidFill>
                <a:latin typeface="Arial"/>
              </a:rPr>
              <a:t>Klien database runtime + migrasi</a:t>
            </a:r>
          </a:p>
          <a:p>
            <a:pPr marL="201168" indent="-201168">
              <a:lnSpc>
                <a:spcPct val="112000"/>
              </a:lnSpc>
              <a:spcAft>
                <a:spcPts val="900"/>
              </a:spcAft>
              <a:buClr>
                <a:srgbClr val="FFB400"/>
              </a:buClr>
              <a:buFont typeface="Arial"/>
              <a:buChar char="•"/>
            </a:pPr>
            <a:r>
              <a:rPr sz="980" b="0">
                <a:solidFill>
                  <a:srgbClr val="333D4A"/>
                </a:solidFill>
                <a:latin typeface="Arial"/>
              </a:rPr>
              <a:t>Auth.js dan ganti useCurrentUserStore</a:t>
            </a:r>
          </a:p>
          <a:p>
            <a:pPr marL="201168" indent="-201168">
              <a:lnSpc>
                <a:spcPct val="112000"/>
              </a:lnSpc>
              <a:spcAft>
                <a:spcPts val="900"/>
              </a:spcAft>
              <a:buClr>
                <a:srgbClr val="FFB400"/>
              </a:buClr>
              <a:buFont typeface="Arial"/>
              <a:buChar char="•"/>
            </a:pPr>
            <a:r>
              <a:rPr sz="980" b="0">
                <a:solidFill>
                  <a:srgbClr val="333D4A"/>
                </a:solidFill>
                <a:latin typeface="Arial"/>
              </a:rPr>
              <a:t>Seed engagement: bookmark, visit, membership</a:t>
            </a:r>
          </a:p>
          <a:p>
            <a:pPr marL="201168" indent="-201168">
              <a:lnSpc>
                <a:spcPct val="112000"/>
              </a:lnSpc>
              <a:spcAft>
                <a:spcPts val="900"/>
              </a:spcAft>
              <a:buClr>
                <a:srgbClr val="FFB400"/>
              </a:buClr>
              <a:buFont typeface="Arial"/>
              <a:buChar char="•"/>
            </a:pPr>
            <a:r>
              <a:rPr sz="980" b="0">
                <a:solidFill>
                  <a:srgbClr val="333D4A"/>
                </a:solidFill>
                <a:latin typeface="Arial"/>
              </a:rPr>
              <a:t>Geolocation &amp; filter buka sekarang</a:t>
            </a:r>
          </a:p>
        </p:txBody>
      </p:sp>
      <p:sp>
        <p:nvSpPr>
          <p:cNvPr id="16" name="Rounded Rectangle 15"/>
          <p:cNvSpPr/>
          <p:nvPr/>
        </p:nvSpPr>
        <p:spPr>
          <a:xfrm>
            <a:off x="8083296" y="1792224"/>
            <a:ext cx="3456432" cy="2670048"/>
          </a:xfrm>
          <a:prstGeom prst="roundRect">
            <a:avLst>
              <a:gd name="adj" fmla="val 8000"/>
            </a:avLst>
          </a:prstGeom>
          <a:solidFill>
            <a:srgbClr val="FFFFFF"/>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Rounded Rectangle 16"/>
          <p:cNvSpPr/>
          <p:nvPr/>
        </p:nvSpPr>
        <p:spPr>
          <a:xfrm>
            <a:off x="8083296" y="1792224"/>
            <a:ext cx="3456432" cy="64008"/>
          </a:xfrm>
          <a:prstGeom prst="roundRect">
            <a:avLst>
              <a:gd name="adj" fmla="val 0"/>
            </a:avLst>
          </a:prstGeom>
          <a:solidFill>
            <a:srgbClr val="333D4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TextBox 17"/>
          <p:cNvSpPr txBox="1"/>
          <p:nvPr/>
        </p:nvSpPr>
        <p:spPr>
          <a:xfrm>
            <a:off x="8311896" y="1993392"/>
            <a:ext cx="2377440" cy="237744"/>
          </a:xfrm>
          <a:prstGeom prst="rect">
            <a:avLst/>
          </a:prstGeom>
          <a:noFill/>
        </p:spPr>
        <p:txBody>
          <a:bodyPr wrap="square" lIns="0" rIns="0" tIns="0" bIns="0" anchor="t">
            <a:spAutoFit/>
          </a:bodyPr>
          <a:lstStyle/>
          <a:p>
            <a:pPr algn="l">
              <a:lnSpc>
                <a:spcPct val="112000"/>
              </a:lnSpc>
              <a:spcAft>
                <a:spcPts val="0"/>
              </a:spcAft>
            </a:pPr>
            <a:r>
              <a:rPr sz="950" b="1" i="0" spc="120">
                <a:solidFill>
                  <a:srgbClr val="333D4A"/>
                </a:solidFill>
                <a:latin typeface="Arial"/>
              </a:rPr>
              <a:t>SETELAHNYA</a:t>
            </a:r>
          </a:p>
        </p:txBody>
      </p:sp>
      <p:sp>
        <p:nvSpPr>
          <p:cNvPr id="19" name="TextBox 18"/>
          <p:cNvSpPr txBox="1"/>
          <p:nvPr/>
        </p:nvSpPr>
        <p:spPr>
          <a:xfrm>
            <a:off x="8311896" y="2249424"/>
            <a:ext cx="2926080" cy="274320"/>
          </a:xfrm>
          <a:prstGeom prst="rect">
            <a:avLst/>
          </a:prstGeom>
          <a:noFill/>
        </p:spPr>
        <p:txBody>
          <a:bodyPr wrap="square" lIns="0" rIns="0" tIns="0" bIns="0" anchor="t">
            <a:spAutoFit/>
          </a:bodyPr>
          <a:lstStyle/>
          <a:p>
            <a:pPr algn="l">
              <a:lnSpc>
                <a:spcPct val="112000"/>
              </a:lnSpc>
              <a:spcAft>
                <a:spcPts val="0"/>
              </a:spcAft>
            </a:pPr>
            <a:r>
              <a:rPr sz="1300" b="1" i="0">
                <a:solidFill>
                  <a:srgbClr val="1F2937"/>
                </a:solidFill>
                <a:latin typeface="Arial"/>
              </a:rPr>
              <a:t>1–2 kuartal</a:t>
            </a:r>
          </a:p>
        </p:txBody>
      </p:sp>
      <p:sp>
        <p:nvSpPr>
          <p:cNvPr id="20" name="TextBox 19"/>
          <p:cNvSpPr txBox="1"/>
          <p:nvPr/>
        </p:nvSpPr>
        <p:spPr>
          <a:xfrm>
            <a:off x="8311896" y="2697480"/>
            <a:ext cx="3017520" cy="1691640"/>
          </a:xfrm>
          <a:prstGeom prst="rect">
            <a:avLst/>
          </a:prstGeom>
          <a:noFill/>
        </p:spPr>
        <p:txBody>
          <a:bodyPr wrap="square" lIns="0" rIns="0" tIns="0" bIns="0">
            <a:spAutoFit/>
          </a:bodyPr>
          <a:lstStyle/>
          <a:p>
            <a:pPr marL="201168" indent="-201168">
              <a:lnSpc>
                <a:spcPct val="112000"/>
              </a:lnSpc>
              <a:spcAft>
                <a:spcPts val="900"/>
              </a:spcAft>
              <a:buClr>
                <a:srgbClr val="333D4A"/>
              </a:buClr>
              <a:buFont typeface="Arial"/>
              <a:buChar char="•"/>
            </a:pPr>
            <a:r>
              <a:rPr sz="980" b="0">
                <a:solidFill>
                  <a:srgbClr val="333D4A"/>
                </a:solidFill>
                <a:latin typeface="Arial"/>
              </a:rPr>
              <a:t>Owner dashboard (B2B) di monorepo</a:t>
            </a:r>
          </a:p>
          <a:p>
            <a:pPr marL="201168" indent="-201168">
              <a:lnSpc>
                <a:spcPct val="112000"/>
              </a:lnSpc>
              <a:spcAft>
                <a:spcPts val="900"/>
              </a:spcAft>
              <a:buClr>
                <a:srgbClr val="333D4A"/>
              </a:buClr>
              <a:buFont typeface="Arial"/>
              <a:buChar char="•"/>
            </a:pPr>
            <a:r>
              <a:rPr sz="980" b="0">
                <a:solidFill>
                  <a:srgbClr val="333D4A"/>
                </a:solidFill>
                <a:latin typeface="Arial"/>
              </a:rPr>
              <a:t>Points, reward, dan leaderboard</a:t>
            </a:r>
          </a:p>
          <a:p>
            <a:pPr marL="201168" indent="-201168">
              <a:lnSpc>
                <a:spcPct val="112000"/>
              </a:lnSpc>
              <a:spcAft>
                <a:spcPts val="900"/>
              </a:spcAft>
              <a:buClr>
                <a:srgbClr val="333D4A"/>
              </a:buClr>
              <a:buFont typeface="Arial"/>
              <a:buChar char="•"/>
            </a:pPr>
            <a:r>
              <a:rPr sz="980" b="0">
                <a:solidFill>
                  <a:srgbClr val="333D4A"/>
                </a:solidFill>
                <a:latin typeface="Arial"/>
              </a:rPr>
              <a:t>Ranking personalisasi di server</a:t>
            </a:r>
          </a:p>
          <a:p>
            <a:pPr marL="201168" indent="-201168">
              <a:lnSpc>
                <a:spcPct val="112000"/>
              </a:lnSpc>
              <a:spcAft>
                <a:spcPts val="900"/>
              </a:spcAft>
              <a:buClr>
                <a:srgbClr val="333D4A"/>
              </a:buClr>
              <a:buFont typeface="Arial"/>
              <a:buChar char="•"/>
            </a:pPr>
            <a:r>
              <a:rPr sz="980" b="0">
                <a:solidFill>
                  <a:srgbClr val="333D4A"/>
                </a:solidFill>
                <a:latin typeface="Arial"/>
              </a:rPr>
              <a:t>Ekstraksi packages/ui dan types</a:t>
            </a:r>
          </a:p>
        </p:txBody>
      </p:sp>
      <p:sp>
        <p:nvSpPr>
          <p:cNvPr id="21" name="Rounded Rectangle 20"/>
          <p:cNvSpPr/>
          <p:nvPr/>
        </p:nvSpPr>
        <p:spPr>
          <a:xfrm>
            <a:off x="640080" y="4700016"/>
            <a:ext cx="10908792" cy="914400"/>
          </a:xfrm>
          <a:prstGeom prst="roundRect">
            <a:avLst>
              <a:gd name="adj" fmla="val 8000"/>
            </a:avLst>
          </a:prstGeom>
          <a:solidFill>
            <a:srgbClr val="E8F6E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2" name="Rounded Rectangle 21"/>
          <p:cNvSpPr/>
          <p:nvPr/>
        </p:nvSpPr>
        <p:spPr>
          <a:xfrm>
            <a:off x="640080" y="4700016"/>
            <a:ext cx="50292" cy="914400"/>
          </a:xfrm>
          <a:prstGeom prst="roundRect">
            <a:avLst>
              <a:gd name="adj" fmla="val 0"/>
            </a:avLst>
          </a:prstGeom>
          <a:solidFill>
            <a:srgbClr val="1F9D6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TextBox 22"/>
          <p:cNvSpPr txBox="1"/>
          <p:nvPr/>
        </p:nvSpPr>
        <p:spPr>
          <a:xfrm>
            <a:off x="859536" y="4837176"/>
            <a:ext cx="10543032" cy="237744"/>
          </a:xfrm>
          <a:prstGeom prst="rect">
            <a:avLst/>
          </a:prstGeom>
          <a:noFill/>
        </p:spPr>
        <p:txBody>
          <a:bodyPr wrap="square" lIns="0" rIns="0" tIns="0" bIns="0" anchor="t">
            <a:spAutoFit/>
          </a:bodyPr>
          <a:lstStyle/>
          <a:p>
            <a:pPr algn="l">
              <a:lnSpc>
                <a:spcPct val="112000"/>
              </a:lnSpc>
              <a:spcAft>
                <a:spcPts val="0"/>
              </a:spcAft>
            </a:pPr>
            <a:r>
              <a:rPr sz="1100" b="1" i="0">
                <a:solidFill>
                  <a:srgbClr val="1F2937"/>
                </a:solidFill>
                <a:latin typeface="Arial"/>
              </a:rPr>
              <a:t>Kenapa seed dulu</a:t>
            </a:r>
          </a:p>
        </p:txBody>
      </p:sp>
      <p:sp>
        <p:nvSpPr>
          <p:cNvPr id="24" name="TextBox 23"/>
          <p:cNvSpPr txBox="1"/>
          <p:nvPr/>
        </p:nvSpPr>
        <p:spPr>
          <a:xfrm>
            <a:off x="859536" y="5111496"/>
            <a:ext cx="10524744" cy="411479"/>
          </a:xfrm>
          <a:prstGeom prst="rect">
            <a:avLst/>
          </a:prstGeom>
          <a:noFill/>
        </p:spPr>
        <p:txBody>
          <a:bodyPr wrap="square" lIns="0" rIns="0" tIns="0" bIns="0" anchor="t">
            <a:spAutoFit/>
          </a:bodyPr>
          <a:lstStyle/>
          <a:p>
            <a:pPr algn="l">
              <a:lnSpc>
                <a:spcPct val="125000"/>
              </a:lnSpc>
              <a:spcAft>
                <a:spcPts val="0"/>
              </a:spcAft>
            </a:pPr>
            <a:r>
              <a:rPr sz="1050" b="0" i="0">
                <a:solidFill>
                  <a:srgbClr val="333D4A"/>
                </a:solidFill>
                <a:latin typeface="Arial"/>
              </a:rPr>
              <a:t>Seed 16 user adalah cara termurah menguji personalisasi dan semua cabang nullable/enum. Tanpa data ini, setiap perubahan skema hanya diuji dengan satu user demo.</a:t>
            </a:r>
          </a:p>
        </p:txBody>
      </p:sp>
      <p:sp>
        <p:nvSpPr>
          <p:cNvPr id="25" name="Rounded Rectangle 24"/>
          <p:cNvSpPr/>
          <p:nvPr/>
        </p:nvSpPr>
        <p:spPr>
          <a:xfrm>
            <a:off x="640080" y="6419088"/>
            <a:ext cx="10908792" cy="7315"/>
          </a:xfrm>
          <a:prstGeom prst="roundRect">
            <a:avLst>
              <a:gd name="adj" fmla="val 0"/>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6" name="Rounded Rectangle 25"/>
          <p:cNvSpPr/>
          <p:nvPr/>
        </p:nvSpPr>
        <p:spPr>
          <a:xfrm>
            <a:off x="640080" y="6537960"/>
            <a:ext cx="224942" cy="224942"/>
          </a:xfrm>
          <a:prstGeom prst="roundRect">
            <a:avLst>
              <a:gd name="adj" fmla="val 22000"/>
            </a:avLst>
          </a:prstGeom>
          <a:solidFill>
            <a:srgbClr val="FF5A5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7" name="TextBox 26"/>
          <p:cNvSpPr txBox="1"/>
          <p:nvPr/>
        </p:nvSpPr>
        <p:spPr>
          <a:xfrm>
            <a:off x="640080" y="6526987"/>
            <a:ext cx="224942" cy="224942"/>
          </a:xfrm>
          <a:prstGeom prst="rect">
            <a:avLst/>
          </a:prstGeom>
          <a:noFill/>
        </p:spPr>
        <p:txBody>
          <a:bodyPr wrap="square" lIns="0" rIns="0" tIns="0" bIns="0" anchor="ctr">
            <a:spAutoFit/>
          </a:bodyPr>
          <a:lstStyle/>
          <a:p>
            <a:pPr algn="ctr">
              <a:lnSpc>
                <a:spcPct val="112000"/>
              </a:lnSpc>
              <a:spcAft>
                <a:spcPts val="0"/>
              </a:spcAft>
            </a:pPr>
            <a:r>
              <a:rPr sz="1066" b="1" i="0">
                <a:solidFill>
                  <a:srgbClr val="FFFFFF"/>
                </a:solidFill>
                <a:latin typeface="Arial"/>
              </a:rPr>
              <a:t>n</a:t>
            </a:r>
          </a:p>
        </p:txBody>
      </p:sp>
      <p:sp>
        <p:nvSpPr>
          <p:cNvPr id="28" name="TextBox 27"/>
          <p:cNvSpPr txBox="1"/>
          <p:nvPr/>
        </p:nvSpPr>
        <p:spPr>
          <a:xfrm>
            <a:off x="932505" y="6510528"/>
            <a:ext cx="899769" cy="224942"/>
          </a:xfrm>
          <a:prstGeom prst="rect">
            <a:avLst/>
          </a:prstGeom>
          <a:noFill/>
        </p:spPr>
        <p:txBody>
          <a:bodyPr wrap="square" lIns="0" rIns="0" tIns="0" bIns="0" anchor="t">
            <a:spAutoFit/>
          </a:bodyPr>
          <a:lstStyle/>
          <a:p>
            <a:pPr algn="l">
              <a:lnSpc>
                <a:spcPct val="112000"/>
              </a:lnSpc>
              <a:spcAft>
                <a:spcPts val="0"/>
              </a:spcAft>
            </a:pPr>
            <a:r>
              <a:rPr sz="1066" b="1" i="0">
                <a:solidFill>
                  <a:srgbClr val="1F2937"/>
                </a:solidFill>
                <a:latin typeface="Arial"/>
              </a:rPr>
              <a:t>NgeTag</a:t>
            </a:r>
          </a:p>
        </p:txBody>
      </p:sp>
      <p:sp>
        <p:nvSpPr>
          <p:cNvPr id="29" name="TextBox 28"/>
          <p:cNvSpPr txBox="1"/>
          <p:nvPr/>
        </p:nvSpPr>
        <p:spPr>
          <a:xfrm>
            <a:off x="1600200" y="6556248"/>
            <a:ext cx="5486400" cy="201168"/>
          </a:xfrm>
          <a:prstGeom prst="rect">
            <a:avLst/>
          </a:prstGeom>
          <a:noFill/>
        </p:spPr>
        <p:txBody>
          <a:bodyPr wrap="square" lIns="0" rIns="0" tIns="0" bIns="0" anchor="t">
            <a:spAutoFit/>
          </a:bodyPr>
          <a:lstStyle/>
          <a:p>
            <a:pPr algn="l">
              <a:lnSpc>
                <a:spcPct val="112000"/>
              </a:lnSpc>
              <a:spcAft>
                <a:spcPts val="0"/>
              </a:spcAft>
            </a:pPr>
            <a:r>
              <a:rPr sz="850" b="0" i="0">
                <a:solidFill>
                  <a:srgbClr val="6B7280"/>
                </a:solidFill>
                <a:latin typeface="Arial"/>
              </a:rPr>
              <a:t>NgeTag · Review Repository &amp; Seed Data User</a:t>
            </a:r>
          </a:p>
        </p:txBody>
      </p:sp>
      <p:sp>
        <p:nvSpPr>
          <p:cNvPr id="30" name="TextBox 29"/>
          <p:cNvSpPr txBox="1"/>
          <p:nvPr/>
        </p:nvSpPr>
        <p:spPr>
          <a:xfrm>
            <a:off x="10607040" y="6556248"/>
            <a:ext cx="941832" cy="201168"/>
          </a:xfrm>
          <a:prstGeom prst="rect">
            <a:avLst/>
          </a:prstGeom>
          <a:noFill/>
        </p:spPr>
        <p:txBody>
          <a:bodyPr wrap="square" lIns="0" rIns="0" tIns="0" bIns="0" anchor="t">
            <a:spAutoFit/>
          </a:bodyPr>
          <a:lstStyle/>
          <a:p>
            <a:pPr algn="r">
              <a:lnSpc>
                <a:spcPct val="112000"/>
              </a:lnSpc>
              <a:spcAft>
                <a:spcPts val="0"/>
              </a:spcAft>
            </a:pPr>
            <a:r>
              <a:rPr sz="850" b="0" i="0">
                <a:solidFill>
                  <a:srgbClr val="6B7280"/>
                </a:solidFill>
                <a:latin typeface="Arial"/>
              </a:rPr>
              <a:t>21 / 22</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15161B"/>
        </a:solidFill>
        <a:effectLst/>
      </p:bgPr>
    </p:bg>
    <p:spTree>
      <p:nvGrpSpPr>
        <p:cNvPr id="1" name=""/>
        <p:cNvGrpSpPr/>
        <p:nvPr/>
      </p:nvGrpSpPr>
      <p:grpSpPr/>
      <p:sp>
        <p:nvSpPr>
          <p:cNvPr id="2" name="Oval 1"/>
          <p:cNvSpPr/>
          <p:nvPr/>
        </p:nvSpPr>
        <p:spPr>
          <a:xfrm>
            <a:off x="9052560" y="-1463040"/>
            <a:ext cx="4937760" cy="4937760"/>
          </a:xfrm>
          <a:prstGeom prst="ellipse">
            <a:avLst/>
          </a:prstGeom>
          <a:noFill/>
          <a:ln w="13970">
            <a:solidFill>
              <a:srgbClr val="2C2E36"/>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 name="Oval 2"/>
          <p:cNvSpPr/>
          <p:nvPr/>
        </p:nvSpPr>
        <p:spPr>
          <a:xfrm>
            <a:off x="10241280" y="4114800"/>
            <a:ext cx="3566160" cy="3566160"/>
          </a:xfrm>
          <a:prstGeom prst="ellipse">
            <a:avLst/>
          </a:prstGeom>
          <a:solidFill>
            <a:srgbClr val="22232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Rounded Rectangle 3"/>
          <p:cNvSpPr/>
          <p:nvPr/>
        </p:nvSpPr>
        <p:spPr>
          <a:xfrm>
            <a:off x="0" y="0"/>
            <a:ext cx="146304" cy="6858000"/>
          </a:xfrm>
          <a:prstGeom prst="roundRect">
            <a:avLst>
              <a:gd name="adj" fmla="val 6000"/>
            </a:avLst>
          </a:prstGeom>
          <a:solidFill>
            <a:srgbClr val="FF5A5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TextBox 4"/>
          <p:cNvSpPr txBox="1"/>
          <p:nvPr/>
        </p:nvSpPr>
        <p:spPr>
          <a:xfrm>
            <a:off x="822960" y="685800"/>
            <a:ext cx="7315200" cy="274320"/>
          </a:xfrm>
          <a:prstGeom prst="rect">
            <a:avLst/>
          </a:prstGeom>
          <a:noFill/>
        </p:spPr>
        <p:txBody>
          <a:bodyPr wrap="square" lIns="0" rIns="0" tIns="0" bIns="0" anchor="t">
            <a:spAutoFit/>
          </a:bodyPr>
          <a:lstStyle/>
          <a:p>
            <a:pPr algn="l">
              <a:lnSpc>
                <a:spcPct val="112000"/>
              </a:lnSpc>
              <a:spcAft>
                <a:spcPts val="0"/>
              </a:spcAft>
            </a:pPr>
            <a:r>
              <a:rPr sz="1000" b="1" i="0" spc="200">
                <a:solidFill>
                  <a:srgbClr val="FF5A5F"/>
                </a:solidFill>
                <a:latin typeface="Arial"/>
              </a:rPr>
              <a:t>PENUTUP</a:t>
            </a:r>
          </a:p>
        </p:txBody>
      </p:sp>
      <p:sp>
        <p:nvSpPr>
          <p:cNvPr id="6" name="TextBox 5"/>
          <p:cNvSpPr txBox="1"/>
          <p:nvPr/>
        </p:nvSpPr>
        <p:spPr>
          <a:xfrm>
            <a:off x="822960" y="987552"/>
            <a:ext cx="8778240" cy="731520"/>
          </a:xfrm>
          <a:prstGeom prst="rect">
            <a:avLst/>
          </a:prstGeom>
          <a:noFill/>
        </p:spPr>
        <p:txBody>
          <a:bodyPr wrap="square" lIns="0" rIns="0" tIns="0" bIns="0" anchor="t">
            <a:spAutoFit/>
          </a:bodyPr>
          <a:lstStyle/>
          <a:p>
            <a:pPr algn="l">
              <a:lnSpc>
                <a:spcPct val="112000"/>
              </a:lnSpc>
              <a:spcAft>
                <a:spcPts val="0"/>
              </a:spcAft>
            </a:pPr>
            <a:r>
              <a:rPr sz="3200" b="1" i="0">
                <a:solidFill>
                  <a:srgbClr val="FFFFFF"/>
                </a:solidFill>
                <a:latin typeface="Arial"/>
              </a:rPr>
              <a:t>Tiga hal yang perlu dibawa pulang</a:t>
            </a:r>
          </a:p>
        </p:txBody>
      </p:sp>
      <p:sp>
        <p:nvSpPr>
          <p:cNvPr id="7" name="Rounded Rectangle 6"/>
          <p:cNvSpPr/>
          <p:nvPr/>
        </p:nvSpPr>
        <p:spPr>
          <a:xfrm>
            <a:off x="822960" y="2057400"/>
            <a:ext cx="3383280" cy="1097280"/>
          </a:xfrm>
          <a:prstGeom prst="roundRect">
            <a:avLst>
              <a:gd name="adj" fmla="val 8000"/>
            </a:avLst>
          </a:prstGeom>
          <a:solidFill>
            <a:srgbClr val="22232A"/>
          </a:solidFill>
          <a:ln w="9525">
            <a:solidFill>
              <a:srgbClr val="33353D"/>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TextBox 7"/>
          <p:cNvSpPr txBox="1"/>
          <p:nvPr/>
        </p:nvSpPr>
        <p:spPr>
          <a:xfrm>
            <a:off x="1051560" y="2240280"/>
            <a:ext cx="2926080" cy="237744"/>
          </a:xfrm>
          <a:prstGeom prst="rect">
            <a:avLst/>
          </a:prstGeom>
          <a:noFill/>
        </p:spPr>
        <p:txBody>
          <a:bodyPr wrap="square" lIns="0" rIns="0" tIns="0" bIns="0" anchor="t">
            <a:spAutoFit/>
          </a:bodyPr>
          <a:lstStyle/>
          <a:p>
            <a:pPr algn="l">
              <a:lnSpc>
                <a:spcPct val="112000"/>
              </a:lnSpc>
              <a:spcAft>
                <a:spcPts val="0"/>
              </a:spcAft>
            </a:pPr>
            <a:r>
              <a:rPr sz="950" b="1" i="0" spc="120">
                <a:solidFill>
                  <a:srgbClr val="FF5A5F"/>
                </a:solidFill>
                <a:latin typeface="Arial"/>
              </a:rPr>
              <a:t>PRODUK</a:t>
            </a:r>
          </a:p>
        </p:txBody>
      </p:sp>
      <p:sp>
        <p:nvSpPr>
          <p:cNvPr id="9" name="TextBox 8"/>
          <p:cNvSpPr txBox="1"/>
          <p:nvPr/>
        </p:nvSpPr>
        <p:spPr>
          <a:xfrm>
            <a:off x="1051560" y="2523744"/>
            <a:ext cx="2926080" cy="731520"/>
          </a:xfrm>
          <a:prstGeom prst="rect">
            <a:avLst/>
          </a:prstGeom>
          <a:noFill/>
        </p:spPr>
        <p:txBody>
          <a:bodyPr wrap="square" lIns="0" rIns="0" tIns="0" bIns="0" anchor="t">
            <a:spAutoFit/>
          </a:bodyPr>
          <a:lstStyle/>
          <a:p>
            <a:pPr algn="l">
              <a:lnSpc>
                <a:spcPct val="128000"/>
              </a:lnSpc>
              <a:spcAft>
                <a:spcPts val="0"/>
              </a:spcAft>
            </a:pPr>
            <a:r>
              <a:rPr sz="1050" b="0" i="0">
                <a:solidFill>
                  <a:srgbClr val="D5D9E0"/>
                </a:solidFill>
                <a:latin typeface="Arial"/>
              </a:rPr>
              <a:t>20 halaman siap demo. QR verified review adalah pembeda yang sudah berjalan.</a:t>
            </a:r>
          </a:p>
        </p:txBody>
      </p:sp>
      <p:sp>
        <p:nvSpPr>
          <p:cNvPr id="10" name="Rounded Rectangle 9"/>
          <p:cNvSpPr/>
          <p:nvPr/>
        </p:nvSpPr>
        <p:spPr>
          <a:xfrm>
            <a:off x="4416552" y="2057400"/>
            <a:ext cx="3383280" cy="1097280"/>
          </a:xfrm>
          <a:prstGeom prst="roundRect">
            <a:avLst>
              <a:gd name="adj" fmla="val 8000"/>
            </a:avLst>
          </a:prstGeom>
          <a:solidFill>
            <a:srgbClr val="22232A"/>
          </a:solidFill>
          <a:ln w="9525">
            <a:solidFill>
              <a:srgbClr val="33353D"/>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TextBox 10"/>
          <p:cNvSpPr txBox="1"/>
          <p:nvPr/>
        </p:nvSpPr>
        <p:spPr>
          <a:xfrm>
            <a:off x="4645152" y="2240280"/>
            <a:ext cx="2926080" cy="237744"/>
          </a:xfrm>
          <a:prstGeom prst="rect">
            <a:avLst/>
          </a:prstGeom>
          <a:noFill/>
        </p:spPr>
        <p:txBody>
          <a:bodyPr wrap="square" lIns="0" rIns="0" tIns="0" bIns="0" anchor="t">
            <a:spAutoFit/>
          </a:bodyPr>
          <a:lstStyle/>
          <a:p>
            <a:pPr algn="l">
              <a:lnSpc>
                <a:spcPct val="112000"/>
              </a:lnSpc>
              <a:spcAft>
                <a:spcPts val="0"/>
              </a:spcAft>
            </a:pPr>
            <a:r>
              <a:rPr sz="950" b="1" i="0" spc="120">
                <a:solidFill>
                  <a:srgbClr val="FF5A5F"/>
                </a:solidFill>
                <a:latin typeface="Arial"/>
              </a:rPr>
              <a:t>ARSITEKTUR</a:t>
            </a:r>
          </a:p>
        </p:txBody>
      </p:sp>
      <p:sp>
        <p:nvSpPr>
          <p:cNvPr id="12" name="TextBox 11"/>
          <p:cNvSpPr txBox="1"/>
          <p:nvPr/>
        </p:nvSpPr>
        <p:spPr>
          <a:xfrm>
            <a:off x="4645152" y="2523744"/>
            <a:ext cx="2926080" cy="731520"/>
          </a:xfrm>
          <a:prstGeom prst="rect">
            <a:avLst/>
          </a:prstGeom>
          <a:noFill/>
        </p:spPr>
        <p:txBody>
          <a:bodyPr wrap="square" lIns="0" rIns="0" tIns="0" bIns="0" anchor="t">
            <a:spAutoFit/>
          </a:bodyPr>
          <a:lstStyle/>
          <a:p>
            <a:pPr algn="l">
              <a:lnSpc>
                <a:spcPct val="128000"/>
              </a:lnSpc>
              <a:spcAft>
                <a:spcPts val="0"/>
              </a:spcAft>
            </a:pPr>
            <a:r>
              <a:rPr sz="1050" b="0" i="0">
                <a:solidFill>
                  <a:srgbClr val="D5D9E0"/>
                </a:solidFill>
                <a:latin typeface="Arial"/>
              </a:rPr>
              <a:t>255 file, type-safe, repository pattern. Fondasi siap tumbuh ke B2B.</a:t>
            </a:r>
          </a:p>
        </p:txBody>
      </p:sp>
      <p:sp>
        <p:nvSpPr>
          <p:cNvPr id="13" name="Rounded Rectangle 12"/>
          <p:cNvSpPr/>
          <p:nvPr/>
        </p:nvSpPr>
        <p:spPr>
          <a:xfrm>
            <a:off x="8010144" y="2057400"/>
            <a:ext cx="3383280" cy="1097280"/>
          </a:xfrm>
          <a:prstGeom prst="roundRect">
            <a:avLst>
              <a:gd name="adj" fmla="val 8000"/>
            </a:avLst>
          </a:prstGeom>
          <a:solidFill>
            <a:srgbClr val="22232A"/>
          </a:solidFill>
          <a:ln w="9525">
            <a:solidFill>
              <a:srgbClr val="33353D"/>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TextBox 13"/>
          <p:cNvSpPr txBox="1"/>
          <p:nvPr/>
        </p:nvSpPr>
        <p:spPr>
          <a:xfrm>
            <a:off x="8238744" y="2240280"/>
            <a:ext cx="2926080" cy="237744"/>
          </a:xfrm>
          <a:prstGeom prst="rect">
            <a:avLst/>
          </a:prstGeom>
          <a:noFill/>
        </p:spPr>
        <p:txBody>
          <a:bodyPr wrap="square" lIns="0" rIns="0" tIns="0" bIns="0" anchor="t">
            <a:spAutoFit/>
          </a:bodyPr>
          <a:lstStyle/>
          <a:p>
            <a:pPr algn="l">
              <a:lnSpc>
                <a:spcPct val="112000"/>
              </a:lnSpc>
              <a:spcAft>
                <a:spcPts val="0"/>
              </a:spcAft>
            </a:pPr>
            <a:r>
              <a:rPr sz="950" b="1" i="0" spc="120">
                <a:solidFill>
                  <a:srgbClr val="FF5A5F"/>
                </a:solidFill>
                <a:latin typeface="Arial"/>
              </a:rPr>
              <a:t>DATA</a:t>
            </a:r>
          </a:p>
        </p:txBody>
      </p:sp>
      <p:sp>
        <p:nvSpPr>
          <p:cNvPr id="15" name="TextBox 14"/>
          <p:cNvSpPr txBox="1"/>
          <p:nvPr/>
        </p:nvSpPr>
        <p:spPr>
          <a:xfrm>
            <a:off x="8238744" y="2523744"/>
            <a:ext cx="2926080" cy="731520"/>
          </a:xfrm>
          <a:prstGeom prst="rect">
            <a:avLst/>
          </a:prstGeom>
          <a:noFill/>
        </p:spPr>
        <p:txBody>
          <a:bodyPr wrap="square" lIns="0" rIns="0" tIns="0" bIns="0" anchor="t">
            <a:spAutoFit/>
          </a:bodyPr>
          <a:lstStyle/>
          <a:p>
            <a:pPr algn="l">
              <a:lnSpc>
                <a:spcPct val="128000"/>
              </a:lnSpc>
              <a:spcAft>
                <a:spcPts val="0"/>
              </a:spcAft>
            </a:pPr>
            <a:r>
              <a:rPr sz="1050" b="0" i="0">
                <a:solidFill>
                  <a:srgbClr val="D5D9E0"/>
                </a:solidFill>
                <a:latin typeface="Arial"/>
              </a:rPr>
              <a:t>16 varian user + SQL idempoten. Semua diturunkan dari fixture yang ada.</a:t>
            </a:r>
          </a:p>
        </p:txBody>
      </p:sp>
      <p:sp>
        <p:nvSpPr>
          <p:cNvPr id="16" name="TextBox 15"/>
          <p:cNvSpPr txBox="1"/>
          <p:nvPr/>
        </p:nvSpPr>
        <p:spPr>
          <a:xfrm>
            <a:off x="822960" y="3767328"/>
            <a:ext cx="2743200" cy="237744"/>
          </a:xfrm>
          <a:prstGeom prst="rect">
            <a:avLst/>
          </a:prstGeom>
          <a:noFill/>
        </p:spPr>
        <p:txBody>
          <a:bodyPr wrap="square" lIns="0" rIns="0" tIns="0" bIns="0" anchor="t">
            <a:spAutoFit/>
          </a:bodyPr>
          <a:lstStyle/>
          <a:p>
            <a:pPr algn="l">
              <a:lnSpc>
                <a:spcPct val="112000"/>
              </a:lnSpc>
              <a:spcAft>
                <a:spcPts val="0"/>
              </a:spcAft>
            </a:pPr>
            <a:r>
              <a:rPr sz="900" b="1" i="0" spc="140">
                <a:solidFill>
                  <a:srgbClr val="8E95A1"/>
                </a:solidFill>
                <a:latin typeface="Arial"/>
              </a:rPr>
              <a:t>DELIVERABLE</a:t>
            </a:r>
          </a:p>
        </p:txBody>
      </p:sp>
      <p:sp>
        <p:nvSpPr>
          <p:cNvPr id="17" name="Oval 16"/>
          <p:cNvSpPr/>
          <p:nvPr/>
        </p:nvSpPr>
        <p:spPr>
          <a:xfrm>
            <a:off x="841248" y="4187952"/>
            <a:ext cx="64008" cy="64008"/>
          </a:xfrm>
          <a:prstGeom prst="ellipse">
            <a:avLst/>
          </a:prstGeom>
          <a:solidFill>
            <a:srgbClr val="FFB4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TextBox 17"/>
          <p:cNvSpPr txBox="1"/>
          <p:nvPr/>
        </p:nvSpPr>
        <p:spPr>
          <a:xfrm>
            <a:off x="1024128" y="4096512"/>
            <a:ext cx="7040880" cy="274320"/>
          </a:xfrm>
          <a:prstGeom prst="rect">
            <a:avLst/>
          </a:prstGeom>
          <a:noFill/>
        </p:spPr>
        <p:txBody>
          <a:bodyPr wrap="square" lIns="0" rIns="0" tIns="0" bIns="0" anchor="t">
            <a:spAutoFit/>
          </a:bodyPr>
          <a:lstStyle/>
          <a:p>
            <a:pPr algn="l">
              <a:lnSpc>
                <a:spcPct val="112000"/>
              </a:lnSpc>
              <a:spcAft>
                <a:spcPts val="0"/>
              </a:spcAft>
            </a:pPr>
            <a:r>
              <a:rPr sz="1000" b="0" i="0">
                <a:solidFill>
                  <a:srgbClr val="D5D9E0"/>
                </a:solidFill>
                <a:latin typeface="Arial"/>
              </a:rPr>
              <a:t>docs/presentasi/NgeTag-B2C-Review.pptx — deck ini, 22 slide, catatan presenter di tiap slide</a:t>
            </a:r>
          </a:p>
        </p:txBody>
      </p:sp>
      <p:sp>
        <p:nvSpPr>
          <p:cNvPr id="19" name="Oval 18"/>
          <p:cNvSpPr/>
          <p:nvPr/>
        </p:nvSpPr>
        <p:spPr>
          <a:xfrm>
            <a:off x="841248" y="4572000"/>
            <a:ext cx="64008" cy="64008"/>
          </a:xfrm>
          <a:prstGeom prst="ellipse">
            <a:avLst/>
          </a:prstGeom>
          <a:solidFill>
            <a:srgbClr val="FFB4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TextBox 19"/>
          <p:cNvSpPr txBox="1"/>
          <p:nvPr/>
        </p:nvSpPr>
        <p:spPr>
          <a:xfrm>
            <a:off x="1024128" y="4480560"/>
            <a:ext cx="7040880" cy="274320"/>
          </a:xfrm>
          <a:prstGeom prst="rect">
            <a:avLst/>
          </a:prstGeom>
          <a:noFill/>
        </p:spPr>
        <p:txBody>
          <a:bodyPr wrap="square" lIns="0" rIns="0" tIns="0" bIns="0" anchor="t">
            <a:spAutoFit/>
          </a:bodyPr>
          <a:lstStyle/>
          <a:p>
            <a:pPr algn="l">
              <a:lnSpc>
                <a:spcPct val="112000"/>
              </a:lnSpc>
              <a:spcAft>
                <a:spcPts val="0"/>
              </a:spcAft>
            </a:pPr>
            <a:r>
              <a:rPr sz="1000" b="0" i="0">
                <a:solidFill>
                  <a:srgbClr val="D5D9E0"/>
                </a:solidFill>
                <a:latin typeface="Arial"/>
              </a:rPr>
              <a:t>src/db/seed/ — user-seed.ts, seed-users.ts, user-seed.sql, README.md</a:t>
            </a:r>
          </a:p>
        </p:txBody>
      </p:sp>
      <p:sp>
        <p:nvSpPr>
          <p:cNvPr id="21" name="TextBox 20"/>
          <p:cNvSpPr txBox="1"/>
          <p:nvPr/>
        </p:nvSpPr>
        <p:spPr>
          <a:xfrm>
            <a:off x="822960" y="5577840"/>
            <a:ext cx="5486400" cy="457200"/>
          </a:xfrm>
          <a:prstGeom prst="rect">
            <a:avLst/>
          </a:prstGeom>
          <a:noFill/>
        </p:spPr>
        <p:txBody>
          <a:bodyPr wrap="square" lIns="0" rIns="0" tIns="0" bIns="0" anchor="t">
            <a:spAutoFit/>
          </a:bodyPr>
          <a:lstStyle/>
          <a:p>
            <a:pPr algn="l">
              <a:lnSpc>
                <a:spcPct val="112000"/>
              </a:lnSpc>
              <a:spcAft>
                <a:spcPts val="0"/>
              </a:spcAft>
            </a:pPr>
            <a:r>
              <a:rPr sz="1400" b="1" i="0">
                <a:solidFill>
                  <a:srgbClr val="FFFFFF"/>
                </a:solidFill>
                <a:latin typeface="Arial"/>
              </a:rPr>
              <a:t>Terima kasih — siap untuk diskusi.</a:t>
            </a:r>
          </a:p>
        </p:txBody>
      </p:sp>
      <p:sp>
        <p:nvSpPr>
          <p:cNvPr id="22" name="Rounded Rectangle 21"/>
          <p:cNvSpPr/>
          <p:nvPr/>
        </p:nvSpPr>
        <p:spPr>
          <a:xfrm>
            <a:off x="9281160" y="5897880"/>
            <a:ext cx="301752" cy="301752"/>
          </a:xfrm>
          <a:prstGeom prst="roundRect">
            <a:avLst>
              <a:gd name="adj" fmla="val 22000"/>
            </a:avLst>
          </a:prstGeom>
          <a:solidFill>
            <a:srgbClr val="FF5A5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TextBox 22"/>
          <p:cNvSpPr txBox="1"/>
          <p:nvPr/>
        </p:nvSpPr>
        <p:spPr>
          <a:xfrm>
            <a:off x="9281160" y="5886907"/>
            <a:ext cx="301752" cy="301752"/>
          </a:xfrm>
          <a:prstGeom prst="rect">
            <a:avLst/>
          </a:prstGeom>
          <a:noFill/>
        </p:spPr>
        <p:txBody>
          <a:bodyPr wrap="square" lIns="0" rIns="0" tIns="0" bIns="0" anchor="ctr">
            <a:spAutoFit/>
          </a:bodyPr>
          <a:lstStyle/>
          <a:p>
            <a:pPr algn="ctr">
              <a:lnSpc>
                <a:spcPct val="112000"/>
              </a:lnSpc>
              <a:spcAft>
                <a:spcPts val="0"/>
              </a:spcAft>
            </a:pPr>
            <a:r>
              <a:rPr sz="1430" b="1" i="0">
                <a:solidFill>
                  <a:srgbClr val="FFFFFF"/>
                </a:solidFill>
                <a:latin typeface="Arial"/>
              </a:rPr>
              <a:t>n</a:t>
            </a:r>
          </a:p>
        </p:txBody>
      </p:sp>
      <p:sp>
        <p:nvSpPr>
          <p:cNvPr id="24" name="TextBox 23"/>
          <p:cNvSpPr txBox="1"/>
          <p:nvPr/>
        </p:nvSpPr>
        <p:spPr>
          <a:xfrm>
            <a:off x="9673437" y="5870448"/>
            <a:ext cx="1207008" cy="301752"/>
          </a:xfrm>
          <a:prstGeom prst="rect">
            <a:avLst/>
          </a:prstGeom>
          <a:noFill/>
        </p:spPr>
        <p:txBody>
          <a:bodyPr wrap="square" lIns="0" rIns="0" tIns="0" bIns="0" anchor="t">
            <a:spAutoFit/>
          </a:bodyPr>
          <a:lstStyle/>
          <a:p>
            <a:pPr algn="l">
              <a:lnSpc>
                <a:spcPct val="112000"/>
              </a:lnSpc>
              <a:spcAft>
                <a:spcPts val="0"/>
              </a:spcAft>
            </a:pPr>
            <a:r>
              <a:rPr sz="1430" b="1" i="0">
                <a:solidFill>
                  <a:srgbClr val="FFFFFF"/>
                </a:solidFill>
                <a:latin typeface="Arial"/>
              </a:rPr>
              <a:t>NgeTag</a:t>
            </a:r>
          </a:p>
        </p:txBody>
      </p:sp>
      <p:sp>
        <p:nvSpPr>
          <p:cNvPr id="25" name="TextBox 24"/>
          <p:cNvSpPr txBox="1"/>
          <p:nvPr/>
        </p:nvSpPr>
        <p:spPr>
          <a:xfrm>
            <a:off x="10835640" y="5879592"/>
            <a:ext cx="731520" cy="274320"/>
          </a:xfrm>
          <a:prstGeom prst="rect">
            <a:avLst/>
          </a:prstGeom>
          <a:noFill/>
        </p:spPr>
        <p:txBody>
          <a:bodyPr wrap="square" lIns="0" rIns="0" tIns="0" bIns="0" anchor="t">
            <a:spAutoFit/>
          </a:bodyPr>
          <a:lstStyle/>
          <a:p>
            <a:pPr algn="r">
              <a:lnSpc>
                <a:spcPct val="112000"/>
              </a:lnSpc>
              <a:spcAft>
                <a:spcPts val="0"/>
              </a:spcAft>
            </a:pPr>
            <a:r>
              <a:rPr sz="1000" b="0" i="0">
                <a:solidFill>
                  <a:srgbClr val="7A828E"/>
                </a:solidFill>
                <a:latin typeface="Arial"/>
              </a:rPr>
              <a:t>22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